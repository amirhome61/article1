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45"/>
  </p:notesMasterIdLst>
  <p:sldIdLst>
    <p:sldId id="405" r:id="rId3"/>
    <p:sldId id="336" r:id="rId4"/>
    <p:sldId id="266" r:id="rId5"/>
    <p:sldId id="367" r:id="rId6"/>
    <p:sldId id="406" r:id="rId7"/>
    <p:sldId id="298" r:id="rId8"/>
    <p:sldId id="385" r:id="rId9"/>
    <p:sldId id="386" r:id="rId10"/>
    <p:sldId id="381" r:id="rId11"/>
    <p:sldId id="272" r:id="rId12"/>
    <p:sldId id="409" r:id="rId13"/>
    <p:sldId id="292" r:id="rId14"/>
    <p:sldId id="375" r:id="rId15"/>
    <p:sldId id="380" r:id="rId16"/>
    <p:sldId id="402" r:id="rId17"/>
    <p:sldId id="408" r:id="rId18"/>
    <p:sldId id="301" r:id="rId19"/>
    <p:sldId id="288" r:id="rId20"/>
    <p:sldId id="356" r:id="rId21"/>
    <p:sldId id="274" r:id="rId22"/>
    <p:sldId id="387" r:id="rId23"/>
    <p:sldId id="374" r:id="rId24"/>
    <p:sldId id="403" r:id="rId25"/>
    <p:sldId id="404" r:id="rId26"/>
    <p:sldId id="370" r:id="rId27"/>
    <p:sldId id="371" r:id="rId28"/>
    <p:sldId id="359" r:id="rId29"/>
    <p:sldId id="382" r:id="rId30"/>
    <p:sldId id="396" r:id="rId31"/>
    <p:sldId id="397" r:id="rId32"/>
    <p:sldId id="398" r:id="rId33"/>
    <p:sldId id="399" r:id="rId34"/>
    <p:sldId id="400" r:id="rId35"/>
    <p:sldId id="401" r:id="rId36"/>
    <p:sldId id="269" r:id="rId37"/>
    <p:sldId id="273" r:id="rId38"/>
    <p:sldId id="321" r:id="rId39"/>
    <p:sldId id="260" r:id="rId40"/>
    <p:sldId id="265" r:id="rId41"/>
    <p:sldId id="281" r:id="rId42"/>
    <p:sldId id="270" r:id="rId43"/>
    <p:sldId id="271"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FF9933"/>
    <a:srgbClr val="949494"/>
    <a:srgbClr val="EBEBEB"/>
    <a:srgbClr val="FEF49E"/>
    <a:srgbClr val="6CCA9E"/>
    <a:srgbClr val="5B5B5B"/>
    <a:srgbClr val="5C236A"/>
    <a:srgbClr val="F2F0E8"/>
    <a:srgbClr val="E5DB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98" autoAdjust="0"/>
    <p:restoredTop sz="96238" autoAdjust="0"/>
  </p:normalViewPr>
  <p:slideViewPr>
    <p:cSldViewPr snapToGrid="0">
      <p:cViewPr varScale="1">
        <p:scale>
          <a:sx n="102" d="100"/>
          <a:sy n="102" d="100"/>
        </p:scale>
        <p:origin x="1350"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4D34F-2807-4D83-83E5-B28502ECD50C}" type="datetimeFigureOut">
              <a:rPr lang="en-US" smtClean="0"/>
              <a:t>12/27/2025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5C565C-B7D1-4F9D-880C-5645F9EE1DFA}" type="slidenum">
              <a:rPr lang="en-US" smtClean="0"/>
              <a:t>‹#›</a:t>
            </a:fld>
            <a:endParaRPr lang="en-US" dirty="0"/>
          </a:p>
        </p:txBody>
      </p:sp>
    </p:spTree>
    <p:extLst>
      <p:ext uri="{BB962C8B-B14F-4D97-AF65-F5344CB8AC3E}">
        <p14:creationId xmlns:p14="http://schemas.microsoft.com/office/powerpoint/2010/main" val="477175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10CD5-1EB1-63D8-9F4C-342B291EA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4AED3-AE6D-6B48-DD6A-25BA8E376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4BC8C-8422-5A44-D201-6FAD03205974}"/>
              </a:ext>
            </a:extLst>
          </p:cNvPr>
          <p:cNvSpPr>
            <a:spLocks noGrp="1"/>
          </p:cNvSpPr>
          <p:nvPr>
            <p:ph type="body" idx="1"/>
          </p:nvPr>
        </p:nvSpPr>
        <p:spPr/>
        <p:txBody>
          <a:bodyPr/>
          <a:lstStyle/>
          <a:p>
            <a:pPr algn="r" rtl="1"/>
            <a:r>
              <a:rPr lang="he-IL" sz="1600" dirty="0"/>
              <a:t>שלום לכולם, שמי אמיר פרוינד</a:t>
            </a:r>
          </a:p>
          <a:p>
            <a:pPr algn="r" rtl="1"/>
            <a:endParaRPr lang="he-IL" sz="1600"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sz="1600" dirty="0"/>
              <a:t>היום אציג עבודת הדוקטורט שלי בהנחיית פרופסור סיון הירש הפלר מבית הספר לממשל באוניברסיטת רייכמן וד"ר יוליה אלעד שטרנגר מאוניברסיטת בר אילן. </a:t>
            </a:r>
          </a:p>
          <a:p>
            <a:pPr algn="r" rtl="1"/>
            <a:endParaRPr lang="he-IL" sz="1600" dirty="0"/>
          </a:p>
          <a:p>
            <a:pPr algn="r" rtl="1"/>
            <a:r>
              <a:rPr lang="he-IL" sz="1600" dirty="0"/>
              <a:t>הדוקטורט עוסק בהערכה רב ממדית ונטולת הקשר של קיצוניות פוליטית. </a:t>
            </a:r>
          </a:p>
          <a:p>
            <a:pPr algn="r" rtl="1"/>
            <a:endParaRPr lang="he-IL" sz="1600" dirty="0"/>
          </a:p>
          <a:p>
            <a:pPr algn="r" rtl="1"/>
            <a:r>
              <a:rPr lang="he-IL" sz="1600" dirty="0"/>
              <a:t>אני מתכוון להתמקד בהצגה בהסבר של ההמשגה והיישום (</a:t>
            </a:r>
            <a:r>
              <a:rPr lang="en-US" sz="1600" dirty="0"/>
              <a:t>Operationalization</a:t>
            </a:r>
            <a:r>
              <a:rPr lang="he-IL" sz="1600" dirty="0"/>
              <a:t>) של מדידה של קיצוניות פוליטית באמצעות מחקר (כלול בעבודת הדוקטורט) שעוסק בהשפעה של אירועים מערערים על קיצוניות פוליטית. </a:t>
            </a:r>
          </a:p>
        </p:txBody>
      </p:sp>
      <p:sp>
        <p:nvSpPr>
          <p:cNvPr id="4" name="Slide Number Placeholder 3">
            <a:extLst>
              <a:ext uri="{FF2B5EF4-FFF2-40B4-BE49-F238E27FC236}">
                <a16:creationId xmlns:a16="http://schemas.microsoft.com/office/drawing/2014/main" id="{B9842231-6D6F-37FB-8B24-17BAB00A8D92}"/>
              </a:ext>
            </a:extLst>
          </p:cNvPr>
          <p:cNvSpPr>
            <a:spLocks noGrp="1"/>
          </p:cNvSpPr>
          <p:nvPr>
            <p:ph type="sldNum" sz="quarter" idx="5"/>
          </p:nvPr>
        </p:nvSpPr>
        <p:spPr/>
        <p:txBody>
          <a:bodyPr/>
          <a:lstStyle/>
          <a:p>
            <a:fld id="{635C565C-B7D1-4F9D-880C-5645F9EE1DFA}" type="slidenum">
              <a:rPr lang="en-US" smtClean="0"/>
              <a:t>1</a:t>
            </a:fld>
            <a:endParaRPr lang="en-US" dirty="0"/>
          </a:p>
        </p:txBody>
      </p:sp>
    </p:spTree>
    <p:extLst>
      <p:ext uri="{BB962C8B-B14F-4D97-AF65-F5344CB8AC3E}">
        <p14:creationId xmlns:p14="http://schemas.microsoft.com/office/powerpoint/2010/main" val="1604615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600" dirty="0"/>
              <a:t>נדמה שאין מה להכביר במילים על החשיבות של מחקר של קיצוניות פוליטית</a:t>
            </a:r>
          </a:p>
          <a:p>
            <a:pPr algn="r" rtl="1"/>
            <a:endParaRPr lang="he-IL" sz="1600" dirty="0"/>
          </a:p>
          <a:p>
            <a:pPr marL="285750" indent="-285750" algn="r" rtl="1">
              <a:buFontTx/>
              <a:buChar char="-"/>
            </a:pPr>
            <a:r>
              <a:rPr lang="he-IL" sz="1600" dirty="0"/>
              <a:t>אנחנו עדים להתגברות של קיצוניות בעולם המערבי </a:t>
            </a:r>
          </a:p>
          <a:p>
            <a:pPr marL="285750" marR="0" lvl="0" indent="-285750" algn="r" defTabSz="914400" rtl="1" eaLnBrk="1" fontAlgn="auto" latinLnBrk="0" hangingPunct="1">
              <a:lnSpc>
                <a:spcPct val="100000"/>
              </a:lnSpc>
              <a:spcBef>
                <a:spcPts val="0"/>
              </a:spcBef>
              <a:spcAft>
                <a:spcPts val="0"/>
              </a:spcAft>
              <a:buClrTx/>
              <a:buSzTx/>
              <a:buFontTx/>
              <a:buChar char="-"/>
              <a:tabLst/>
              <a:defRPr/>
            </a:pPr>
            <a:r>
              <a:rPr lang="he-IL" sz="1600" dirty="0"/>
              <a:t>הקצנה פוליטית היא תופעה משתנה ומתפתחת בזמן</a:t>
            </a:r>
            <a:r>
              <a:rPr lang="en-US" sz="1600" dirty="0"/>
              <a:t> </a:t>
            </a:r>
            <a:r>
              <a:rPr lang="he-IL" sz="1600" dirty="0"/>
              <a:t>והיא קיימת לאורך כל הספקטרום הפוליטי</a:t>
            </a:r>
          </a:p>
          <a:p>
            <a:pPr marL="285750" indent="-285750" algn="r" rtl="1">
              <a:buFontTx/>
              <a:buChar char="-"/>
            </a:pPr>
            <a:r>
              <a:rPr lang="he-IL" sz="1600" dirty="0"/>
              <a:t>קיצוניות פוליטית אחראית לאיום גובר על הדמוקרטיה, מוסדות מדינה והנורמות הליברליות</a:t>
            </a:r>
          </a:p>
          <a:p>
            <a:pPr marL="285750" indent="-285750" algn="r" rtl="1">
              <a:buFontTx/>
              <a:buChar char="-"/>
            </a:pPr>
            <a:endParaRPr lang="he-IL" sz="1600" dirty="0"/>
          </a:p>
          <a:p>
            <a:pPr marL="285750" indent="-285750" algn="r" rtl="1">
              <a:buFontTx/>
              <a:buChar char="-"/>
            </a:pPr>
            <a:r>
              <a:rPr lang="he-IL" sz="1600" dirty="0"/>
              <a:t>המשפט של מילדרסקי מבטא בצורה חדה מדוע חשוב לעסוק במחקר של קיצוניות פוליטית – מכיוון והיא מביאה למוות של הרבה מאד אנשים</a:t>
            </a:r>
          </a:p>
        </p:txBody>
      </p:sp>
      <p:sp>
        <p:nvSpPr>
          <p:cNvPr id="4" name="Slide Number Placeholder 3"/>
          <p:cNvSpPr>
            <a:spLocks noGrp="1"/>
          </p:cNvSpPr>
          <p:nvPr>
            <p:ph type="sldNum" sz="quarter" idx="5"/>
          </p:nvPr>
        </p:nvSpPr>
        <p:spPr/>
        <p:txBody>
          <a:bodyPr/>
          <a:lstStyle/>
          <a:p>
            <a:fld id="{635C565C-B7D1-4F9D-880C-5645F9EE1DFA}" type="slidenum">
              <a:rPr lang="en-US" smtClean="0"/>
              <a:t>2</a:t>
            </a:fld>
            <a:endParaRPr lang="en-US" dirty="0"/>
          </a:p>
        </p:txBody>
      </p:sp>
    </p:spTree>
    <p:extLst>
      <p:ext uri="{BB962C8B-B14F-4D97-AF65-F5344CB8AC3E}">
        <p14:creationId xmlns:p14="http://schemas.microsoft.com/office/powerpoint/2010/main" val="3497457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400" u="sng" dirty="0"/>
              <a:t>הפער בספרות ובשיח האקדמי מפתיע:</a:t>
            </a:r>
          </a:p>
          <a:p>
            <a:pPr marL="171450" indent="-171450" algn="r" rtl="1">
              <a:buFontTx/>
              <a:buChar char="-"/>
            </a:pPr>
            <a:r>
              <a:rPr lang="he-IL" sz="1400" dirty="0"/>
              <a:t>אין הגדרה מקובלת לקיצוניות פוליטית </a:t>
            </a:r>
          </a:p>
          <a:p>
            <a:pPr marL="171450" indent="-171450" algn="r" rtl="1">
              <a:buFontTx/>
              <a:buChar char="-"/>
            </a:pPr>
            <a:r>
              <a:rPr lang="he-IL" sz="1400" dirty="0"/>
              <a:t>אין רב ממדיות – מרבית השיח עוסק בקיצוניות שמוגדרת על ידי ממד אחד (בעיקר אידיאולוגית או אי סובלנות, וספרות טרור שעוסקת באלימות)</a:t>
            </a:r>
          </a:p>
          <a:p>
            <a:pPr marL="171450" indent="-171450" algn="r" rtl="1">
              <a:buFontTx/>
              <a:buChar char="-"/>
            </a:pPr>
            <a:r>
              <a:rPr lang="he-IL" sz="1400" dirty="0"/>
              <a:t>המחקר מוטה פוליטית ומאד תלוי באוכלוסייה הנחקרת, בנורמות שלה, בתקופה ובהקשרים הפוליטיים.</a:t>
            </a:r>
          </a:p>
          <a:p>
            <a:pPr marL="0" indent="0" algn="r" rtl="1">
              <a:buFontTx/>
              <a:buNone/>
            </a:pPr>
            <a:r>
              <a:rPr lang="he-IL" sz="1400" u="sng" dirty="0"/>
              <a:t>דוגמאות להטיה:</a:t>
            </a:r>
          </a:p>
          <a:p>
            <a:pPr marL="171450" indent="-171450" algn="r" rtl="1">
              <a:buFontTx/>
              <a:buChar char="-"/>
            </a:pPr>
            <a:r>
              <a:rPr lang="he-IL" sz="1400" dirty="0"/>
              <a:t>מה שנחשב קיצוני במדינה אחת יכול להיות מקובל במדינה אחרת (למשל תמיכה ב- </a:t>
            </a:r>
            <a:r>
              <a:rPr lang="en-US" sz="1400" dirty="0"/>
              <a:t>HEALTHCARE</a:t>
            </a:r>
            <a:r>
              <a:rPr lang="he-IL" sz="1400" dirty="0"/>
              <a:t> בין ארה"ב לאירופה)</a:t>
            </a:r>
          </a:p>
          <a:p>
            <a:pPr marL="171450" indent="-171450" algn="r" rtl="1">
              <a:buFontTx/>
              <a:buChar char="-"/>
            </a:pPr>
            <a:r>
              <a:rPr lang="he-IL" sz="1400" dirty="0"/>
              <a:t>קיום סכסוך חריף מעלה את הקבלה של אלימות פוליטית</a:t>
            </a:r>
          </a:p>
          <a:p>
            <a:pPr marL="171450" indent="-171450" algn="r" rtl="1">
              <a:buFontTx/>
              <a:buChar char="-"/>
            </a:pPr>
            <a:r>
              <a:rPr lang="he-IL" sz="1400" dirty="0"/>
              <a:t>נשים קיצוניות בפרלמנט משנות את התפיסה בציבור של קיצוניות פוליטית</a:t>
            </a:r>
          </a:p>
          <a:p>
            <a:pPr marL="171450" indent="-171450" algn="r" rtl="1">
              <a:buFontTx/>
              <a:buChar char="-"/>
            </a:pPr>
            <a:endParaRPr lang="he-IL" sz="1400" dirty="0"/>
          </a:p>
          <a:p>
            <a:pPr marL="171450" indent="-171450" algn="r" rtl="1">
              <a:buFontTx/>
              <a:buChar char="-"/>
            </a:pPr>
            <a:r>
              <a:rPr lang="he-IL" sz="1400" dirty="0"/>
              <a:t> אני מציע המשגה וניתוח רב-ממדיים נטולי הקשר של קיצוניות פוליטית שכוללת שלושה פרקי מחקר ספציפיים כדי לבסס ולהדגים זאת.</a:t>
            </a:r>
          </a:p>
          <a:p>
            <a:endParaRPr lang="en-US" dirty="0"/>
          </a:p>
        </p:txBody>
      </p:sp>
      <p:sp>
        <p:nvSpPr>
          <p:cNvPr id="4" name="Slide Number Placeholder 3"/>
          <p:cNvSpPr>
            <a:spLocks noGrp="1"/>
          </p:cNvSpPr>
          <p:nvPr>
            <p:ph type="sldNum" sz="quarter" idx="5"/>
          </p:nvPr>
        </p:nvSpPr>
        <p:spPr/>
        <p:txBody>
          <a:bodyPr/>
          <a:lstStyle/>
          <a:p>
            <a:fld id="{635C565C-B7D1-4F9D-880C-5645F9EE1DFA}" type="slidenum">
              <a:rPr lang="en-US" smtClean="0"/>
              <a:t>3</a:t>
            </a:fld>
            <a:endParaRPr lang="en-US" dirty="0"/>
          </a:p>
        </p:txBody>
      </p:sp>
    </p:spTree>
    <p:extLst>
      <p:ext uri="{BB962C8B-B14F-4D97-AF65-F5344CB8AC3E}">
        <p14:creationId xmlns:p14="http://schemas.microsoft.com/office/powerpoint/2010/main" val="4143800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400" dirty="0"/>
              <a:t>החלק הראשון של הפרויקט מבסס את הליבה התיאורטית.</a:t>
            </a:r>
          </a:p>
          <a:p>
            <a:pPr algn="r" rtl="1"/>
            <a:r>
              <a:rPr lang="he-IL" sz="1400" dirty="0"/>
              <a:t>בהתבסס עליה אני מציג שיטה להערכה של קיצוניות פוליטית.</a:t>
            </a:r>
          </a:p>
          <a:p>
            <a:pPr algn="r" rtl="1"/>
            <a:endParaRPr lang="he-IL" sz="1400" dirty="0"/>
          </a:p>
          <a:p>
            <a:pPr algn="r" rtl="1"/>
            <a:r>
              <a:rPr lang="he-IL" sz="1400" dirty="0"/>
              <a:t>תוכנית המחקר מכילה שלושה מחקרים נפרדים שמטרתם לקבוע ולהציג את יתרונותיה של שיטה חדשה זו משלוש זוויות שונות:</a:t>
            </a:r>
          </a:p>
          <a:p>
            <a:pPr marL="285750" indent="-285750" algn="r" rtl="1">
              <a:buFont typeface="Arial" panose="020B0604020202020204" pitchFamily="34" charset="0"/>
              <a:buChar char="•"/>
            </a:pPr>
            <a:r>
              <a:rPr lang="he-IL" sz="1400" dirty="0"/>
              <a:t>המחקר הראשון מתייחס למחקר קיים (ריגולי, 2023) המשווה קיצוניות פוליטית בין מדינות. אינני מבקר את המחקר הקיים, אלא מדגים כיצד השיטה שלנו מאפשרת הבנה עמוקה ומסקנות מדויקות יותר.</a:t>
            </a:r>
          </a:p>
          <a:p>
            <a:pPr marL="285750" indent="-285750" algn="r" rtl="1">
              <a:buFont typeface="Arial" panose="020B0604020202020204" pitchFamily="34" charset="0"/>
              <a:buChar char="•"/>
            </a:pPr>
            <a:r>
              <a:rPr lang="he-IL" sz="1400" dirty="0"/>
              <a:t>המחקר השני עוסק בהשפעת אירועים פוליטיים על קיצוניות פוליטית. ארחיב על כך בהמשך ואציג את התוצאות הראשוניות.</a:t>
            </a:r>
          </a:p>
          <a:p>
            <a:pPr marL="285750" indent="-285750" algn="r" rtl="1">
              <a:buFont typeface="Arial" panose="020B0604020202020204" pitchFamily="34" charset="0"/>
              <a:buChar char="•"/>
            </a:pPr>
            <a:r>
              <a:rPr lang="he-IL" sz="1400" dirty="0"/>
              <a:t>המחקר השלישי מכיל ניסוי, ומטרתו לספק ראיות סיבתיות למנגנון הגורם לאירועים פוליטיים להשפיע על קיצוניות פוליטית. מנגנון זה, לדעתי, קשור לתפיסות האיום שנוצרות על ידי האירועים.</a:t>
            </a:r>
          </a:p>
          <a:p>
            <a:pPr algn="r" rtl="1"/>
            <a:endParaRPr lang="he-IL" sz="1400" dirty="0"/>
          </a:p>
          <a:p>
            <a:pPr algn="r" rtl="1"/>
            <a:r>
              <a:rPr lang="he-IL" sz="1400" dirty="0"/>
              <a:t>אני מתכנן לשחרר את דוגמאות הקוד וההנחיות לקהילה האקדמית באמצעות פורטל קוד פתוח.</a:t>
            </a:r>
            <a:endParaRPr lang="en-US" sz="1400" dirty="0"/>
          </a:p>
        </p:txBody>
      </p:sp>
      <p:sp>
        <p:nvSpPr>
          <p:cNvPr id="4" name="Slide Number Placeholder 3"/>
          <p:cNvSpPr>
            <a:spLocks noGrp="1"/>
          </p:cNvSpPr>
          <p:nvPr>
            <p:ph type="sldNum" sz="quarter" idx="5"/>
          </p:nvPr>
        </p:nvSpPr>
        <p:spPr/>
        <p:txBody>
          <a:bodyPr/>
          <a:lstStyle/>
          <a:p>
            <a:fld id="{635C565C-B7D1-4F9D-880C-5645F9EE1DFA}" type="slidenum">
              <a:rPr lang="en-US" smtClean="0"/>
              <a:t>4</a:t>
            </a:fld>
            <a:endParaRPr lang="en-US" dirty="0"/>
          </a:p>
        </p:txBody>
      </p:sp>
    </p:spTree>
    <p:extLst>
      <p:ext uri="{BB962C8B-B14F-4D97-AF65-F5344CB8AC3E}">
        <p14:creationId xmlns:p14="http://schemas.microsoft.com/office/powerpoint/2010/main" val="22184148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600" dirty="0"/>
              <a:t>אני רוצה להדגים את השימוש במתודולוגיה באמצעות המחקר על ההשפעה של אירועים סוציו-פוליטיים מערערים</a:t>
            </a:r>
            <a:endParaRPr lang="en-US" sz="1600" dirty="0"/>
          </a:p>
        </p:txBody>
      </p:sp>
      <p:sp>
        <p:nvSpPr>
          <p:cNvPr id="4" name="Slide Number Placeholder 3"/>
          <p:cNvSpPr>
            <a:spLocks noGrp="1"/>
          </p:cNvSpPr>
          <p:nvPr>
            <p:ph type="sldNum" sz="quarter" idx="5"/>
          </p:nvPr>
        </p:nvSpPr>
        <p:spPr/>
        <p:txBody>
          <a:bodyPr/>
          <a:lstStyle/>
          <a:p>
            <a:fld id="{635C565C-B7D1-4F9D-880C-5645F9EE1DFA}" type="slidenum">
              <a:rPr lang="en-US" smtClean="0"/>
              <a:t>5</a:t>
            </a:fld>
            <a:endParaRPr lang="en-US" dirty="0"/>
          </a:p>
        </p:txBody>
      </p:sp>
    </p:spTree>
    <p:extLst>
      <p:ext uri="{BB962C8B-B14F-4D97-AF65-F5344CB8AC3E}">
        <p14:creationId xmlns:p14="http://schemas.microsoft.com/office/powerpoint/2010/main" val="1732202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r" rtl="1">
              <a:buFontTx/>
              <a:buChar char="-"/>
            </a:pPr>
            <a:r>
              <a:rPr lang="he-IL" sz="1600" dirty="0"/>
              <a:t>בנוסף לרקע התיאורטי הקשור לקיצוניות פוליטית אותו הזכרתי בהתחלה אני מתייחס לשיח האקדמי הבא: </a:t>
            </a:r>
          </a:p>
          <a:p>
            <a:pPr marL="285750" indent="-285750" algn="r" rtl="1">
              <a:buFontTx/>
              <a:buChar char="-"/>
            </a:pPr>
            <a:r>
              <a:rPr lang="he-IL" sz="1600" dirty="0"/>
              <a:t>המחקר הקיים האמפירי מראה שאירועי משבר מסוגים שונים מקושרים עם עליה בקיצוניות</a:t>
            </a:r>
          </a:p>
          <a:p>
            <a:pPr marL="285750" indent="-285750" algn="r" rtl="1">
              <a:buFontTx/>
              <a:buChar char="-"/>
            </a:pPr>
            <a:r>
              <a:rPr lang="he-IL" sz="1600" dirty="0"/>
              <a:t>להשתייכות לקבוצות דתיות או פוליטיות שונות ישנה השבעה על ממדים שונים של קיצוניות פוליטית: קיצוניות אידיאולוגית, אלימות פוליטית, וחוסר סובלנות \ הדרה שך קבוצת האחר </a:t>
            </a:r>
          </a:p>
          <a:p>
            <a:pPr marL="0" indent="0" algn="r" rtl="1">
              <a:buFontTx/>
              <a:buNone/>
            </a:pPr>
            <a:endParaRPr lang="he-IL" sz="1600" dirty="0"/>
          </a:p>
        </p:txBody>
      </p:sp>
      <p:sp>
        <p:nvSpPr>
          <p:cNvPr id="4" name="Slide Number Placeholder 3"/>
          <p:cNvSpPr>
            <a:spLocks noGrp="1"/>
          </p:cNvSpPr>
          <p:nvPr>
            <p:ph type="sldNum" sz="quarter" idx="5"/>
          </p:nvPr>
        </p:nvSpPr>
        <p:spPr/>
        <p:txBody>
          <a:bodyPr/>
          <a:lstStyle/>
          <a:p>
            <a:fld id="{635C565C-B7D1-4F9D-880C-5645F9EE1DFA}" type="slidenum">
              <a:rPr lang="en-US" smtClean="0"/>
              <a:t>6</a:t>
            </a:fld>
            <a:endParaRPr lang="en-US" dirty="0"/>
          </a:p>
        </p:txBody>
      </p:sp>
    </p:spTree>
    <p:extLst>
      <p:ext uri="{BB962C8B-B14F-4D97-AF65-F5344CB8AC3E}">
        <p14:creationId xmlns:p14="http://schemas.microsoft.com/office/powerpoint/2010/main" val="14827065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600" dirty="0"/>
              <a:t>מעבר לפער התיאורטי הקיים לגבי הערכה של קיצוניות פוליטית, גם בהקשר של השפעת אירועים סוציו-פוליטיים על קיצוניות פוליטית קיים פער משמעותי בספרות האקדמית:</a:t>
            </a:r>
          </a:p>
          <a:p>
            <a:pPr marL="171450" indent="-171450" algn="r" rtl="1">
              <a:buFontTx/>
              <a:buChar char="-"/>
            </a:pPr>
            <a:r>
              <a:rPr lang="he-IL" sz="1600" dirty="0"/>
              <a:t>מחקר מועט מאד על הקשר בין אירועים סוציו-פוליטיים לקיצוניות פוליטית</a:t>
            </a:r>
          </a:p>
          <a:p>
            <a:pPr marL="171450" indent="-171450" algn="r" rtl="1">
              <a:buFontTx/>
              <a:buChar char="-"/>
            </a:pPr>
            <a:r>
              <a:rPr lang="he-IL" sz="1600" dirty="0"/>
              <a:t>בדרך כלל התייחסות לסוג אירוע אחד – טרור, הגירה, משבר כלכלי – אין השוואה</a:t>
            </a:r>
          </a:p>
          <a:p>
            <a:pPr marL="171450" indent="-171450" algn="r" rtl="1">
              <a:buFontTx/>
              <a:buChar char="-"/>
            </a:pPr>
            <a:r>
              <a:rPr lang="he-IL" sz="1600" dirty="0"/>
              <a:t>בדרך כלל התייחסות לממד קיצוניות אחד – אידיאולוגי, חוסר סובלנות, אלימות</a:t>
            </a:r>
          </a:p>
          <a:p>
            <a:pPr marL="171450" indent="-171450" algn="r" rtl="1">
              <a:buFontTx/>
              <a:buChar char="-"/>
            </a:pPr>
            <a:endParaRPr lang="he-IL" sz="1200" dirty="0"/>
          </a:p>
          <a:p>
            <a:endParaRPr lang="en-US" dirty="0"/>
          </a:p>
        </p:txBody>
      </p:sp>
      <p:sp>
        <p:nvSpPr>
          <p:cNvPr id="4" name="Slide Number Placeholder 3"/>
          <p:cNvSpPr>
            <a:spLocks noGrp="1"/>
          </p:cNvSpPr>
          <p:nvPr>
            <p:ph type="sldNum" sz="quarter" idx="5"/>
          </p:nvPr>
        </p:nvSpPr>
        <p:spPr/>
        <p:txBody>
          <a:bodyPr/>
          <a:lstStyle/>
          <a:p>
            <a:fld id="{635C565C-B7D1-4F9D-880C-5645F9EE1DFA}" type="slidenum">
              <a:rPr lang="en-US" smtClean="0"/>
              <a:t>7</a:t>
            </a:fld>
            <a:endParaRPr lang="en-US" dirty="0"/>
          </a:p>
        </p:txBody>
      </p:sp>
    </p:spTree>
    <p:extLst>
      <p:ext uri="{BB962C8B-B14F-4D97-AF65-F5344CB8AC3E}">
        <p14:creationId xmlns:p14="http://schemas.microsoft.com/office/powerpoint/2010/main" val="3296787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r" rtl="1">
              <a:buFontTx/>
              <a:buNone/>
            </a:pPr>
            <a:r>
              <a:rPr lang="he-IL" sz="1600" dirty="0"/>
              <a:t>שאלות המחקר שלנו</a:t>
            </a:r>
          </a:p>
          <a:p>
            <a:pPr marL="0" indent="0" algn="r" rtl="1">
              <a:buFontTx/>
              <a:buNone/>
            </a:pPr>
            <a:r>
              <a:rPr lang="he-IL" sz="1600" dirty="0"/>
              <a:t>1: כיצד אירועים פוליטיים שמערערים את היציבות משפיעים על ממדים שונים של קיצוניות פוליטית?</a:t>
            </a:r>
          </a:p>
          <a:p>
            <a:pPr marL="0" indent="0" algn="r" rtl="1">
              <a:buFontTx/>
              <a:buNone/>
            </a:pPr>
            <a:r>
              <a:rPr lang="he-IL" sz="1600" dirty="0"/>
              <a:t>2: באיזו מידה ההשתייכות לקבוצות פוליטיות או דתיות ממתנת קשר זה?</a:t>
            </a:r>
            <a:endParaRPr lang="en-US" sz="1600" dirty="0"/>
          </a:p>
          <a:p>
            <a:endParaRPr lang="en-US" dirty="0"/>
          </a:p>
        </p:txBody>
      </p:sp>
      <p:sp>
        <p:nvSpPr>
          <p:cNvPr id="4" name="Slide Number Placeholder 3"/>
          <p:cNvSpPr>
            <a:spLocks noGrp="1"/>
          </p:cNvSpPr>
          <p:nvPr>
            <p:ph type="sldNum" sz="quarter" idx="5"/>
          </p:nvPr>
        </p:nvSpPr>
        <p:spPr/>
        <p:txBody>
          <a:bodyPr/>
          <a:lstStyle/>
          <a:p>
            <a:fld id="{635C565C-B7D1-4F9D-880C-5645F9EE1DFA}" type="slidenum">
              <a:rPr lang="en-US" smtClean="0"/>
              <a:t>8</a:t>
            </a:fld>
            <a:endParaRPr lang="en-US" dirty="0"/>
          </a:p>
        </p:txBody>
      </p:sp>
    </p:spTree>
    <p:extLst>
      <p:ext uri="{BB962C8B-B14F-4D97-AF65-F5344CB8AC3E}">
        <p14:creationId xmlns:p14="http://schemas.microsoft.com/office/powerpoint/2010/main" val="37943289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600" dirty="0"/>
              <a:t>ההיפותזות המרכזיות שלנו הן:</a:t>
            </a:r>
          </a:p>
          <a:p>
            <a:pPr algn="r" rtl="1"/>
            <a:r>
              <a:rPr lang="he-IL" sz="1600" dirty="0"/>
              <a:t>- השתייכות לקבוצה פוליטית או דתית תמתן את מידת הקיצוניות שלה </a:t>
            </a:r>
          </a:p>
          <a:p>
            <a:pPr marL="0" indent="0" algn="r" rtl="1">
              <a:buFontTx/>
              <a:buNone/>
            </a:pPr>
            <a:r>
              <a:rPr lang="he-IL" sz="1600" dirty="0"/>
              <a:t>- אירועים המהווים איום על קבוצה יגבירו את הקיצוניות הפוליטית שלה, בעוד שאירועים המפחיתים את האיומים על הקבוצה יפחיתו את רמות הקיצוניות.</a:t>
            </a:r>
          </a:p>
          <a:p>
            <a:pPr marL="0" indent="0" algn="r" rtl="1">
              <a:buFontTx/>
              <a:buNone/>
            </a:pPr>
            <a:endParaRPr lang="he-IL" sz="1600" dirty="0"/>
          </a:p>
          <a:p>
            <a:pPr marL="171450" indent="-171450" algn="r" rtl="1">
              <a:buFontTx/>
              <a:buChar char="-"/>
            </a:pPr>
            <a:endParaRPr lang="he-IL" sz="1600" dirty="0"/>
          </a:p>
        </p:txBody>
      </p:sp>
      <p:sp>
        <p:nvSpPr>
          <p:cNvPr id="4" name="Slide Number Placeholder 3"/>
          <p:cNvSpPr>
            <a:spLocks noGrp="1"/>
          </p:cNvSpPr>
          <p:nvPr>
            <p:ph type="sldNum" sz="quarter" idx="5"/>
          </p:nvPr>
        </p:nvSpPr>
        <p:spPr/>
        <p:txBody>
          <a:bodyPr/>
          <a:lstStyle/>
          <a:p>
            <a:fld id="{635C565C-B7D1-4F9D-880C-5645F9EE1DFA}" type="slidenum">
              <a:rPr lang="en-US" smtClean="0"/>
              <a:t>9</a:t>
            </a:fld>
            <a:endParaRPr lang="en-US" dirty="0"/>
          </a:p>
        </p:txBody>
      </p:sp>
    </p:spTree>
    <p:extLst>
      <p:ext uri="{BB962C8B-B14F-4D97-AF65-F5344CB8AC3E}">
        <p14:creationId xmlns:p14="http://schemas.microsoft.com/office/powerpoint/2010/main" val="2634065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600" dirty="0"/>
              <a:t>המחקר שלנו מציע המשגה ותפעול (אופרציונליזציה)</a:t>
            </a:r>
            <a:r>
              <a:rPr lang="en-US" sz="1600" dirty="0"/>
              <a:t> </a:t>
            </a:r>
            <a:r>
              <a:rPr lang="he-IL" sz="1600" dirty="0"/>
              <a:t>של קיצוניות פוליטית: רב ממדית ונטולה הטיה.</a:t>
            </a:r>
          </a:p>
          <a:p>
            <a:pPr algn="r" rtl="1"/>
            <a:endParaRPr lang="en-US" sz="1600" dirty="0"/>
          </a:p>
          <a:p>
            <a:pPr algn="r" rtl="1"/>
            <a:r>
              <a:rPr lang="he-IL" sz="1600" u="sng" dirty="0"/>
              <a:t>ההמשגה של קיצוניות פוליטית בנויה משלושה ממדים:</a:t>
            </a:r>
          </a:p>
          <a:p>
            <a:pPr marL="285750" indent="-285750" algn="r" rtl="1">
              <a:buFont typeface="Arial" panose="020B0604020202020204" pitchFamily="34" charset="0"/>
              <a:buChar char="•"/>
            </a:pPr>
            <a:r>
              <a:rPr lang="he-IL" sz="1600" dirty="0"/>
              <a:t>הממד הקוגניטיבי עוסק במדידת הקיצוניות האידאולוגית באמצעות עמדות פוליטיות בנושא הנחקר. ממד זה יכול להיות על בסיס של ימין שמאל (לא מיקום עצמי בלבד) או עמדות בתחום של הסביבה, כלכלה, הגירה וכו. </a:t>
            </a:r>
          </a:p>
          <a:p>
            <a:pPr marL="285750" indent="-285750" algn="r" rtl="1">
              <a:buFont typeface="Arial" panose="020B0604020202020204" pitchFamily="34" charset="0"/>
              <a:buChar char="•"/>
            </a:pPr>
            <a:r>
              <a:rPr lang="he-IL" sz="1600" dirty="0"/>
              <a:t>הממד ההתנהגותי עוסק באלימות וכולל מרכיב של אלימות כנגד המדינה, מוסדותיה ופוליטיקאים ומרכיב של אלימות כלפי האחר (</a:t>
            </a:r>
            <a:r>
              <a:rPr lang="en-US" sz="1600" dirty="0"/>
              <a:t>Out-group</a:t>
            </a:r>
            <a:r>
              <a:rPr lang="he-IL" sz="1600" dirty="0"/>
              <a:t>)</a:t>
            </a:r>
          </a:p>
          <a:p>
            <a:pPr marL="285750" indent="-285750" algn="r" rtl="1">
              <a:buFont typeface="Arial" panose="020B0604020202020204" pitchFamily="34" charset="0"/>
              <a:buChar char="•"/>
            </a:pPr>
            <a:r>
              <a:rPr lang="he-IL" sz="1600" dirty="0"/>
              <a:t>הממד החברתי עוסק באי-סובלנות וגם הוא כולל שני מרכיבים: הדרה וחוסר סובלנות אישי \ חברתי, והדרה ואי סובלנות פוליטית.</a:t>
            </a:r>
            <a:endParaRPr lang="en-US" sz="1600" dirty="0"/>
          </a:p>
        </p:txBody>
      </p:sp>
      <p:sp>
        <p:nvSpPr>
          <p:cNvPr id="4" name="Slide Number Placeholder 3"/>
          <p:cNvSpPr>
            <a:spLocks noGrp="1"/>
          </p:cNvSpPr>
          <p:nvPr>
            <p:ph type="sldNum" sz="quarter" idx="5"/>
          </p:nvPr>
        </p:nvSpPr>
        <p:spPr/>
        <p:txBody>
          <a:bodyPr/>
          <a:lstStyle/>
          <a:p>
            <a:fld id="{635C565C-B7D1-4F9D-880C-5645F9EE1DFA}" type="slidenum">
              <a:rPr lang="en-US" smtClean="0"/>
              <a:t>10</a:t>
            </a:fld>
            <a:endParaRPr lang="en-US" dirty="0"/>
          </a:p>
        </p:txBody>
      </p:sp>
    </p:spTree>
    <p:extLst>
      <p:ext uri="{BB962C8B-B14F-4D97-AF65-F5344CB8AC3E}">
        <p14:creationId xmlns:p14="http://schemas.microsoft.com/office/powerpoint/2010/main" val="2464641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DD6BF-B7F8-E778-D19E-B7E612FA08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CD1DC-587F-A333-46A8-C0EB07E5F3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D7EE42-7AFA-427C-95D6-775A2ECB4759}"/>
              </a:ext>
            </a:extLst>
          </p:cNvPr>
          <p:cNvSpPr>
            <a:spLocks noGrp="1"/>
          </p:cNvSpPr>
          <p:nvPr>
            <p:ph type="body" idx="1"/>
          </p:nvPr>
        </p:nvSpPr>
        <p:spPr/>
        <p:txBody>
          <a:bodyPr/>
          <a:lstStyle/>
          <a:p>
            <a:pPr algn="r" rtl="1"/>
            <a:r>
              <a:rPr lang="he-IL" sz="1600" dirty="0"/>
              <a:t>כיצד בנויה האופרציונליזציה של הערכת קיצוניות פוליטית:</a:t>
            </a:r>
          </a:p>
          <a:p>
            <a:pPr algn="r" rtl="1"/>
            <a:endParaRPr lang="he-IL" sz="1600" dirty="0"/>
          </a:p>
          <a:p>
            <a:pPr marL="285750" indent="-285750" algn="r" rtl="1">
              <a:buFont typeface="Arial" panose="020B0604020202020204" pitchFamily="34" charset="0"/>
              <a:buChar char="•"/>
            </a:pPr>
            <a:r>
              <a:rPr lang="he-IL" sz="1600" dirty="0"/>
              <a:t>המדדים הרלוונטיים (נמדדים באוכלוסייה הנחקרת) מקובצים לשלשת הממדים אותם הזכרנו. ממדים אלו מעובדים על ידי מעריך – </a:t>
            </a:r>
            <a:r>
              <a:rPr lang="en-US" sz="1600" dirty="0"/>
              <a:t>GUAGE</a:t>
            </a:r>
            <a:r>
              <a:rPr lang="he-IL" sz="1600" dirty="0"/>
              <a:t> - של קיצוניות פוליטית אותו פיתחתי</a:t>
            </a:r>
          </a:p>
          <a:p>
            <a:pPr marL="285750" indent="-285750" algn="r" rtl="1">
              <a:buFont typeface="Arial" panose="020B0604020202020204" pitchFamily="34" charset="0"/>
              <a:buChar char="•"/>
            </a:pPr>
            <a:r>
              <a:rPr lang="he-IL" sz="1600" dirty="0"/>
              <a:t>התוצאה המתקבלת כוללת אוסף של אינדקסים שמאפשרים הערכה של רמת הקיצוניות הפוליטית, השוואה בין אוכלוסיות, תתי אוכלוסיות או לאורך זמן</a:t>
            </a:r>
          </a:p>
          <a:p>
            <a:pPr marL="285750" indent="-285750" algn="r" rtl="1">
              <a:buFont typeface="Arial" panose="020B0604020202020204" pitchFamily="34" charset="0"/>
              <a:buChar char="•"/>
            </a:pPr>
            <a:r>
              <a:rPr lang="he-IL" sz="1600" dirty="0"/>
              <a:t>יש אינדקסים מסוגים שונים – למשל אבסולוטיים שיכולים לכלול הטיה ומיועדים להשוואת אוכלוסיות בעלי תרבות ונורמות דומים או אינדקסים יחסיים שיכולים לאפשר השוואה של אוכלוסיות שונות תוך מניעה של הטיה בהערכה. </a:t>
            </a:r>
          </a:p>
          <a:p>
            <a:pPr algn="r" rtl="1"/>
            <a:endParaRPr lang="he-IL" sz="1600" dirty="0"/>
          </a:p>
          <a:p>
            <a:pPr algn="r" rtl="1"/>
            <a:r>
              <a:rPr lang="he-IL" sz="1600" dirty="0"/>
              <a:t>בשקפים הבאים ארחיב על כך</a:t>
            </a:r>
            <a:endParaRPr lang="en-US" sz="1600" dirty="0"/>
          </a:p>
        </p:txBody>
      </p:sp>
      <p:sp>
        <p:nvSpPr>
          <p:cNvPr id="4" name="Slide Number Placeholder 3">
            <a:extLst>
              <a:ext uri="{FF2B5EF4-FFF2-40B4-BE49-F238E27FC236}">
                <a16:creationId xmlns:a16="http://schemas.microsoft.com/office/drawing/2014/main" id="{4CAFE09E-181F-8DA4-43D4-F9F2C6EB12F0}"/>
              </a:ext>
            </a:extLst>
          </p:cNvPr>
          <p:cNvSpPr>
            <a:spLocks noGrp="1"/>
          </p:cNvSpPr>
          <p:nvPr>
            <p:ph type="sldNum" sz="quarter" idx="5"/>
          </p:nvPr>
        </p:nvSpPr>
        <p:spPr/>
        <p:txBody>
          <a:bodyPr/>
          <a:lstStyle/>
          <a:p>
            <a:fld id="{635C565C-B7D1-4F9D-880C-5645F9EE1DFA}" type="slidenum">
              <a:rPr lang="en-US" smtClean="0"/>
              <a:t>11</a:t>
            </a:fld>
            <a:endParaRPr lang="en-US" dirty="0"/>
          </a:p>
        </p:txBody>
      </p:sp>
    </p:spTree>
    <p:extLst>
      <p:ext uri="{BB962C8B-B14F-4D97-AF65-F5344CB8AC3E}">
        <p14:creationId xmlns:p14="http://schemas.microsoft.com/office/powerpoint/2010/main" val="23374916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600" dirty="0"/>
              <a:t>בצד שמאל של השקף מוצגת ויזואליזציה של הבסיס להמשגה ולאופרציונליזציה לקיצוניות פוליטית. </a:t>
            </a:r>
          </a:p>
          <a:p>
            <a:pPr algn="r" rtl="1"/>
            <a:endParaRPr lang="he-IL" sz="1600" dirty="0"/>
          </a:p>
          <a:p>
            <a:pPr marL="285750" indent="-285750" algn="r" rtl="1">
              <a:buFont typeface="Arial" panose="020B0604020202020204" pitchFamily="34" charset="0"/>
              <a:buChar char="•"/>
            </a:pPr>
            <a:r>
              <a:rPr lang="he-IL" sz="1600" dirty="0"/>
              <a:t>שלשת צירי הממדים</a:t>
            </a:r>
          </a:p>
          <a:p>
            <a:pPr marL="285750" indent="-285750" algn="r" rtl="1">
              <a:buFont typeface="Arial" panose="020B0604020202020204" pitchFamily="34" charset="0"/>
              <a:buChar char="•"/>
            </a:pPr>
            <a:r>
              <a:rPr lang="he-IL" sz="1600" dirty="0"/>
              <a:t>אינדקס שמודד את ה- </a:t>
            </a:r>
            <a:r>
              <a:rPr lang="en-US" sz="1600" dirty="0"/>
              <a:t>MEDIAN</a:t>
            </a:r>
            <a:r>
              <a:rPr lang="he-IL" sz="1600" dirty="0"/>
              <a:t> של האוכלוסייה בכלל ממד</a:t>
            </a:r>
          </a:p>
          <a:p>
            <a:pPr marL="285750" indent="-285750" algn="r" rtl="1">
              <a:buFont typeface="Arial" panose="020B0604020202020204" pitchFamily="34" charset="0"/>
              <a:buChar char="•"/>
            </a:pPr>
            <a:r>
              <a:rPr lang="he-IL" sz="1600" dirty="0"/>
              <a:t>אינדקס </a:t>
            </a:r>
            <a:r>
              <a:rPr lang="en-US" sz="1600" dirty="0"/>
              <a:t>Extremism Point (EP)</a:t>
            </a:r>
            <a:r>
              <a:rPr lang="he-IL" sz="1600" dirty="0"/>
              <a:t> שמייצר סף שמעבר לו אנחנו מגדירים מיהי הקבוצה הקיצונית יותר בכל ממד</a:t>
            </a:r>
          </a:p>
          <a:p>
            <a:pPr marL="285750" indent="-285750" algn="r" rtl="1">
              <a:buFont typeface="Arial" panose="020B0604020202020204" pitchFamily="34" charset="0"/>
              <a:buChar char="•"/>
            </a:pPr>
            <a:r>
              <a:rPr lang="he-IL" sz="1600" dirty="0"/>
              <a:t>הוא מחושב על ידי </a:t>
            </a:r>
            <a:r>
              <a:rPr lang="en-US" sz="1600" dirty="0"/>
              <a:t>Median + 1*MAD  </a:t>
            </a:r>
            <a:endParaRPr lang="he-IL" sz="1600" dirty="0"/>
          </a:p>
          <a:p>
            <a:pPr marL="285750" indent="-285750" algn="r" rtl="1">
              <a:buFont typeface="Arial" panose="020B0604020202020204" pitchFamily="34" charset="0"/>
              <a:buChar char="•"/>
            </a:pPr>
            <a:r>
              <a:rPr lang="en-US" sz="1600" dirty="0"/>
              <a:t>MAD (Median Absolute Deviation)</a:t>
            </a:r>
            <a:r>
              <a:rPr lang="he-IL" sz="1600" dirty="0"/>
              <a:t> הוא מדד לפיזור הנתונים, דומה לסטיית תקן אבל עמיד יותר לערכים חריגים.</a:t>
            </a:r>
          </a:p>
          <a:p>
            <a:pPr marL="0" indent="0" algn="r" rtl="1">
              <a:buFontTx/>
              <a:buNone/>
            </a:pPr>
            <a:endParaRPr lang="he-IL" sz="1600" dirty="0"/>
          </a:p>
          <a:p>
            <a:pPr marL="171450" indent="-171450" algn="r" rtl="1">
              <a:buFontTx/>
              <a:buChar char="-"/>
            </a:pPr>
            <a:r>
              <a:rPr lang="he-IL" sz="1600" dirty="0"/>
              <a:t>צהוב – אוכלוסייה שקיצונית רק בממד אחד</a:t>
            </a:r>
          </a:p>
          <a:p>
            <a:pPr marL="171450" indent="-171450" algn="r" rtl="1">
              <a:buFontTx/>
              <a:buChar char="-"/>
            </a:pPr>
            <a:r>
              <a:rPr lang="he-IL" sz="1600" dirty="0"/>
              <a:t>כתום – אוכלוסייה שקיצונית בשני ממדים</a:t>
            </a:r>
          </a:p>
          <a:p>
            <a:pPr marL="171450" indent="-171450" algn="r" rtl="1">
              <a:buFontTx/>
              <a:buChar char="-"/>
            </a:pPr>
            <a:r>
              <a:rPr lang="he-IL" sz="1600" dirty="0"/>
              <a:t>אדום – הקבוצה הקיצונית ביותר – עוברת את הסף בכל שלשת הממדים</a:t>
            </a:r>
          </a:p>
          <a:p>
            <a:pPr marL="0" indent="0" algn="r" rtl="1">
              <a:buFontTx/>
              <a:buNone/>
            </a:pPr>
            <a:endParaRPr lang="he-IL" sz="1600" dirty="0"/>
          </a:p>
          <a:p>
            <a:pPr marL="0" indent="0" algn="r" rtl="1">
              <a:buFontTx/>
              <a:buNone/>
            </a:pPr>
            <a:r>
              <a:rPr lang="he-IL" sz="1600" dirty="0"/>
              <a:t>בצד ימין ניתן לראות דוגמא ויזואלית של השוואה בין מדינות. </a:t>
            </a:r>
          </a:p>
          <a:p>
            <a:pPr marL="171450" indent="-171450" algn="r" rtl="1">
              <a:buFontTx/>
              <a:buChar char="-"/>
            </a:pPr>
            <a:r>
              <a:rPr lang="he-IL" sz="1600" dirty="0"/>
              <a:t>לכל מדינה יש נקודה במרחב התלת ממדי שלנו. </a:t>
            </a:r>
          </a:p>
          <a:p>
            <a:pPr marL="171450" indent="-171450" algn="r" rtl="1">
              <a:buFontTx/>
              <a:buChar char="-"/>
            </a:pPr>
            <a:r>
              <a:rPr lang="he-IL" sz="1600" dirty="0"/>
              <a:t>ניתן לייצג את כל אחד מהאינדקסים גם לצורך מיקום וגם לצורך צבע הנקודה כדי להשוות בין המדינות</a:t>
            </a:r>
          </a:p>
          <a:p>
            <a:pPr marL="171450" indent="-171450" algn="r" rtl="1">
              <a:buFontTx/>
              <a:buChar char="-"/>
            </a:pPr>
            <a:endParaRPr lang="he-IL" sz="1600" dirty="0"/>
          </a:p>
          <a:p>
            <a:pPr marL="171450" indent="-171450" algn="r" rtl="1">
              <a:buFontTx/>
              <a:buChar char="-"/>
            </a:pPr>
            <a:r>
              <a:rPr lang="he-IL" sz="1600" dirty="0"/>
              <a:t>לשם הבהרה – ויזואליזציה זאת אינה מאפשרת בצורה טובה הבנה של ההבדלים בין המדינות אבל עוזרת להבים את הקונספט של ההצעה שלנו. </a:t>
            </a:r>
          </a:p>
          <a:p>
            <a:pPr marL="171450" indent="-171450" algn="r" rtl="1">
              <a:buFontTx/>
              <a:buChar char="-"/>
            </a:pPr>
            <a:endParaRPr lang="en-US" dirty="0"/>
          </a:p>
        </p:txBody>
      </p:sp>
      <p:sp>
        <p:nvSpPr>
          <p:cNvPr id="4" name="Slide Number Placeholder 3"/>
          <p:cNvSpPr>
            <a:spLocks noGrp="1"/>
          </p:cNvSpPr>
          <p:nvPr>
            <p:ph type="sldNum" sz="quarter" idx="5"/>
          </p:nvPr>
        </p:nvSpPr>
        <p:spPr/>
        <p:txBody>
          <a:bodyPr/>
          <a:lstStyle/>
          <a:p>
            <a:fld id="{635C565C-B7D1-4F9D-880C-5645F9EE1DFA}" type="slidenum">
              <a:rPr lang="en-US" smtClean="0"/>
              <a:t>12</a:t>
            </a:fld>
            <a:endParaRPr lang="en-US" dirty="0"/>
          </a:p>
        </p:txBody>
      </p:sp>
    </p:spTree>
    <p:extLst>
      <p:ext uri="{BB962C8B-B14F-4D97-AF65-F5344CB8AC3E}">
        <p14:creationId xmlns:p14="http://schemas.microsoft.com/office/powerpoint/2010/main" val="2388087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600" dirty="0"/>
              <a:t>אנסה לחדד בצורה מדויקת יותר את האינדקסים הבסיסיים שמייצר ה- </a:t>
            </a:r>
            <a:r>
              <a:rPr lang="en-US" sz="1600" dirty="0"/>
              <a:t>GAUGE</a:t>
            </a:r>
          </a:p>
          <a:p>
            <a:pPr algn="r" rtl="1"/>
            <a:endParaRPr lang="en-US" sz="1600" dirty="0"/>
          </a:p>
          <a:p>
            <a:pPr marL="285750" indent="-285750" algn="r" rtl="1">
              <a:buFont typeface="Arial" panose="020B0604020202020204" pitchFamily="34" charset="0"/>
              <a:buChar char="•"/>
            </a:pPr>
            <a:r>
              <a:rPr lang="he-IL" sz="1600" dirty="0"/>
              <a:t>הקבוצה הראשונה כוללת את ערכי הממדים כולל ערך אחד כולל לקיצוניות פוליטית שמבוסס על </a:t>
            </a:r>
            <a:r>
              <a:rPr lang="en-US" sz="1600" dirty="0"/>
              <a:t>RMS </a:t>
            </a:r>
            <a:r>
              <a:rPr lang="he-IL" sz="1600" dirty="0"/>
              <a:t>(שורש ממוצע הריבועים) של כל הממדים.</a:t>
            </a:r>
          </a:p>
          <a:p>
            <a:pPr marL="285750" indent="-285750" algn="r" rtl="1">
              <a:buFont typeface="Arial" panose="020B0604020202020204" pitchFamily="34" charset="0"/>
              <a:buChar char="•"/>
            </a:pPr>
            <a:r>
              <a:rPr lang="he-IL" sz="1600" dirty="0"/>
              <a:t>הקבוצה השנייה כוללת את האינדקסים האבסולוטיים של ה- </a:t>
            </a:r>
            <a:r>
              <a:rPr lang="en-US" sz="1600" dirty="0"/>
              <a:t>NORMATIVE POINT</a:t>
            </a:r>
            <a:r>
              <a:rPr lang="he-IL" sz="1600" dirty="0"/>
              <a:t> וה- </a:t>
            </a:r>
            <a:r>
              <a:rPr lang="en-US" sz="1600" dirty="0"/>
              <a:t>ETREMISM POINT</a:t>
            </a:r>
            <a:endParaRPr lang="he-IL" sz="1600" dirty="0"/>
          </a:p>
          <a:p>
            <a:pPr marL="285750" indent="-285750" algn="r" rtl="1">
              <a:buFont typeface="Arial" panose="020B0604020202020204" pitchFamily="34" charset="0"/>
              <a:buChar char="•"/>
            </a:pPr>
            <a:r>
              <a:rPr lang="he-IL" sz="1600" dirty="0"/>
              <a:t>הקבוצה השלישית כוללת אינדקסים יחסיים: </a:t>
            </a:r>
            <a:r>
              <a:rPr lang="en-US" sz="1600" dirty="0"/>
              <a:t>EXTREMISM LEVEL</a:t>
            </a:r>
            <a:r>
              <a:rPr lang="he-IL" sz="1600" dirty="0"/>
              <a:t> (אחוז האוכלוסייה בעל קיצוניות פוליטיקת מעל ה- </a:t>
            </a:r>
            <a:r>
              <a:rPr lang="en-US" sz="1600" dirty="0"/>
              <a:t>ETREMISM POINT</a:t>
            </a:r>
            <a:r>
              <a:rPr lang="he-IL" sz="1600" dirty="0"/>
              <a:t>) ו-</a:t>
            </a:r>
            <a:r>
              <a:rPr lang="en-US" sz="1600" dirty="0"/>
              <a:t> Extremism Ranks 1/2/3 </a:t>
            </a:r>
          </a:p>
          <a:p>
            <a:pPr algn="r" rtl="1"/>
            <a:endParaRPr lang="he-IL" sz="1600" dirty="0"/>
          </a:p>
          <a:p>
            <a:pPr algn="r" rtl="1"/>
            <a:r>
              <a:rPr lang="he-IL" sz="1600" dirty="0"/>
              <a:t>ישנם אינדקסים נוספים (מורכבים יותר) שמתבססים על היחס והשינויים בין חלק מהאינדקסים הבסיסיים. </a:t>
            </a:r>
          </a:p>
          <a:p>
            <a:pPr algn="r" rtl="1"/>
            <a:r>
              <a:rPr lang="he-IL" sz="1600" dirty="0"/>
              <a:t>למשל אם יש שינוי בזמן של התפלגות הקיצוניות הפוליטית כך שה- </a:t>
            </a:r>
            <a:r>
              <a:rPr lang="en-US" sz="1600" dirty="0"/>
              <a:t>EP</a:t>
            </a:r>
            <a:r>
              <a:rPr lang="he-IL" sz="1600" dirty="0"/>
              <a:t> עלה (זז ימינה) וה- </a:t>
            </a:r>
            <a:r>
              <a:rPr lang="en-US" sz="1600" dirty="0"/>
              <a:t>NP </a:t>
            </a:r>
            <a:r>
              <a:rPr lang="he-IL" sz="1600" dirty="0"/>
              <a:t>לא השתנה אזי אנחנו יכולים להגיד שהקבוצה הקיצונית נעשתה קיצונית יותר וזה יכול להוות דגל אדום. </a:t>
            </a:r>
          </a:p>
          <a:p>
            <a:pPr algn="r" rtl="1"/>
            <a:r>
              <a:rPr lang="he-IL" sz="1600" dirty="0"/>
              <a:t>אם גם ה-</a:t>
            </a:r>
            <a:r>
              <a:rPr lang="en-US" sz="1600" dirty="0"/>
              <a:t>NP</a:t>
            </a:r>
            <a:r>
              <a:rPr lang="he-IL" sz="1600" dirty="0"/>
              <a:t> עלה באותה מידה, אנחנו יכולים להבין שכל המדינה שינתה את רמת הקיצוניות אבל הקבוצה הקיצונית לא השתנתה בצורה ממשית.</a:t>
            </a:r>
            <a:endParaRPr lang="en-US" sz="1600" dirty="0"/>
          </a:p>
          <a:p>
            <a:pPr algn="r" rtl="1"/>
            <a:endParaRPr lang="he-IL" sz="1600" dirty="0"/>
          </a:p>
          <a:p>
            <a:pPr algn="r" rtl="1"/>
            <a:r>
              <a:rPr lang="he-IL" sz="1600" dirty="0"/>
              <a:t>מפאת קוצר הזמן לא ארחיב יותר. </a:t>
            </a:r>
          </a:p>
          <a:p>
            <a:pPr algn="r" rtl="1"/>
            <a:endParaRPr lang="en-US" dirty="0"/>
          </a:p>
        </p:txBody>
      </p:sp>
      <p:sp>
        <p:nvSpPr>
          <p:cNvPr id="4" name="Slide Number Placeholder 3"/>
          <p:cNvSpPr>
            <a:spLocks noGrp="1"/>
          </p:cNvSpPr>
          <p:nvPr>
            <p:ph type="sldNum" sz="quarter" idx="5"/>
          </p:nvPr>
        </p:nvSpPr>
        <p:spPr/>
        <p:txBody>
          <a:bodyPr/>
          <a:lstStyle/>
          <a:p>
            <a:fld id="{635C565C-B7D1-4F9D-880C-5645F9EE1DFA}" type="slidenum">
              <a:rPr lang="en-US" smtClean="0"/>
              <a:t>13</a:t>
            </a:fld>
            <a:endParaRPr lang="en-US" dirty="0"/>
          </a:p>
        </p:txBody>
      </p:sp>
    </p:spTree>
    <p:extLst>
      <p:ext uri="{BB962C8B-B14F-4D97-AF65-F5344CB8AC3E}">
        <p14:creationId xmlns:p14="http://schemas.microsoft.com/office/powerpoint/2010/main" val="1394865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600" dirty="0"/>
              <a:t>אנו עורכים את המחקר על ידי שימוש בסקרי קיצוניות פוליטית שנערכים על שתי מנחות המחקר שלי ועל ידי השותפה שלהן מאוניברסיטת ניו יורק. </a:t>
            </a:r>
          </a:p>
          <a:p>
            <a:pPr algn="r" rtl="1"/>
            <a:r>
              <a:rPr lang="he-IL" sz="1600" dirty="0"/>
              <a:t>עד היו נערכו שישה סקרים (השביעי בדרך) והם מפורטים בשורה העליונה של התרשים.</a:t>
            </a:r>
          </a:p>
          <a:p>
            <a:pPr algn="r" rtl="1"/>
            <a:r>
              <a:rPr lang="he-IL" sz="1600" dirty="0"/>
              <a:t>לאחר בחינה של תאריכי הסקרים הסתבר שבין כל זוג סקרים התרחש אירוע אחד שהינו משמעותי בפער גדול יותר מכל שארע בנוסף. </a:t>
            </a:r>
          </a:p>
          <a:p>
            <a:pPr algn="r" rtl="1"/>
            <a:endParaRPr lang="he-IL" sz="1600" dirty="0"/>
          </a:p>
          <a:p>
            <a:pPr marL="285750" indent="-285750" algn="r" rtl="1">
              <a:buFont typeface="Arial" panose="020B0604020202020204" pitchFamily="34" charset="0"/>
              <a:buChar char="•"/>
            </a:pPr>
            <a:r>
              <a:rPr lang="he-IL" sz="1600" dirty="0"/>
              <a:t>בין הסקר הראשון לשני היו אירועי טרור שבניגוד לעבר התרחשו במרכז הארץ ובעקבותיהם יצא צה"ל למבצע שובר גלים בשטחים. </a:t>
            </a:r>
          </a:p>
          <a:p>
            <a:pPr marL="285750" indent="-285750" algn="r" rtl="1">
              <a:buFont typeface="Arial" panose="020B0604020202020204" pitchFamily="34" charset="0"/>
              <a:buChar char="•"/>
            </a:pPr>
            <a:r>
              <a:rPr lang="he-IL" sz="1600" dirty="0"/>
              <a:t>בין השני לשלישי נפלה מפלגת השינוי של בנט-לפיד</a:t>
            </a:r>
          </a:p>
          <a:p>
            <a:pPr marL="285750" indent="-285750" algn="r" rtl="1">
              <a:buFont typeface="Arial" panose="020B0604020202020204" pitchFamily="34" charset="0"/>
              <a:buChar char="•"/>
            </a:pPr>
            <a:r>
              <a:rPr lang="he-IL" sz="1600" dirty="0"/>
              <a:t>בין השלישי לרביעי עלה לשלטון נתניהו ובתוך שבוע הוכרזה המהפכה המשפטית שאיימה על הדמוקרטיה הישראלית. בעקבות כך קמה תנועת מחאה בהובלת המרכז הפוליטי בישראל. </a:t>
            </a:r>
          </a:p>
          <a:p>
            <a:pPr marL="285750" indent="-285750" algn="r" rtl="1">
              <a:buFont typeface="Arial" panose="020B0604020202020204" pitchFamily="34" charset="0"/>
              <a:buChar char="•"/>
            </a:pPr>
            <a:r>
              <a:rPr lang="he-IL" sz="1600" dirty="0"/>
              <a:t>בין הרביעי לחמישי נערכו הפגנות ענק בעקבות פיטורי שר הביטחון גלנט. בעקבות הלחץ הציבורי החזיר אותו נתניהו לתפקיד ונתן בכך ניצחון משמעותי לתנועת המחאה.</a:t>
            </a:r>
          </a:p>
          <a:p>
            <a:pPr marL="285750" indent="-285750" algn="r" rtl="1">
              <a:buFont typeface="Arial" panose="020B0604020202020204" pitchFamily="34" charset="0"/>
              <a:buChar char="•"/>
            </a:pPr>
            <a:r>
              <a:rPr lang="he-IL" sz="1600" dirty="0"/>
              <a:t>בין החמישי לשישי ארע טבח ה-שביעי לאוקטובר, אירוע הטרור הגדול ביותר אותו חווה העם בישראל. בעקבותיו פרצה המלחמה בעזה.  </a:t>
            </a:r>
          </a:p>
          <a:p>
            <a:pPr marL="171450" indent="-171450" algn="r" rtl="1">
              <a:buFontTx/>
              <a:buChar char="-"/>
            </a:pPr>
            <a:endParaRPr lang="he-IL" sz="1600" dirty="0"/>
          </a:p>
          <a:p>
            <a:pPr marL="0" indent="0" algn="r" rtl="1">
              <a:buFontTx/>
              <a:buNone/>
            </a:pPr>
            <a:r>
              <a:rPr lang="he-IL" sz="1600" dirty="0"/>
              <a:t>מערך זה מאפשר לנו למדוד את ההשפעה של כל אירוע על השינוי בקיצוניות הפוליטית בין כל שני גלים של הסקר. </a:t>
            </a:r>
          </a:p>
          <a:p>
            <a:pPr marL="0" indent="0" algn="r" rtl="1">
              <a:buFontTx/>
              <a:buNone/>
            </a:pPr>
            <a:endParaRPr lang="he-IL" sz="1600" dirty="0"/>
          </a:p>
          <a:p>
            <a:pPr marL="0" indent="0" algn="r" rtl="1">
              <a:buFontTx/>
              <a:buNone/>
            </a:pPr>
            <a:r>
              <a:rPr lang="he-IL" sz="1600" dirty="0"/>
              <a:t>יש לציין שסקרים 3 ו- 4 היו סקרי פאנל כך שיש באפשרותנו גם להגיע למסקנות סיבתיות לגבי השינוי בקיצוניות שחל בניהם. </a:t>
            </a:r>
          </a:p>
          <a:p>
            <a:pPr algn="r" rtl="1"/>
            <a:endParaRPr lang="en-US" dirty="0"/>
          </a:p>
        </p:txBody>
      </p:sp>
      <p:sp>
        <p:nvSpPr>
          <p:cNvPr id="4" name="Slide Number Placeholder 3"/>
          <p:cNvSpPr>
            <a:spLocks noGrp="1"/>
          </p:cNvSpPr>
          <p:nvPr>
            <p:ph type="sldNum" sz="quarter" idx="5"/>
          </p:nvPr>
        </p:nvSpPr>
        <p:spPr/>
        <p:txBody>
          <a:bodyPr/>
          <a:lstStyle/>
          <a:p>
            <a:fld id="{635C565C-B7D1-4F9D-880C-5645F9EE1DFA}" type="slidenum">
              <a:rPr lang="en-US" smtClean="0"/>
              <a:t>14</a:t>
            </a:fld>
            <a:endParaRPr lang="en-US" dirty="0"/>
          </a:p>
        </p:txBody>
      </p:sp>
    </p:spTree>
    <p:extLst>
      <p:ext uri="{BB962C8B-B14F-4D97-AF65-F5344CB8AC3E}">
        <p14:creationId xmlns:p14="http://schemas.microsoft.com/office/powerpoint/2010/main" val="1740951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600" dirty="0"/>
              <a:t>אראה כמה מתוצאות המחקר:</a:t>
            </a:r>
            <a:r>
              <a:rPr lang="en-US" sz="1600" dirty="0"/>
              <a:t> </a:t>
            </a:r>
            <a:endParaRPr lang="he-IL" sz="1600" dirty="0"/>
          </a:p>
          <a:p>
            <a:pPr algn="r" rtl="1"/>
            <a:endParaRPr lang="he-IL" sz="1600" dirty="0"/>
          </a:p>
          <a:p>
            <a:pPr algn="r" rtl="1"/>
            <a:r>
              <a:rPr lang="he-IL" sz="1600" dirty="0"/>
              <a:t>אנו מקבלים הוכחות לנכונות ההיפותזות גם על ידי אנליזה סטטיסטית (רגרסיה </a:t>
            </a:r>
            <a:r>
              <a:rPr lang="en-US" sz="1600" dirty="0"/>
              <a:t>OLS</a:t>
            </a:r>
            <a:r>
              <a:rPr lang="he-IL" sz="1600" dirty="0"/>
              <a:t> ו- </a:t>
            </a:r>
            <a:r>
              <a:rPr lang="en-US" sz="1600" dirty="0"/>
              <a:t>PLM</a:t>
            </a:r>
            <a:r>
              <a:rPr lang="he-IL" sz="1600" dirty="0"/>
              <a:t>)</a:t>
            </a:r>
          </a:p>
          <a:p>
            <a:pPr marL="171450" indent="-171450" algn="r" rtl="1">
              <a:buFontTx/>
              <a:buChar char="-"/>
            </a:pPr>
            <a:r>
              <a:rPr lang="he-IL" sz="1600" dirty="0"/>
              <a:t>השפעת רמת הדתיות – הוכחה חזקה של </a:t>
            </a:r>
            <a:r>
              <a:rPr lang="he-IL" sz="1600" b="1" dirty="0"/>
              <a:t>היפותזה 1</a:t>
            </a:r>
          </a:p>
          <a:p>
            <a:pPr marL="171450" indent="-171450" algn="r" rtl="1">
              <a:buFontTx/>
              <a:buChar char="-"/>
            </a:pPr>
            <a:r>
              <a:rPr lang="he-IL" sz="1600" dirty="0"/>
              <a:t>השפעה של אינטראקציה בין רמת הדתיות ל- </a:t>
            </a:r>
            <a:r>
              <a:rPr lang="en-US" sz="1600" dirty="0"/>
              <a:t>EVENT</a:t>
            </a:r>
            <a:r>
              <a:rPr lang="he-IL" sz="1600" dirty="0"/>
              <a:t> – הוכחה חלקית של </a:t>
            </a:r>
            <a:r>
              <a:rPr lang="he-IL" sz="1600" b="1" dirty="0"/>
              <a:t>היפותזה 2</a:t>
            </a:r>
          </a:p>
          <a:p>
            <a:pPr marL="171450" indent="-171450" algn="r" rtl="1">
              <a:buFontTx/>
              <a:buChar char="-"/>
            </a:pPr>
            <a:endParaRPr lang="he-IL" sz="1600" dirty="0"/>
          </a:p>
          <a:p>
            <a:pPr marL="0" indent="0" algn="r" rtl="1">
              <a:buFontTx/>
              <a:buNone/>
            </a:pPr>
            <a:endParaRPr lang="he-IL" dirty="0"/>
          </a:p>
          <a:p>
            <a:pPr marL="171450" indent="-171450" algn="r" rtl="1">
              <a:buFontTx/>
              <a:buChar char="-"/>
            </a:pPr>
            <a:endParaRPr lang="en-US" dirty="0"/>
          </a:p>
        </p:txBody>
      </p:sp>
      <p:sp>
        <p:nvSpPr>
          <p:cNvPr id="4" name="Slide Number Placeholder 3"/>
          <p:cNvSpPr>
            <a:spLocks noGrp="1"/>
          </p:cNvSpPr>
          <p:nvPr>
            <p:ph type="sldNum" sz="quarter" idx="5"/>
          </p:nvPr>
        </p:nvSpPr>
        <p:spPr/>
        <p:txBody>
          <a:bodyPr/>
          <a:lstStyle/>
          <a:p>
            <a:fld id="{635C565C-B7D1-4F9D-880C-5645F9EE1DFA}" type="slidenum">
              <a:rPr lang="en-US" smtClean="0"/>
              <a:t>15</a:t>
            </a:fld>
            <a:endParaRPr lang="en-US" dirty="0"/>
          </a:p>
        </p:txBody>
      </p:sp>
    </p:spTree>
    <p:extLst>
      <p:ext uri="{BB962C8B-B14F-4D97-AF65-F5344CB8AC3E}">
        <p14:creationId xmlns:p14="http://schemas.microsoft.com/office/powerpoint/2010/main" val="37704168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600" dirty="0"/>
              <a:t>על אף קוצר הזמן אשתדל להראות דוגמא של השימוש במעריך (</a:t>
            </a:r>
            <a:r>
              <a:rPr lang="en-US" sz="1600" dirty="0"/>
              <a:t>GUAGE</a:t>
            </a:r>
            <a:r>
              <a:rPr lang="he-IL" sz="1600" dirty="0"/>
              <a:t>):</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sz="1600" dirty="0"/>
          </a:p>
          <a:p>
            <a:pPr marL="0" marR="0" lvl="0" indent="0" algn="r" defTabSz="914400" rtl="1" eaLnBrk="1" fontAlgn="auto" latinLnBrk="0" hangingPunct="1">
              <a:lnSpc>
                <a:spcPct val="100000"/>
              </a:lnSpc>
              <a:spcBef>
                <a:spcPts val="0"/>
              </a:spcBef>
              <a:spcAft>
                <a:spcPts val="0"/>
              </a:spcAft>
              <a:buClrTx/>
              <a:buSzTx/>
              <a:buFontTx/>
              <a:buNone/>
              <a:tabLst/>
              <a:defRPr/>
            </a:pPr>
            <a:r>
              <a:rPr lang="he-IL" sz="1600" dirty="0"/>
              <a:t>בצד שמאל אנו מראים דוגמא כיצד השתייכות לקבוצות דתיות או פוליטיות משפיעות על הקיצוניות הפוליטית.</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600" dirty="0"/>
              <a:t>הגרפים מתארים את האינדקס האבסולוטי </a:t>
            </a:r>
            <a:r>
              <a:rPr lang="en-US" sz="1600" dirty="0"/>
              <a:t>NORMATIVE POINT</a:t>
            </a:r>
            <a:r>
              <a:rPr lang="he-IL" sz="1600" dirty="0"/>
              <a:t> שמייצג את רמת החציון של הקיצוניות הפוליטית (</a:t>
            </a:r>
            <a:r>
              <a:rPr lang="en-US" sz="1600" dirty="0"/>
              <a:t>OVERALL</a:t>
            </a:r>
            <a:r>
              <a:rPr lang="he-IL" sz="1600" dirty="0"/>
              <a:t>)</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600" dirty="0"/>
              <a:t>בתרשים ניתן לראות גרף קיצוניות לכל רמת דתיות: סגול – חילוני, כחול – דתי, ירוק – דתי לאומי, צהוב – חרדי. </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600" dirty="0"/>
              <a:t>ניתן לראות את ההשפעה של קבוצת הדתיות על הקיצוניות (</a:t>
            </a:r>
            <a:r>
              <a:rPr lang="he-IL" sz="1600" b="1" dirty="0"/>
              <a:t>היפותזה 1</a:t>
            </a:r>
            <a:r>
              <a:rPr lang="he-IL" sz="1600" dirty="0"/>
              <a:t>)</a:t>
            </a:r>
          </a:p>
          <a:p>
            <a:pPr marL="0" marR="0" lvl="0" indent="0" algn="r" defTabSz="914400" rtl="1" eaLnBrk="1" fontAlgn="auto" latinLnBrk="0" hangingPunct="1">
              <a:lnSpc>
                <a:spcPct val="100000"/>
              </a:lnSpc>
              <a:spcBef>
                <a:spcPts val="0"/>
              </a:spcBef>
              <a:spcAft>
                <a:spcPts val="0"/>
              </a:spcAft>
              <a:buClrTx/>
              <a:buSzTx/>
              <a:buFontTx/>
              <a:buNone/>
              <a:tabLst/>
              <a:defRPr/>
            </a:pPr>
            <a:r>
              <a:rPr lang="he-IL" sz="1600" dirty="0"/>
              <a:t>ניתן לראות כיצד הקיצוניות של הדתיים הלאומיים יורדת בעקבות נפילת ממשלת בנט ועולה לאחר הצלחת המחאות של האופוזיציה בעקבות פיטורי גלנט (</a:t>
            </a:r>
            <a:r>
              <a:rPr lang="he-IL" sz="1600" b="1" dirty="0"/>
              <a:t>היפותזה 2</a:t>
            </a:r>
            <a:r>
              <a:rPr lang="he-IL" sz="1600" dirty="0"/>
              <a:t>)</a:t>
            </a:r>
          </a:p>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defTabSz="990752">
              <a:defRPr/>
            </a:pPr>
            <a:endParaRPr lang="en-US" dirty="0"/>
          </a:p>
        </p:txBody>
      </p:sp>
      <p:sp>
        <p:nvSpPr>
          <p:cNvPr id="4" name="Slide Number Placeholder 3"/>
          <p:cNvSpPr>
            <a:spLocks noGrp="1"/>
          </p:cNvSpPr>
          <p:nvPr>
            <p:ph type="sldNum" sz="quarter" idx="5"/>
          </p:nvPr>
        </p:nvSpPr>
        <p:spPr/>
        <p:txBody>
          <a:bodyPr/>
          <a:lstStyle/>
          <a:p>
            <a:fld id="{635C565C-B7D1-4F9D-880C-5645F9EE1DFA}" type="slidenum">
              <a:rPr lang="en-US" smtClean="0"/>
              <a:t>16</a:t>
            </a:fld>
            <a:endParaRPr lang="en-US" dirty="0"/>
          </a:p>
        </p:txBody>
      </p:sp>
    </p:spTree>
    <p:extLst>
      <p:ext uri="{BB962C8B-B14F-4D97-AF65-F5344CB8AC3E}">
        <p14:creationId xmlns:p14="http://schemas.microsoft.com/office/powerpoint/2010/main" val="16710761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600" dirty="0"/>
              <a:t>מספר מילים לסיכום: </a:t>
            </a:r>
          </a:p>
          <a:p>
            <a:pPr algn="r" rtl="1"/>
            <a:endParaRPr lang="he-IL" sz="1600" dirty="0"/>
          </a:p>
          <a:p>
            <a:pPr algn="r" rtl="1"/>
            <a:r>
              <a:rPr lang="he-IL" sz="1600" dirty="0"/>
              <a:t>התרומה האקדמית של המחקר יכולה להיות רבה ומשמעותית:</a:t>
            </a:r>
          </a:p>
          <a:p>
            <a:pPr marL="171450" indent="-171450" algn="r" rtl="1">
              <a:buFontTx/>
              <a:buChar char="-"/>
            </a:pPr>
            <a:r>
              <a:rPr lang="he-IL" sz="1600" dirty="0"/>
              <a:t>יצירת המשגה ואופרציונליזציה אוניברסליים לקיצוניות פוליטיקת</a:t>
            </a:r>
            <a:r>
              <a:rPr lang="en-US" sz="1600" dirty="0"/>
              <a:t> </a:t>
            </a:r>
            <a:r>
              <a:rPr lang="he-IL" sz="1600" dirty="0"/>
              <a:t> שמאפשרים מחקר השוואתי ללא הטיה</a:t>
            </a:r>
          </a:p>
          <a:p>
            <a:pPr marL="171450" indent="-171450" algn="r" rtl="1">
              <a:buFontTx/>
              <a:buChar char="-"/>
            </a:pPr>
            <a:r>
              <a:rPr lang="he-IL" sz="1600" dirty="0"/>
              <a:t>הבנה מעמיקה של האופן שבו אירועים חברתיים-פוליטיים משפיעים על קיצוניות פוליטית מאפשרת לחזות אותה ולספק אזהרות מוקדמות.</a:t>
            </a:r>
          </a:p>
          <a:p>
            <a:pPr marL="171450" indent="-171450" algn="r" rtl="1">
              <a:buFontTx/>
              <a:buChar char="-"/>
            </a:pPr>
            <a:r>
              <a:rPr lang="he-IL" sz="1600" dirty="0"/>
              <a:t>זיהוי טוב יותר של התערבויות שיכולת להקטין את ההקצנה הפוליטית, להגדיל את היציבות הפוליטית ולנסות ולהתמודד טוב יותר עם נסיגת הדמוקרטיה</a:t>
            </a:r>
          </a:p>
          <a:p>
            <a:pPr marL="171450" indent="-171450" algn="r" rtl="1">
              <a:buFontTx/>
              <a:buChar char="-"/>
            </a:pPr>
            <a:endParaRPr lang="he-IL" sz="1600" dirty="0"/>
          </a:p>
        </p:txBody>
      </p:sp>
      <p:sp>
        <p:nvSpPr>
          <p:cNvPr id="4" name="Slide Number Placeholder 3"/>
          <p:cNvSpPr>
            <a:spLocks noGrp="1"/>
          </p:cNvSpPr>
          <p:nvPr>
            <p:ph type="sldNum" sz="quarter" idx="5"/>
          </p:nvPr>
        </p:nvSpPr>
        <p:spPr/>
        <p:txBody>
          <a:bodyPr/>
          <a:lstStyle/>
          <a:p>
            <a:fld id="{635C565C-B7D1-4F9D-880C-5645F9EE1DFA}" type="slidenum">
              <a:rPr lang="en-US" smtClean="0"/>
              <a:t>17</a:t>
            </a:fld>
            <a:endParaRPr lang="en-US" dirty="0"/>
          </a:p>
        </p:txBody>
      </p:sp>
    </p:spTree>
    <p:extLst>
      <p:ext uri="{BB962C8B-B14F-4D97-AF65-F5344CB8AC3E}">
        <p14:creationId xmlns:p14="http://schemas.microsoft.com/office/powerpoint/2010/main" val="15701104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600" dirty="0">
                <a:solidFill>
                  <a:schemeClr val="bg1"/>
                </a:solidFill>
                <a:latin typeface="David" panose="020E0502060401010101" pitchFamily="34" charset="-79"/>
                <a:cs typeface="David" panose="020E0502060401010101" pitchFamily="34" charset="-79"/>
              </a:rPr>
              <a:t>תודה רבה לכולם</a:t>
            </a:r>
          </a:p>
          <a:p>
            <a:endParaRPr lang="he-IL" sz="1200" dirty="0">
              <a:solidFill>
                <a:schemeClr val="bg1"/>
              </a:solidFill>
              <a:latin typeface="David" panose="020E0502060401010101" pitchFamily="34" charset="-79"/>
              <a:cs typeface="David" panose="020E0502060401010101" pitchFamily="34" charset="-79"/>
            </a:endParaRPr>
          </a:p>
          <a:p>
            <a:endParaRPr lang="he-IL" sz="1200" dirty="0">
              <a:solidFill>
                <a:schemeClr val="bg1"/>
              </a:solidFill>
              <a:latin typeface="David" panose="020E0502060401010101" pitchFamily="34" charset="-79"/>
              <a:cs typeface="David" panose="020E0502060401010101" pitchFamily="34" charset="-79"/>
            </a:endParaRPr>
          </a:p>
          <a:p>
            <a:r>
              <a:rPr lang="en-US" sz="1200" dirty="0">
                <a:solidFill>
                  <a:schemeClr val="bg1"/>
                </a:solidFill>
                <a:latin typeface="David" panose="020E0502060401010101" pitchFamily="34" charset="-79"/>
                <a:cs typeface="David" panose="020E0502060401010101" pitchFamily="34" charset="-79"/>
              </a:rPr>
              <a:t>He who fails to read the wind may need to fight it</a:t>
            </a:r>
          </a:p>
          <a:p>
            <a:r>
              <a:rPr lang="en-US" dirty="0"/>
              <a:t>Know which way the wind blows</a:t>
            </a:r>
          </a:p>
          <a:p>
            <a:r>
              <a:rPr lang="en-US" sz="1200" dirty="0">
                <a:solidFill>
                  <a:schemeClr val="bg1"/>
                </a:solidFill>
                <a:latin typeface="David" panose="020E0502060401010101" pitchFamily="34" charset="-79"/>
                <a:cs typeface="David" panose="020E0502060401010101" pitchFamily="34" charset="-79"/>
              </a:rPr>
              <a:t>Shaped by the winds we failed to read</a:t>
            </a:r>
            <a:endParaRPr lang="en-US" dirty="0"/>
          </a:p>
        </p:txBody>
      </p:sp>
      <p:sp>
        <p:nvSpPr>
          <p:cNvPr id="4" name="Slide Number Placeholder 3"/>
          <p:cNvSpPr>
            <a:spLocks noGrp="1"/>
          </p:cNvSpPr>
          <p:nvPr>
            <p:ph type="sldNum" sz="quarter" idx="5"/>
          </p:nvPr>
        </p:nvSpPr>
        <p:spPr/>
        <p:txBody>
          <a:bodyPr/>
          <a:lstStyle/>
          <a:p>
            <a:fld id="{29F2EE29-F4B2-4722-8E24-BE088C96FFBF}" type="slidenum">
              <a:rPr lang="en-US" smtClean="0"/>
              <a:t>18</a:t>
            </a:fld>
            <a:endParaRPr lang="en-US" dirty="0"/>
          </a:p>
        </p:txBody>
      </p:sp>
    </p:spTree>
    <p:extLst>
      <p:ext uri="{BB962C8B-B14F-4D97-AF65-F5344CB8AC3E}">
        <p14:creationId xmlns:p14="http://schemas.microsoft.com/office/powerpoint/2010/main" val="33815938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5C565C-B7D1-4F9D-880C-5645F9EE1DFA}" type="slidenum">
              <a:rPr lang="en-US" smtClean="0"/>
              <a:t>19</a:t>
            </a:fld>
            <a:endParaRPr lang="en-US" dirty="0"/>
          </a:p>
        </p:txBody>
      </p:sp>
    </p:spTree>
    <p:extLst>
      <p:ext uri="{BB962C8B-B14F-4D97-AF65-F5344CB8AC3E}">
        <p14:creationId xmlns:p14="http://schemas.microsoft.com/office/powerpoint/2010/main" val="28333990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he-IL" dirty="0"/>
          </a:p>
          <a:p>
            <a:pPr defTabSz="990752">
              <a:defRPr/>
            </a:pPr>
            <a:endParaRPr lang="en-US" dirty="0"/>
          </a:p>
        </p:txBody>
      </p:sp>
      <p:sp>
        <p:nvSpPr>
          <p:cNvPr id="4" name="Slide Number Placeholder 3"/>
          <p:cNvSpPr>
            <a:spLocks noGrp="1"/>
          </p:cNvSpPr>
          <p:nvPr>
            <p:ph type="sldNum" sz="quarter" idx="5"/>
          </p:nvPr>
        </p:nvSpPr>
        <p:spPr/>
        <p:txBody>
          <a:bodyPr/>
          <a:lstStyle/>
          <a:p>
            <a:fld id="{635C565C-B7D1-4F9D-880C-5645F9EE1DFA}" type="slidenum">
              <a:rPr lang="en-US" smtClean="0"/>
              <a:t>21</a:t>
            </a:fld>
            <a:endParaRPr lang="en-US" dirty="0"/>
          </a:p>
        </p:txBody>
      </p:sp>
    </p:spTree>
    <p:extLst>
      <p:ext uri="{BB962C8B-B14F-4D97-AF65-F5344CB8AC3E}">
        <p14:creationId xmlns:p14="http://schemas.microsoft.com/office/powerpoint/2010/main" val="11930535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5C565C-B7D1-4F9D-880C-5645F9EE1DFA}" type="slidenum">
              <a:rPr lang="en-US" smtClean="0"/>
              <a:t>22</a:t>
            </a:fld>
            <a:endParaRPr lang="en-US" dirty="0"/>
          </a:p>
        </p:txBody>
      </p:sp>
    </p:spTree>
    <p:extLst>
      <p:ext uri="{BB962C8B-B14F-4D97-AF65-F5344CB8AC3E}">
        <p14:creationId xmlns:p14="http://schemas.microsoft.com/office/powerpoint/2010/main" val="8005798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5C565C-B7D1-4F9D-880C-5645F9EE1DFA}" type="slidenum">
              <a:rPr lang="en-US" smtClean="0"/>
              <a:t>23</a:t>
            </a:fld>
            <a:endParaRPr lang="en-US" dirty="0"/>
          </a:p>
        </p:txBody>
      </p:sp>
    </p:spTree>
    <p:extLst>
      <p:ext uri="{BB962C8B-B14F-4D97-AF65-F5344CB8AC3E}">
        <p14:creationId xmlns:p14="http://schemas.microsoft.com/office/powerpoint/2010/main" val="24013038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5C565C-B7D1-4F9D-880C-5645F9EE1DFA}" type="slidenum">
              <a:rPr lang="en-US" smtClean="0"/>
              <a:t>24</a:t>
            </a:fld>
            <a:endParaRPr lang="en-US" dirty="0"/>
          </a:p>
        </p:txBody>
      </p:sp>
    </p:spTree>
    <p:extLst>
      <p:ext uri="{BB962C8B-B14F-4D97-AF65-F5344CB8AC3E}">
        <p14:creationId xmlns:p14="http://schemas.microsoft.com/office/powerpoint/2010/main" val="25191631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600" dirty="0"/>
              <a:t>הטבלה שמוצגת מסכמת את הסיכונים שיש בתוכנית המחקר ואת הדרכים להתמודדות איתם. </a:t>
            </a:r>
          </a:p>
          <a:p>
            <a:pPr algn="r" rtl="1"/>
            <a:endParaRPr lang="he-IL" sz="1600" dirty="0"/>
          </a:p>
          <a:p>
            <a:pPr algn="r" rtl="1"/>
            <a:r>
              <a:rPr lang="he-IL" sz="1600" dirty="0"/>
              <a:t>אני רוצה להתמקד בסיכון העיקרי שיש לתוכנית לדעתי:</a:t>
            </a:r>
            <a:r>
              <a:rPr lang="en-US" sz="1600" dirty="0"/>
              <a:t> </a:t>
            </a:r>
            <a:r>
              <a:rPr lang="he-IL" sz="1600" dirty="0"/>
              <a:t>בחרתי לעסוק בנושא מרכזי (כמו שאני מכנה אותו – נושא שעל שביל הפילים) ומעבר לכך אני טוען כאן טענה "גדולה" – משמעותית. </a:t>
            </a:r>
          </a:p>
          <a:p>
            <a:pPr algn="r" rtl="1"/>
            <a:r>
              <a:rPr lang="he-IL" sz="1600" dirty="0"/>
              <a:t>אני מניח שזה יכול למשוך ביקורת לא מעטה ויתכן שאף קשיים בפרסום. </a:t>
            </a:r>
          </a:p>
          <a:p>
            <a:pPr algn="r" rtl="1"/>
            <a:endParaRPr lang="he-IL" sz="1600" dirty="0"/>
          </a:p>
          <a:p>
            <a:pPr algn="r" rtl="1"/>
            <a:r>
              <a:rPr lang="he-IL" sz="1600" dirty="0"/>
              <a:t>ישנן שתי דרכים להתמודדות בהם אני משתדל לנקוט:</a:t>
            </a:r>
          </a:p>
          <a:p>
            <a:pPr algn="r" rtl="1"/>
            <a:r>
              <a:rPr lang="he-IL" sz="1600" dirty="0"/>
              <a:t>א. הצגת המתודה החדשה שלנו בכל פורום רלוונטי על מנת לקבל פידבקים רבים ככל האפשר</a:t>
            </a:r>
          </a:p>
          <a:p>
            <a:pPr algn="r" rtl="1"/>
            <a:r>
              <a:rPr lang="he-IL" sz="1600" dirty="0"/>
              <a:t>ב. בחירה של שאלות מחקר ממוקדות וצרות ככל האפשר על מנת לבסס ולהדגים את הערך של המתודה החדשה. </a:t>
            </a:r>
          </a:p>
          <a:p>
            <a:pPr algn="r" rtl="1"/>
            <a:endParaRPr lang="en-US" dirty="0"/>
          </a:p>
        </p:txBody>
      </p:sp>
      <p:sp>
        <p:nvSpPr>
          <p:cNvPr id="4" name="Slide Number Placeholder 3"/>
          <p:cNvSpPr>
            <a:spLocks noGrp="1"/>
          </p:cNvSpPr>
          <p:nvPr>
            <p:ph type="sldNum" sz="quarter" idx="5"/>
          </p:nvPr>
        </p:nvSpPr>
        <p:spPr/>
        <p:txBody>
          <a:bodyPr/>
          <a:lstStyle/>
          <a:p>
            <a:fld id="{635C565C-B7D1-4F9D-880C-5645F9EE1DFA}" type="slidenum">
              <a:rPr lang="en-US" smtClean="0"/>
              <a:t>25</a:t>
            </a:fld>
            <a:endParaRPr lang="en-US" dirty="0"/>
          </a:p>
        </p:txBody>
      </p:sp>
    </p:spTree>
    <p:extLst>
      <p:ext uri="{BB962C8B-B14F-4D97-AF65-F5344CB8AC3E}">
        <p14:creationId xmlns:p14="http://schemas.microsoft.com/office/powerpoint/2010/main" val="29572491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5C565C-B7D1-4F9D-880C-5645F9EE1DFA}" type="slidenum">
              <a:rPr lang="en-US" smtClean="0"/>
              <a:t>26</a:t>
            </a:fld>
            <a:endParaRPr lang="en-US" dirty="0"/>
          </a:p>
        </p:txBody>
      </p:sp>
    </p:spTree>
    <p:extLst>
      <p:ext uri="{BB962C8B-B14F-4D97-AF65-F5344CB8AC3E}">
        <p14:creationId xmlns:p14="http://schemas.microsoft.com/office/powerpoint/2010/main" val="11076902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5C565C-B7D1-4F9D-880C-5645F9EE1DFA}" type="slidenum">
              <a:rPr lang="en-US" smtClean="0"/>
              <a:t>27</a:t>
            </a:fld>
            <a:endParaRPr lang="en-US" dirty="0"/>
          </a:p>
        </p:txBody>
      </p:sp>
    </p:spTree>
    <p:extLst>
      <p:ext uri="{BB962C8B-B14F-4D97-AF65-F5344CB8AC3E}">
        <p14:creationId xmlns:p14="http://schemas.microsoft.com/office/powerpoint/2010/main" val="1200244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5C565C-B7D1-4F9D-880C-5645F9EE1DFA}" type="slidenum">
              <a:rPr lang="en-US" smtClean="0"/>
              <a:t>28</a:t>
            </a:fld>
            <a:endParaRPr lang="en-US" dirty="0"/>
          </a:p>
        </p:txBody>
      </p:sp>
    </p:spTree>
    <p:extLst>
      <p:ext uri="{BB962C8B-B14F-4D97-AF65-F5344CB8AC3E}">
        <p14:creationId xmlns:p14="http://schemas.microsoft.com/office/powerpoint/2010/main" val="4858748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5C565C-B7D1-4F9D-880C-5645F9EE1DFA}" type="slidenum">
              <a:rPr lang="en-US" smtClean="0"/>
              <a:t>29</a:t>
            </a:fld>
            <a:endParaRPr lang="en-US" dirty="0"/>
          </a:p>
        </p:txBody>
      </p:sp>
    </p:spTree>
    <p:extLst>
      <p:ext uri="{BB962C8B-B14F-4D97-AF65-F5344CB8AC3E}">
        <p14:creationId xmlns:p14="http://schemas.microsoft.com/office/powerpoint/2010/main" val="13993386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sz="1200" dirty="0"/>
              <a:t>המעריך (</a:t>
            </a:r>
            <a:r>
              <a:rPr lang="en-US" sz="1200" dirty="0"/>
              <a:t>GAUGE</a:t>
            </a:r>
            <a:r>
              <a:rPr lang="he-IL" sz="1200" dirty="0"/>
              <a:t>) שבנינו מספק שני סוגי אינדקסים:</a:t>
            </a:r>
          </a:p>
          <a:p>
            <a:pPr algn="r" rtl="1"/>
            <a:endParaRPr lang="en-US" sz="1200" dirty="0"/>
          </a:p>
          <a:p>
            <a:pPr algn="r" rtl="1"/>
            <a:endParaRPr lang="en-US" sz="1200" dirty="0"/>
          </a:p>
          <a:p>
            <a:pPr algn="r" rtl="1"/>
            <a:r>
              <a:rPr lang="he-IL" sz="1200" dirty="0"/>
              <a:t>הקבוצה הראשונה כוללת את האינדקסים האבסולוטיים של ה- </a:t>
            </a:r>
            <a:r>
              <a:rPr lang="en-US" sz="1200" dirty="0"/>
              <a:t>NORMATIVE POINT</a:t>
            </a:r>
            <a:r>
              <a:rPr lang="he-IL" sz="1200" dirty="0"/>
              <a:t> וה- </a:t>
            </a:r>
            <a:r>
              <a:rPr lang="en-US" sz="1200" dirty="0"/>
              <a:t>ETREMISM POINT</a:t>
            </a:r>
            <a:r>
              <a:rPr lang="he-IL" sz="1200" dirty="0"/>
              <a:t>. אינדקסים אלו נמצאים במרחב של המדדים הבסיסיים ולכם כוללים בתוכם הטיה. </a:t>
            </a:r>
          </a:p>
          <a:p>
            <a:pPr algn="r" rtl="1"/>
            <a:endParaRPr lang="he-IL" sz="1200" dirty="0"/>
          </a:p>
          <a:p>
            <a:pPr algn="r" rtl="1"/>
            <a:r>
              <a:rPr lang="he-IL" sz="1200" dirty="0"/>
              <a:t>הקבוצה השנייה כוללת אינדקסים יחסיים: </a:t>
            </a:r>
            <a:r>
              <a:rPr lang="en-US" sz="1200" dirty="0"/>
              <a:t>EXTREMISM LEVEL</a:t>
            </a:r>
            <a:r>
              <a:rPr lang="he-IL" sz="1200" dirty="0"/>
              <a:t> (אחוז האוכלוסייה בעל קיצוניות פוליטיקת מעל ה- </a:t>
            </a:r>
            <a:r>
              <a:rPr lang="en-US" sz="1200" dirty="0"/>
              <a:t>ETREMISM POINT</a:t>
            </a:r>
            <a:r>
              <a:rPr lang="he-IL" sz="1200" dirty="0"/>
              <a:t>) ו-</a:t>
            </a:r>
            <a:r>
              <a:rPr lang="en-US" sz="1200" dirty="0"/>
              <a:t> .Extremism Ranks 1/2/3 </a:t>
            </a:r>
            <a:r>
              <a:rPr lang="he-IL" sz="1200" dirty="0"/>
              <a:t> </a:t>
            </a:r>
          </a:p>
          <a:p>
            <a:pPr algn="r" rtl="1"/>
            <a:r>
              <a:rPr lang="he-IL" sz="1200" dirty="0"/>
              <a:t>אלו אינדקסים שהם יחסיים לכל אוכלוסייה ולכן משקפים את רמת הקיצוניות של האוכלוסייה באחוזים ומאפשרים השוואה ביו אוכלוסיות שונות או לאורך זמן. </a:t>
            </a:r>
            <a:endParaRPr lang="en-US" sz="1200" dirty="0"/>
          </a:p>
          <a:p>
            <a:pPr algn="r" rtl="1"/>
            <a:endParaRPr lang="he-IL" sz="1200" dirty="0"/>
          </a:p>
          <a:p>
            <a:pPr algn="r" rtl="1"/>
            <a:r>
              <a:rPr lang="he-IL" sz="1200" dirty="0"/>
              <a:t>ישנם אינדקסים נוספים (מורכבים יותר) שמתבססים על היחס והשינויים בין האינדקסים. </a:t>
            </a:r>
          </a:p>
          <a:p>
            <a:pPr algn="r" rtl="1"/>
            <a:r>
              <a:rPr lang="he-IL" sz="1200" dirty="0"/>
              <a:t>למשל אם יש שינוי בזמן של התפלגות הקיצוניות הפוליטית כך שה- </a:t>
            </a:r>
            <a:r>
              <a:rPr lang="en-US" sz="1200" dirty="0"/>
              <a:t>EP</a:t>
            </a:r>
            <a:r>
              <a:rPr lang="he-IL" sz="1200" dirty="0"/>
              <a:t> עלה (זז ימינה) וה-</a:t>
            </a:r>
            <a:r>
              <a:rPr lang="en-US" sz="1200" dirty="0"/>
              <a:t>NP </a:t>
            </a:r>
            <a:r>
              <a:rPr lang="he-IL" sz="1200" dirty="0"/>
              <a:t> לא השתנה אזי אנחנו יכולים להגיד שהקבוצה הקיצונית נעשתה קיצונית יותר וזה יכול להוות דגל אדום. </a:t>
            </a:r>
          </a:p>
          <a:p>
            <a:pPr algn="r" rtl="1"/>
            <a:r>
              <a:rPr lang="he-IL" sz="1200" dirty="0"/>
              <a:t>אם גם ה-</a:t>
            </a:r>
            <a:r>
              <a:rPr lang="en-US" sz="1200" dirty="0"/>
              <a:t>NP</a:t>
            </a:r>
            <a:r>
              <a:rPr lang="he-IL" sz="1200" dirty="0"/>
              <a:t> עלה באותה מידה, אנחנו יכולים להבין שכל המדינה שינתה את רמת הקיצוניות אבל הקבוצה הקיצונית לא השתנתה בצורה ממשית.</a:t>
            </a:r>
          </a:p>
          <a:p>
            <a:pPr algn="r" rtl="1"/>
            <a:r>
              <a:rPr lang="he-IL" sz="1200" dirty="0"/>
              <a:t>אם גם ה- </a:t>
            </a:r>
            <a:r>
              <a:rPr lang="en-US" sz="1200" dirty="0"/>
              <a:t>EXTREMISM LEVEL </a:t>
            </a:r>
            <a:r>
              <a:rPr lang="he-IL" sz="1200" dirty="0"/>
              <a:t> עלה אז המדינה כולה נעשתה קיצונית יותר אבל במקביל הקבוצה הקיצונית גדלה. </a:t>
            </a:r>
            <a:endParaRPr lang="en-US" sz="1200" dirty="0"/>
          </a:p>
          <a:p>
            <a:pPr algn="r" rtl="1"/>
            <a:endParaRPr lang="he-IL" sz="1200" dirty="0"/>
          </a:p>
          <a:p>
            <a:pPr algn="r" rtl="1"/>
            <a:r>
              <a:rPr lang="he-IL" sz="1200" dirty="0"/>
              <a:t>מפאת קוצר הזמן לא ארחיב יותר. </a:t>
            </a:r>
          </a:p>
          <a:p>
            <a:endParaRPr lang="en-US" dirty="0"/>
          </a:p>
        </p:txBody>
      </p:sp>
      <p:sp>
        <p:nvSpPr>
          <p:cNvPr id="4" name="Slide Number Placeholder 3"/>
          <p:cNvSpPr>
            <a:spLocks noGrp="1"/>
          </p:cNvSpPr>
          <p:nvPr>
            <p:ph type="sldNum" sz="quarter" idx="5"/>
          </p:nvPr>
        </p:nvSpPr>
        <p:spPr/>
        <p:txBody>
          <a:bodyPr/>
          <a:lstStyle/>
          <a:p>
            <a:fld id="{635C565C-B7D1-4F9D-880C-5645F9EE1DFA}" type="slidenum">
              <a:rPr lang="en-US" smtClean="0"/>
              <a:t>30</a:t>
            </a:fld>
            <a:endParaRPr lang="en-US" dirty="0"/>
          </a:p>
        </p:txBody>
      </p:sp>
    </p:spTree>
    <p:extLst>
      <p:ext uri="{BB962C8B-B14F-4D97-AF65-F5344CB8AC3E}">
        <p14:creationId xmlns:p14="http://schemas.microsoft.com/office/powerpoint/2010/main" val="38000402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5C565C-B7D1-4F9D-880C-5645F9EE1DFA}" type="slidenum">
              <a:rPr lang="en-US" smtClean="0"/>
              <a:t>31</a:t>
            </a:fld>
            <a:endParaRPr lang="en-US" dirty="0"/>
          </a:p>
        </p:txBody>
      </p:sp>
    </p:spTree>
    <p:extLst>
      <p:ext uri="{BB962C8B-B14F-4D97-AF65-F5344CB8AC3E}">
        <p14:creationId xmlns:p14="http://schemas.microsoft.com/office/powerpoint/2010/main" val="18458951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5C565C-B7D1-4F9D-880C-5645F9EE1DFA}" type="slidenum">
              <a:rPr lang="en-US" smtClean="0"/>
              <a:t>32</a:t>
            </a:fld>
            <a:endParaRPr lang="en-US" dirty="0"/>
          </a:p>
        </p:txBody>
      </p:sp>
    </p:spTree>
    <p:extLst>
      <p:ext uri="{BB962C8B-B14F-4D97-AF65-F5344CB8AC3E}">
        <p14:creationId xmlns:p14="http://schemas.microsoft.com/office/powerpoint/2010/main" val="22305422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5C565C-B7D1-4F9D-880C-5645F9EE1DFA}" type="slidenum">
              <a:rPr lang="en-US" smtClean="0"/>
              <a:t>33</a:t>
            </a:fld>
            <a:endParaRPr lang="en-US" dirty="0"/>
          </a:p>
        </p:txBody>
      </p:sp>
    </p:spTree>
    <p:extLst>
      <p:ext uri="{BB962C8B-B14F-4D97-AF65-F5344CB8AC3E}">
        <p14:creationId xmlns:p14="http://schemas.microsoft.com/office/powerpoint/2010/main" val="40544618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35C565C-B7D1-4F9D-880C-5645F9EE1DFA}" type="slidenum">
              <a:rPr lang="en-US" smtClean="0"/>
              <a:t>34</a:t>
            </a:fld>
            <a:endParaRPr lang="en-US" dirty="0"/>
          </a:p>
        </p:txBody>
      </p:sp>
    </p:spTree>
    <p:extLst>
      <p:ext uri="{BB962C8B-B14F-4D97-AF65-F5344CB8AC3E}">
        <p14:creationId xmlns:p14="http://schemas.microsoft.com/office/powerpoint/2010/main" val="20086110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F2EE29-F4B2-4722-8E24-BE088C96FFBF}" type="slidenum">
              <a:rPr lang="en-US" smtClean="0"/>
              <a:t>35</a:t>
            </a:fld>
            <a:endParaRPr lang="en-US"/>
          </a:p>
        </p:txBody>
      </p:sp>
    </p:spTree>
    <p:extLst>
      <p:ext uri="{BB962C8B-B14F-4D97-AF65-F5344CB8AC3E}">
        <p14:creationId xmlns:p14="http://schemas.microsoft.com/office/powerpoint/2010/main" val="33685494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448F7-F36B-44B6-9F4C-E3B06510AD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B2034E1-892F-7E66-712C-8997D950D3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F95AE1-6AF7-028C-BC44-EEAF0C0CFC3A}"/>
              </a:ext>
            </a:extLst>
          </p:cNvPr>
          <p:cNvSpPr>
            <a:spLocks noGrp="1"/>
          </p:cNvSpPr>
          <p:nvPr>
            <p:ph type="dt" sz="half" idx="10"/>
          </p:nvPr>
        </p:nvSpPr>
        <p:spPr/>
        <p:txBody>
          <a:bodyPr/>
          <a:lstStyle/>
          <a:p>
            <a:fld id="{430248E4-F067-4CBF-BA35-1D208A41E53E}" type="datetime1">
              <a:rPr lang="en-US" smtClean="0"/>
              <a:t>12/27/2025</a:t>
            </a:fld>
            <a:endParaRPr lang="en-US" dirty="0"/>
          </a:p>
        </p:txBody>
      </p:sp>
      <p:sp>
        <p:nvSpPr>
          <p:cNvPr id="5" name="Footer Placeholder 4">
            <a:extLst>
              <a:ext uri="{FF2B5EF4-FFF2-40B4-BE49-F238E27FC236}">
                <a16:creationId xmlns:a16="http://schemas.microsoft.com/office/drawing/2014/main" id="{3448BF25-F59D-070B-CB24-50EDFBF461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F813AC3-BA76-176C-0844-8AA4B34A347B}"/>
              </a:ext>
            </a:extLst>
          </p:cNvPr>
          <p:cNvSpPr>
            <a:spLocks noGrp="1"/>
          </p:cNvSpPr>
          <p:nvPr>
            <p:ph type="sldNum" sz="quarter" idx="12"/>
          </p:nvPr>
        </p:nvSpPr>
        <p:spPr/>
        <p:txBody>
          <a:bodyPr/>
          <a:lstStyle/>
          <a:p>
            <a:fld id="{704D49E2-C640-4137-BB2F-153E894575C6}" type="slidenum">
              <a:rPr lang="en-US" smtClean="0"/>
              <a:t>‹#›</a:t>
            </a:fld>
            <a:endParaRPr lang="en-US" dirty="0"/>
          </a:p>
        </p:txBody>
      </p:sp>
    </p:spTree>
    <p:extLst>
      <p:ext uri="{BB962C8B-B14F-4D97-AF65-F5344CB8AC3E}">
        <p14:creationId xmlns:p14="http://schemas.microsoft.com/office/powerpoint/2010/main" val="1978875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E78A5-C0D3-9F5A-C890-48F02377BD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A48FA4-5A4C-3187-B7F3-13B27217608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04FED77-70D1-7858-2972-FB5BDE96D005}"/>
              </a:ext>
            </a:extLst>
          </p:cNvPr>
          <p:cNvSpPr>
            <a:spLocks noGrp="1"/>
          </p:cNvSpPr>
          <p:nvPr>
            <p:ph type="dt" sz="half" idx="10"/>
          </p:nvPr>
        </p:nvSpPr>
        <p:spPr/>
        <p:txBody>
          <a:bodyPr/>
          <a:lstStyle/>
          <a:p>
            <a:fld id="{C36D8272-BD74-4FDD-B4E7-8C45DCCFCE32}" type="datetime1">
              <a:rPr lang="en-US" smtClean="0"/>
              <a:t>12/27/2025</a:t>
            </a:fld>
            <a:endParaRPr lang="en-US" dirty="0"/>
          </a:p>
        </p:txBody>
      </p:sp>
      <p:sp>
        <p:nvSpPr>
          <p:cNvPr id="5" name="Footer Placeholder 4">
            <a:extLst>
              <a:ext uri="{FF2B5EF4-FFF2-40B4-BE49-F238E27FC236}">
                <a16:creationId xmlns:a16="http://schemas.microsoft.com/office/drawing/2014/main" id="{29DA4672-228B-D60C-862C-F1B7C201A59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D9B06ED-EAC4-AED3-A856-0BF59C991763}"/>
              </a:ext>
            </a:extLst>
          </p:cNvPr>
          <p:cNvSpPr>
            <a:spLocks noGrp="1"/>
          </p:cNvSpPr>
          <p:nvPr>
            <p:ph type="sldNum" sz="quarter" idx="12"/>
          </p:nvPr>
        </p:nvSpPr>
        <p:spPr/>
        <p:txBody>
          <a:bodyPr/>
          <a:lstStyle/>
          <a:p>
            <a:fld id="{704D49E2-C640-4137-BB2F-153E894575C6}" type="slidenum">
              <a:rPr lang="en-US" smtClean="0"/>
              <a:t>‹#›</a:t>
            </a:fld>
            <a:endParaRPr lang="en-US" dirty="0"/>
          </a:p>
        </p:txBody>
      </p:sp>
    </p:spTree>
    <p:extLst>
      <p:ext uri="{BB962C8B-B14F-4D97-AF65-F5344CB8AC3E}">
        <p14:creationId xmlns:p14="http://schemas.microsoft.com/office/powerpoint/2010/main" val="3264637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85251-EEEE-FDA3-5FB7-A39524E8D6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E33D78C-BFD0-CF10-D986-4DB854788A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FA819E-4D30-3D91-3A40-642BE4155950}"/>
              </a:ext>
            </a:extLst>
          </p:cNvPr>
          <p:cNvSpPr>
            <a:spLocks noGrp="1"/>
          </p:cNvSpPr>
          <p:nvPr>
            <p:ph type="dt" sz="half" idx="10"/>
          </p:nvPr>
        </p:nvSpPr>
        <p:spPr/>
        <p:txBody>
          <a:bodyPr/>
          <a:lstStyle/>
          <a:p>
            <a:fld id="{20691F9E-4C83-4A7A-9A37-0C1CB6C13D6C}" type="datetime1">
              <a:rPr lang="en-US" smtClean="0"/>
              <a:t>12/27/2025</a:t>
            </a:fld>
            <a:endParaRPr lang="en-US" dirty="0"/>
          </a:p>
        </p:txBody>
      </p:sp>
      <p:sp>
        <p:nvSpPr>
          <p:cNvPr id="5" name="Footer Placeholder 4">
            <a:extLst>
              <a:ext uri="{FF2B5EF4-FFF2-40B4-BE49-F238E27FC236}">
                <a16:creationId xmlns:a16="http://schemas.microsoft.com/office/drawing/2014/main" id="{4E039562-67A9-4D0D-C7CA-B84054C6C68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C3CE34E-8089-3B9E-0BEA-A8FA5D35EE54}"/>
              </a:ext>
            </a:extLst>
          </p:cNvPr>
          <p:cNvSpPr>
            <a:spLocks noGrp="1"/>
          </p:cNvSpPr>
          <p:nvPr>
            <p:ph type="sldNum" sz="quarter" idx="12"/>
          </p:nvPr>
        </p:nvSpPr>
        <p:spPr/>
        <p:txBody>
          <a:bodyPr/>
          <a:lstStyle/>
          <a:p>
            <a:fld id="{704D49E2-C640-4137-BB2F-153E894575C6}" type="slidenum">
              <a:rPr lang="en-US" smtClean="0"/>
              <a:t>‹#›</a:t>
            </a:fld>
            <a:endParaRPr lang="en-US" dirty="0"/>
          </a:p>
        </p:txBody>
      </p:sp>
    </p:spTree>
    <p:extLst>
      <p:ext uri="{BB962C8B-B14F-4D97-AF65-F5344CB8AC3E}">
        <p14:creationId xmlns:p14="http://schemas.microsoft.com/office/powerpoint/2010/main" val="2447721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A6A9C-618C-3CA9-6157-9D3C784034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84EC06-7C53-EB2B-7F9D-C7671C63445D}"/>
              </a:ext>
            </a:extLst>
          </p:cNvPr>
          <p:cNvSpPr>
            <a:spLocks noGrp="1"/>
          </p:cNvSpPr>
          <p:nvPr>
            <p:ph sz="half" idx="1"/>
          </p:nvPr>
        </p:nvSpPr>
        <p:spPr>
          <a:xfrm>
            <a:off x="838200" y="923026"/>
            <a:ext cx="5181600" cy="5253937"/>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8EC42D-118A-D4F7-A149-CC7D9732A861}"/>
              </a:ext>
            </a:extLst>
          </p:cNvPr>
          <p:cNvSpPr>
            <a:spLocks noGrp="1"/>
          </p:cNvSpPr>
          <p:nvPr>
            <p:ph sz="half" idx="2"/>
          </p:nvPr>
        </p:nvSpPr>
        <p:spPr>
          <a:xfrm>
            <a:off x="6172200" y="923026"/>
            <a:ext cx="5181600" cy="5253937"/>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BB3FA4-28B1-2A39-761E-A5D7974B0051}"/>
              </a:ext>
            </a:extLst>
          </p:cNvPr>
          <p:cNvSpPr>
            <a:spLocks noGrp="1"/>
          </p:cNvSpPr>
          <p:nvPr>
            <p:ph type="dt" sz="half" idx="10"/>
          </p:nvPr>
        </p:nvSpPr>
        <p:spPr/>
        <p:txBody>
          <a:bodyPr/>
          <a:lstStyle/>
          <a:p>
            <a:fld id="{33BF564F-0BF2-4347-A467-5D6CEB0E1AEC}" type="datetime1">
              <a:rPr lang="en-US" smtClean="0"/>
              <a:t>12/27/2025</a:t>
            </a:fld>
            <a:endParaRPr lang="en-US" dirty="0"/>
          </a:p>
        </p:txBody>
      </p:sp>
      <p:sp>
        <p:nvSpPr>
          <p:cNvPr id="6" name="Footer Placeholder 5">
            <a:extLst>
              <a:ext uri="{FF2B5EF4-FFF2-40B4-BE49-F238E27FC236}">
                <a16:creationId xmlns:a16="http://schemas.microsoft.com/office/drawing/2014/main" id="{ECEC302A-5FAE-4BF8-35B6-637FC471D1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0943A54-C836-91DE-FED9-AAFD8E4CE032}"/>
              </a:ext>
            </a:extLst>
          </p:cNvPr>
          <p:cNvSpPr>
            <a:spLocks noGrp="1"/>
          </p:cNvSpPr>
          <p:nvPr>
            <p:ph type="sldNum" sz="quarter" idx="12"/>
          </p:nvPr>
        </p:nvSpPr>
        <p:spPr/>
        <p:txBody>
          <a:bodyPr/>
          <a:lstStyle/>
          <a:p>
            <a:fld id="{704D49E2-C640-4137-BB2F-153E894575C6}" type="slidenum">
              <a:rPr lang="en-US" smtClean="0"/>
              <a:t>‹#›</a:t>
            </a:fld>
            <a:endParaRPr lang="en-US" dirty="0"/>
          </a:p>
        </p:txBody>
      </p:sp>
    </p:spTree>
    <p:extLst>
      <p:ext uri="{BB962C8B-B14F-4D97-AF65-F5344CB8AC3E}">
        <p14:creationId xmlns:p14="http://schemas.microsoft.com/office/powerpoint/2010/main" val="41385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A3377-F9A9-76A6-8178-844AA38495E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1EE9733-8BEA-0D03-EF0C-846AB08C01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151859-6153-218E-798E-98EE94D93B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60D58DA-2BE9-47A9-DAB5-7A7E3B99F2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B65051-78B6-EABE-E5D1-355F472E3B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F99AC7-5D73-C6C6-03B9-0022E67D4593}"/>
              </a:ext>
            </a:extLst>
          </p:cNvPr>
          <p:cNvSpPr>
            <a:spLocks noGrp="1"/>
          </p:cNvSpPr>
          <p:nvPr>
            <p:ph type="dt" sz="half" idx="10"/>
          </p:nvPr>
        </p:nvSpPr>
        <p:spPr/>
        <p:txBody>
          <a:bodyPr/>
          <a:lstStyle/>
          <a:p>
            <a:fld id="{DC4D1282-082D-4A87-8891-DFBE150B6807}" type="datetime1">
              <a:rPr lang="en-US" smtClean="0"/>
              <a:t>12/27/2025</a:t>
            </a:fld>
            <a:endParaRPr lang="en-US" dirty="0"/>
          </a:p>
        </p:txBody>
      </p:sp>
      <p:sp>
        <p:nvSpPr>
          <p:cNvPr id="8" name="Footer Placeholder 7">
            <a:extLst>
              <a:ext uri="{FF2B5EF4-FFF2-40B4-BE49-F238E27FC236}">
                <a16:creationId xmlns:a16="http://schemas.microsoft.com/office/drawing/2014/main" id="{DB764C53-482D-0A2F-44D2-4A6E3A23416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CD161F2-11A8-89D1-0EAE-2C2B1306637A}"/>
              </a:ext>
            </a:extLst>
          </p:cNvPr>
          <p:cNvSpPr>
            <a:spLocks noGrp="1"/>
          </p:cNvSpPr>
          <p:nvPr>
            <p:ph type="sldNum" sz="quarter" idx="12"/>
          </p:nvPr>
        </p:nvSpPr>
        <p:spPr/>
        <p:txBody>
          <a:bodyPr/>
          <a:lstStyle/>
          <a:p>
            <a:fld id="{704D49E2-C640-4137-BB2F-153E894575C6}" type="slidenum">
              <a:rPr lang="en-US" smtClean="0"/>
              <a:t>‹#›</a:t>
            </a:fld>
            <a:endParaRPr lang="en-US" dirty="0"/>
          </a:p>
        </p:txBody>
      </p:sp>
    </p:spTree>
    <p:extLst>
      <p:ext uri="{BB962C8B-B14F-4D97-AF65-F5344CB8AC3E}">
        <p14:creationId xmlns:p14="http://schemas.microsoft.com/office/powerpoint/2010/main" val="1274690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6F5C0-4942-44AC-37EE-3057BEFE02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B72232-6639-3817-A155-D1CCDAA34667}"/>
              </a:ext>
            </a:extLst>
          </p:cNvPr>
          <p:cNvSpPr>
            <a:spLocks noGrp="1"/>
          </p:cNvSpPr>
          <p:nvPr>
            <p:ph type="dt" sz="half" idx="10"/>
          </p:nvPr>
        </p:nvSpPr>
        <p:spPr/>
        <p:txBody>
          <a:bodyPr/>
          <a:lstStyle/>
          <a:p>
            <a:fld id="{13F67563-098C-4090-BE05-5E5141B825B2}" type="datetime1">
              <a:rPr lang="en-US" smtClean="0"/>
              <a:t>12/27/2025</a:t>
            </a:fld>
            <a:endParaRPr lang="en-US" dirty="0"/>
          </a:p>
        </p:txBody>
      </p:sp>
      <p:sp>
        <p:nvSpPr>
          <p:cNvPr id="4" name="Footer Placeholder 3">
            <a:extLst>
              <a:ext uri="{FF2B5EF4-FFF2-40B4-BE49-F238E27FC236}">
                <a16:creationId xmlns:a16="http://schemas.microsoft.com/office/drawing/2014/main" id="{72426099-0D1E-668A-F183-373AF2E4BC7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1386D1E-C339-9F18-78DA-DA715D07A36D}"/>
              </a:ext>
            </a:extLst>
          </p:cNvPr>
          <p:cNvSpPr>
            <a:spLocks noGrp="1"/>
          </p:cNvSpPr>
          <p:nvPr>
            <p:ph type="sldNum" sz="quarter" idx="12"/>
          </p:nvPr>
        </p:nvSpPr>
        <p:spPr/>
        <p:txBody>
          <a:bodyPr/>
          <a:lstStyle/>
          <a:p>
            <a:fld id="{704D49E2-C640-4137-BB2F-153E894575C6}" type="slidenum">
              <a:rPr lang="en-US" smtClean="0"/>
              <a:t>‹#›</a:t>
            </a:fld>
            <a:endParaRPr lang="en-US" dirty="0"/>
          </a:p>
        </p:txBody>
      </p:sp>
    </p:spTree>
    <p:extLst>
      <p:ext uri="{BB962C8B-B14F-4D97-AF65-F5344CB8AC3E}">
        <p14:creationId xmlns:p14="http://schemas.microsoft.com/office/powerpoint/2010/main" val="1928190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2CFD6C-589A-5C4C-A69A-C3E566EF06AA}"/>
              </a:ext>
            </a:extLst>
          </p:cNvPr>
          <p:cNvSpPr>
            <a:spLocks noGrp="1"/>
          </p:cNvSpPr>
          <p:nvPr>
            <p:ph type="dt" sz="half" idx="10"/>
          </p:nvPr>
        </p:nvSpPr>
        <p:spPr/>
        <p:txBody>
          <a:bodyPr/>
          <a:lstStyle/>
          <a:p>
            <a:fld id="{18F67535-FEF1-4ED0-AA7B-69CB375F3F90}" type="datetime1">
              <a:rPr lang="en-US" smtClean="0"/>
              <a:t>12/27/2025</a:t>
            </a:fld>
            <a:endParaRPr lang="en-US" dirty="0"/>
          </a:p>
        </p:txBody>
      </p:sp>
      <p:sp>
        <p:nvSpPr>
          <p:cNvPr id="3" name="Footer Placeholder 2">
            <a:extLst>
              <a:ext uri="{FF2B5EF4-FFF2-40B4-BE49-F238E27FC236}">
                <a16:creationId xmlns:a16="http://schemas.microsoft.com/office/drawing/2014/main" id="{82FF4C29-B1B6-1177-8D78-788BEE99C3D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FE289739-918C-D58E-EBD8-59831791E0FB}"/>
              </a:ext>
            </a:extLst>
          </p:cNvPr>
          <p:cNvSpPr>
            <a:spLocks noGrp="1"/>
          </p:cNvSpPr>
          <p:nvPr>
            <p:ph type="sldNum" sz="quarter" idx="12"/>
          </p:nvPr>
        </p:nvSpPr>
        <p:spPr/>
        <p:txBody>
          <a:bodyPr/>
          <a:lstStyle/>
          <a:p>
            <a:fld id="{704D49E2-C640-4137-BB2F-153E894575C6}" type="slidenum">
              <a:rPr lang="en-US" smtClean="0"/>
              <a:t>‹#›</a:t>
            </a:fld>
            <a:endParaRPr lang="en-US" dirty="0"/>
          </a:p>
        </p:txBody>
      </p:sp>
    </p:spTree>
    <p:extLst>
      <p:ext uri="{BB962C8B-B14F-4D97-AF65-F5344CB8AC3E}">
        <p14:creationId xmlns:p14="http://schemas.microsoft.com/office/powerpoint/2010/main" val="1965749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0C438-F1CF-D6CE-E98A-5F1DCEEC7D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A7E1A80-B082-DA6F-EB55-B606969B9F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74ED7B-EA3B-E932-5E34-C5A306BFA7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335942-1557-A3E4-4B1B-F71C8CD0244C}"/>
              </a:ext>
            </a:extLst>
          </p:cNvPr>
          <p:cNvSpPr>
            <a:spLocks noGrp="1"/>
          </p:cNvSpPr>
          <p:nvPr>
            <p:ph type="dt" sz="half" idx="10"/>
          </p:nvPr>
        </p:nvSpPr>
        <p:spPr/>
        <p:txBody>
          <a:bodyPr/>
          <a:lstStyle/>
          <a:p>
            <a:fld id="{C355992F-316D-4CC0-8777-883125B0233F}" type="datetime1">
              <a:rPr lang="en-US" smtClean="0"/>
              <a:t>12/27/2025</a:t>
            </a:fld>
            <a:endParaRPr lang="en-US" dirty="0"/>
          </a:p>
        </p:txBody>
      </p:sp>
      <p:sp>
        <p:nvSpPr>
          <p:cNvPr id="6" name="Footer Placeholder 5">
            <a:extLst>
              <a:ext uri="{FF2B5EF4-FFF2-40B4-BE49-F238E27FC236}">
                <a16:creationId xmlns:a16="http://schemas.microsoft.com/office/drawing/2014/main" id="{43E1BB8B-29B5-0409-24E4-D093108A60C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1C7BB9-1A4D-2986-7AB1-2E239304D2F2}"/>
              </a:ext>
            </a:extLst>
          </p:cNvPr>
          <p:cNvSpPr>
            <a:spLocks noGrp="1"/>
          </p:cNvSpPr>
          <p:nvPr>
            <p:ph type="sldNum" sz="quarter" idx="12"/>
          </p:nvPr>
        </p:nvSpPr>
        <p:spPr/>
        <p:txBody>
          <a:bodyPr/>
          <a:lstStyle/>
          <a:p>
            <a:fld id="{704D49E2-C640-4137-BB2F-153E894575C6}" type="slidenum">
              <a:rPr lang="en-US" smtClean="0"/>
              <a:t>‹#›</a:t>
            </a:fld>
            <a:endParaRPr lang="en-US" dirty="0"/>
          </a:p>
        </p:txBody>
      </p:sp>
    </p:spTree>
    <p:extLst>
      <p:ext uri="{BB962C8B-B14F-4D97-AF65-F5344CB8AC3E}">
        <p14:creationId xmlns:p14="http://schemas.microsoft.com/office/powerpoint/2010/main" val="4256554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927E9-6875-CDB7-2CCF-200958E4A1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8FD453-1DB1-F877-B4A6-706CE4E25D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CE054242-E090-7623-4E5F-AEA9E27B5E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9D6E1C-9CCF-EA7D-20E0-EE09318D9744}"/>
              </a:ext>
            </a:extLst>
          </p:cNvPr>
          <p:cNvSpPr>
            <a:spLocks noGrp="1"/>
          </p:cNvSpPr>
          <p:nvPr>
            <p:ph type="dt" sz="half" idx="10"/>
          </p:nvPr>
        </p:nvSpPr>
        <p:spPr/>
        <p:txBody>
          <a:bodyPr/>
          <a:lstStyle/>
          <a:p>
            <a:fld id="{98818D4E-FBA9-4C4B-B747-7DD92288B912}" type="datetime1">
              <a:rPr lang="en-US" smtClean="0"/>
              <a:t>12/27/2025</a:t>
            </a:fld>
            <a:endParaRPr lang="en-US" dirty="0"/>
          </a:p>
        </p:txBody>
      </p:sp>
      <p:sp>
        <p:nvSpPr>
          <p:cNvPr id="6" name="Footer Placeholder 5">
            <a:extLst>
              <a:ext uri="{FF2B5EF4-FFF2-40B4-BE49-F238E27FC236}">
                <a16:creationId xmlns:a16="http://schemas.microsoft.com/office/drawing/2014/main" id="{D5C45AD1-BB8D-ED24-6837-3DF33DCC465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376F50F-5E32-355A-78DF-FAFC7637BB1F}"/>
              </a:ext>
            </a:extLst>
          </p:cNvPr>
          <p:cNvSpPr>
            <a:spLocks noGrp="1"/>
          </p:cNvSpPr>
          <p:nvPr>
            <p:ph type="sldNum" sz="quarter" idx="12"/>
          </p:nvPr>
        </p:nvSpPr>
        <p:spPr/>
        <p:txBody>
          <a:bodyPr/>
          <a:lstStyle/>
          <a:p>
            <a:fld id="{704D49E2-C640-4137-BB2F-153E894575C6}" type="slidenum">
              <a:rPr lang="en-US" smtClean="0"/>
              <a:t>‹#›</a:t>
            </a:fld>
            <a:endParaRPr lang="en-US" dirty="0"/>
          </a:p>
        </p:txBody>
      </p:sp>
    </p:spTree>
    <p:extLst>
      <p:ext uri="{BB962C8B-B14F-4D97-AF65-F5344CB8AC3E}">
        <p14:creationId xmlns:p14="http://schemas.microsoft.com/office/powerpoint/2010/main" val="363802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0AC81-F77E-D7D4-882F-F6F2A08DE4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3105126-EC12-42AB-365A-78EF2120B1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108508-5F37-831A-B7C9-CD3FF5E025BF}"/>
              </a:ext>
            </a:extLst>
          </p:cNvPr>
          <p:cNvSpPr>
            <a:spLocks noGrp="1"/>
          </p:cNvSpPr>
          <p:nvPr>
            <p:ph type="dt" sz="half" idx="10"/>
          </p:nvPr>
        </p:nvSpPr>
        <p:spPr/>
        <p:txBody>
          <a:bodyPr/>
          <a:lstStyle/>
          <a:p>
            <a:fld id="{5180E359-4863-42F1-A064-89E6BAA18251}" type="datetime1">
              <a:rPr lang="en-US" smtClean="0"/>
              <a:t>12/27/2025</a:t>
            </a:fld>
            <a:endParaRPr lang="en-US" dirty="0"/>
          </a:p>
        </p:txBody>
      </p:sp>
      <p:sp>
        <p:nvSpPr>
          <p:cNvPr id="5" name="Footer Placeholder 4">
            <a:extLst>
              <a:ext uri="{FF2B5EF4-FFF2-40B4-BE49-F238E27FC236}">
                <a16:creationId xmlns:a16="http://schemas.microsoft.com/office/drawing/2014/main" id="{E2B8D6C8-82AC-36AF-B8A8-C37218813BC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C714442-B973-0093-ECA1-C94419BE23BA}"/>
              </a:ext>
            </a:extLst>
          </p:cNvPr>
          <p:cNvSpPr>
            <a:spLocks noGrp="1"/>
          </p:cNvSpPr>
          <p:nvPr>
            <p:ph type="sldNum" sz="quarter" idx="12"/>
          </p:nvPr>
        </p:nvSpPr>
        <p:spPr/>
        <p:txBody>
          <a:bodyPr/>
          <a:lstStyle/>
          <a:p>
            <a:fld id="{704D49E2-C640-4137-BB2F-153E894575C6}" type="slidenum">
              <a:rPr lang="en-US" smtClean="0"/>
              <a:t>‹#›</a:t>
            </a:fld>
            <a:endParaRPr lang="en-US" dirty="0"/>
          </a:p>
        </p:txBody>
      </p:sp>
    </p:spTree>
    <p:extLst>
      <p:ext uri="{BB962C8B-B14F-4D97-AF65-F5344CB8AC3E}">
        <p14:creationId xmlns:p14="http://schemas.microsoft.com/office/powerpoint/2010/main" val="3603986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07ACB9-DCF2-9CC9-0D6E-AB433FF274A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E3EE3CF-1910-C6FB-059F-A19396A125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D38297-DFA9-5C2D-749A-0146F55081FE}"/>
              </a:ext>
            </a:extLst>
          </p:cNvPr>
          <p:cNvSpPr>
            <a:spLocks noGrp="1"/>
          </p:cNvSpPr>
          <p:nvPr>
            <p:ph type="dt" sz="half" idx="10"/>
          </p:nvPr>
        </p:nvSpPr>
        <p:spPr/>
        <p:txBody>
          <a:bodyPr/>
          <a:lstStyle/>
          <a:p>
            <a:fld id="{A8537FF5-6320-4CA9-9F55-A2748B4EA8EF}" type="datetime1">
              <a:rPr lang="en-US" smtClean="0"/>
              <a:t>12/27/2025</a:t>
            </a:fld>
            <a:endParaRPr lang="en-US" dirty="0"/>
          </a:p>
        </p:txBody>
      </p:sp>
      <p:sp>
        <p:nvSpPr>
          <p:cNvPr id="5" name="Footer Placeholder 4">
            <a:extLst>
              <a:ext uri="{FF2B5EF4-FFF2-40B4-BE49-F238E27FC236}">
                <a16:creationId xmlns:a16="http://schemas.microsoft.com/office/drawing/2014/main" id="{74BC9622-8CAC-94E7-D1E3-F8EB3DA0180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0467CCE-A995-A1D7-4E61-F214FB42E1D9}"/>
              </a:ext>
            </a:extLst>
          </p:cNvPr>
          <p:cNvSpPr>
            <a:spLocks noGrp="1"/>
          </p:cNvSpPr>
          <p:nvPr>
            <p:ph type="sldNum" sz="quarter" idx="12"/>
          </p:nvPr>
        </p:nvSpPr>
        <p:spPr/>
        <p:txBody>
          <a:bodyPr/>
          <a:lstStyle/>
          <a:p>
            <a:fld id="{704D49E2-C640-4137-BB2F-153E894575C6}" type="slidenum">
              <a:rPr lang="en-US" smtClean="0"/>
              <a:t>‹#›</a:t>
            </a:fld>
            <a:endParaRPr lang="en-US" dirty="0"/>
          </a:p>
        </p:txBody>
      </p:sp>
    </p:spTree>
    <p:extLst>
      <p:ext uri="{BB962C8B-B14F-4D97-AF65-F5344CB8AC3E}">
        <p14:creationId xmlns:p14="http://schemas.microsoft.com/office/powerpoint/2010/main" val="830122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1797E-BDE6-D749-6657-03025CCBD68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F29E12-A070-15CE-8E37-C921E4FAC0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10B0CD-144C-F3D5-551B-8F593F30F445}"/>
              </a:ext>
            </a:extLst>
          </p:cNvPr>
          <p:cNvSpPr>
            <a:spLocks noGrp="1"/>
          </p:cNvSpPr>
          <p:nvPr>
            <p:ph type="dt" sz="half" idx="10"/>
          </p:nvPr>
        </p:nvSpPr>
        <p:spPr/>
        <p:txBody>
          <a:bodyPr/>
          <a:lstStyle/>
          <a:p>
            <a:fld id="{D3ADCA45-3B54-47D0-BF87-737FF49221E2}" type="datetimeFigureOut">
              <a:rPr lang="en-US" smtClean="0"/>
              <a:t>12/27/2025</a:t>
            </a:fld>
            <a:endParaRPr lang="en-US"/>
          </a:p>
        </p:txBody>
      </p:sp>
      <p:sp>
        <p:nvSpPr>
          <p:cNvPr id="5" name="Footer Placeholder 4">
            <a:extLst>
              <a:ext uri="{FF2B5EF4-FFF2-40B4-BE49-F238E27FC236}">
                <a16:creationId xmlns:a16="http://schemas.microsoft.com/office/drawing/2014/main" id="{F484BDDB-C8EC-6E11-CD01-FFD7F5A38F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9F3F1F-6D27-F015-5BEA-1BBAE0D0C4D8}"/>
              </a:ext>
            </a:extLst>
          </p:cNvPr>
          <p:cNvSpPr>
            <a:spLocks noGrp="1"/>
          </p:cNvSpPr>
          <p:nvPr>
            <p:ph type="sldNum" sz="quarter" idx="12"/>
          </p:nvPr>
        </p:nvSpPr>
        <p:spPr/>
        <p:txBody>
          <a:bodyPr/>
          <a:lstStyle/>
          <a:p>
            <a:fld id="{8F5AB920-A722-48D3-993A-93DE3530B191}" type="slidenum">
              <a:rPr lang="en-US" smtClean="0"/>
              <a:t>‹#›</a:t>
            </a:fld>
            <a:endParaRPr lang="en-US"/>
          </a:p>
        </p:txBody>
      </p:sp>
    </p:spTree>
    <p:extLst>
      <p:ext uri="{BB962C8B-B14F-4D97-AF65-F5344CB8AC3E}">
        <p14:creationId xmlns:p14="http://schemas.microsoft.com/office/powerpoint/2010/main" val="18214481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9F35-7924-A22C-633C-6B07CC15C3C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7B9141B-085C-B90D-7A21-FF20AA4B43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F1AB3F-1F0C-D6A4-DC19-51CDE87FFCC7}"/>
              </a:ext>
            </a:extLst>
          </p:cNvPr>
          <p:cNvSpPr>
            <a:spLocks noGrp="1"/>
          </p:cNvSpPr>
          <p:nvPr>
            <p:ph type="dt" sz="half" idx="10"/>
          </p:nvPr>
        </p:nvSpPr>
        <p:spPr/>
        <p:txBody>
          <a:bodyPr/>
          <a:lstStyle/>
          <a:p>
            <a:fld id="{D3ADCA45-3B54-47D0-BF87-737FF49221E2}" type="datetimeFigureOut">
              <a:rPr lang="en-US" smtClean="0"/>
              <a:t>12/27/2025</a:t>
            </a:fld>
            <a:endParaRPr lang="en-US"/>
          </a:p>
        </p:txBody>
      </p:sp>
      <p:sp>
        <p:nvSpPr>
          <p:cNvPr id="5" name="Footer Placeholder 4">
            <a:extLst>
              <a:ext uri="{FF2B5EF4-FFF2-40B4-BE49-F238E27FC236}">
                <a16:creationId xmlns:a16="http://schemas.microsoft.com/office/drawing/2014/main" id="{CFC80697-F88A-2C12-248A-4C92CC32D9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AE8B2-7D41-4F17-3330-631BA77B3719}"/>
              </a:ext>
            </a:extLst>
          </p:cNvPr>
          <p:cNvSpPr>
            <a:spLocks noGrp="1"/>
          </p:cNvSpPr>
          <p:nvPr>
            <p:ph type="sldNum" sz="quarter" idx="12"/>
          </p:nvPr>
        </p:nvSpPr>
        <p:spPr/>
        <p:txBody>
          <a:bodyPr/>
          <a:lstStyle/>
          <a:p>
            <a:fld id="{8F5AB920-A722-48D3-993A-93DE3530B191}" type="slidenum">
              <a:rPr lang="en-US" smtClean="0"/>
              <a:t>‹#›</a:t>
            </a:fld>
            <a:endParaRPr lang="en-US"/>
          </a:p>
        </p:txBody>
      </p:sp>
    </p:spTree>
    <p:extLst>
      <p:ext uri="{BB962C8B-B14F-4D97-AF65-F5344CB8AC3E}">
        <p14:creationId xmlns:p14="http://schemas.microsoft.com/office/powerpoint/2010/main" val="31935043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171F0-E32C-E2EB-BE28-6F93375EE0F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831851-2971-D780-B599-C9ACA145DB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149226-D8AC-B195-819B-9145A202CA05}"/>
              </a:ext>
            </a:extLst>
          </p:cNvPr>
          <p:cNvSpPr>
            <a:spLocks noGrp="1"/>
          </p:cNvSpPr>
          <p:nvPr>
            <p:ph type="dt" sz="half" idx="10"/>
          </p:nvPr>
        </p:nvSpPr>
        <p:spPr/>
        <p:txBody>
          <a:bodyPr/>
          <a:lstStyle/>
          <a:p>
            <a:fld id="{D3ADCA45-3B54-47D0-BF87-737FF49221E2}" type="datetimeFigureOut">
              <a:rPr lang="en-US" smtClean="0"/>
              <a:t>12/27/2025</a:t>
            </a:fld>
            <a:endParaRPr lang="en-US"/>
          </a:p>
        </p:txBody>
      </p:sp>
      <p:sp>
        <p:nvSpPr>
          <p:cNvPr id="5" name="Footer Placeholder 4">
            <a:extLst>
              <a:ext uri="{FF2B5EF4-FFF2-40B4-BE49-F238E27FC236}">
                <a16:creationId xmlns:a16="http://schemas.microsoft.com/office/drawing/2014/main" id="{1DA44AF2-A04B-7E71-F974-7BE305026A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9C31A-B1B2-EECB-81F9-F1F25A52DB55}"/>
              </a:ext>
            </a:extLst>
          </p:cNvPr>
          <p:cNvSpPr>
            <a:spLocks noGrp="1"/>
          </p:cNvSpPr>
          <p:nvPr>
            <p:ph type="sldNum" sz="quarter" idx="12"/>
          </p:nvPr>
        </p:nvSpPr>
        <p:spPr/>
        <p:txBody>
          <a:bodyPr/>
          <a:lstStyle/>
          <a:p>
            <a:fld id="{8F5AB920-A722-48D3-993A-93DE3530B191}" type="slidenum">
              <a:rPr lang="en-US" smtClean="0"/>
              <a:t>‹#›</a:t>
            </a:fld>
            <a:endParaRPr lang="en-US"/>
          </a:p>
        </p:txBody>
      </p:sp>
    </p:spTree>
    <p:extLst>
      <p:ext uri="{BB962C8B-B14F-4D97-AF65-F5344CB8AC3E}">
        <p14:creationId xmlns:p14="http://schemas.microsoft.com/office/powerpoint/2010/main" val="36866958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C2938-41DF-6773-8D2D-CD36F8249A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EFAADA-30C3-7C30-FCBB-C15F344B0111}"/>
              </a:ext>
            </a:extLst>
          </p:cNvPr>
          <p:cNvSpPr>
            <a:spLocks noGrp="1"/>
          </p:cNvSpPr>
          <p:nvPr>
            <p:ph sz="half" idx="1"/>
          </p:nvPr>
        </p:nvSpPr>
        <p:spPr>
          <a:xfrm>
            <a:off x="838200" y="1183341"/>
            <a:ext cx="5181600" cy="4993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AA30F47-CD57-12E7-A9EF-556A28218D78}"/>
              </a:ext>
            </a:extLst>
          </p:cNvPr>
          <p:cNvSpPr>
            <a:spLocks noGrp="1"/>
          </p:cNvSpPr>
          <p:nvPr>
            <p:ph sz="half" idx="2"/>
          </p:nvPr>
        </p:nvSpPr>
        <p:spPr>
          <a:xfrm>
            <a:off x="6172200" y="1183341"/>
            <a:ext cx="5181600" cy="4993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65CDEA-68CD-AD8B-A5FC-3663922FC12A}"/>
              </a:ext>
            </a:extLst>
          </p:cNvPr>
          <p:cNvSpPr>
            <a:spLocks noGrp="1"/>
          </p:cNvSpPr>
          <p:nvPr>
            <p:ph type="dt" sz="half" idx="10"/>
          </p:nvPr>
        </p:nvSpPr>
        <p:spPr/>
        <p:txBody>
          <a:bodyPr/>
          <a:lstStyle/>
          <a:p>
            <a:fld id="{D3ADCA45-3B54-47D0-BF87-737FF49221E2}" type="datetimeFigureOut">
              <a:rPr lang="en-US" smtClean="0"/>
              <a:t>12/27/2025</a:t>
            </a:fld>
            <a:endParaRPr lang="en-US"/>
          </a:p>
        </p:txBody>
      </p:sp>
      <p:sp>
        <p:nvSpPr>
          <p:cNvPr id="6" name="Footer Placeholder 5">
            <a:extLst>
              <a:ext uri="{FF2B5EF4-FFF2-40B4-BE49-F238E27FC236}">
                <a16:creationId xmlns:a16="http://schemas.microsoft.com/office/drawing/2014/main" id="{DD96C0B1-7D2B-2687-D81A-5305159FED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532D70-BEB2-AA6B-6E4D-73C974AD07F2}"/>
              </a:ext>
            </a:extLst>
          </p:cNvPr>
          <p:cNvSpPr>
            <a:spLocks noGrp="1"/>
          </p:cNvSpPr>
          <p:nvPr>
            <p:ph type="sldNum" sz="quarter" idx="12"/>
          </p:nvPr>
        </p:nvSpPr>
        <p:spPr/>
        <p:txBody>
          <a:bodyPr/>
          <a:lstStyle/>
          <a:p>
            <a:fld id="{8F5AB920-A722-48D3-993A-93DE3530B191}" type="slidenum">
              <a:rPr lang="en-US" smtClean="0"/>
              <a:t>‹#›</a:t>
            </a:fld>
            <a:endParaRPr lang="en-US"/>
          </a:p>
        </p:txBody>
      </p:sp>
    </p:spTree>
    <p:extLst>
      <p:ext uri="{BB962C8B-B14F-4D97-AF65-F5344CB8AC3E}">
        <p14:creationId xmlns:p14="http://schemas.microsoft.com/office/powerpoint/2010/main" val="41411698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E8F4-F89E-B5DA-9C00-930B7A8E24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F93099-A89A-C2CC-906E-CCD2E9070E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191AAA-EA68-4A85-9372-E3186A2647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9DDB8A-0521-053D-92FC-B95902117C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A27DD2-5C01-2292-03D9-F069ACB060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5A6899-3384-8676-4D03-A31AF9391421}"/>
              </a:ext>
            </a:extLst>
          </p:cNvPr>
          <p:cNvSpPr>
            <a:spLocks noGrp="1"/>
          </p:cNvSpPr>
          <p:nvPr>
            <p:ph type="dt" sz="half" idx="10"/>
          </p:nvPr>
        </p:nvSpPr>
        <p:spPr/>
        <p:txBody>
          <a:bodyPr/>
          <a:lstStyle/>
          <a:p>
            <a:fld id="{D3ADCA45-3B54-47D0-BF87-737FF49221E2}" type="datetimeFigureOut">
              <a:rPr lang="en-US" smtClean="0"/>
              <a:t>12/27/2025</a:t>
            </a:fld>
            <a:endParaRPr lang="en-US"/>
          </a:p>
        </p:txBody>
      </p:sp>
      <p:sp>
        <p:nvSpPr>
          <p:cNvPr id="8" name="Footer Placeholder 7">
            <a:extLst>
              <a:ext uri="{FF2B5EF4-FFF2-40B4-BE49-F238E27FC236}">
                <a16:creationId xmlns:a16="http://schemas.microsoft.com/office/drawing/2014/main" id="{5CD7E1FE-F588-5B2C-A0FB-4B132501EB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9C7913-C61D-4B65-019C-835F8E15DBA9}"/>
              </a:ext>
            </a:extLst>
          </p:cNvPr>
          <p:cNvSpPr>
            <a:spLocks noGrp="1"/>
          </p:cNvSpPr>
          <p:nvPr>
            <p:ph type="sldNum" sz="quarter" idx="12"/>
          </p:nvPr>
        </p:nvSpPr>
        <p:spPr/>
        <p:txBody>
          <a:bodyPr/>
          <a:lstStyle/>
          <a:p>
            <a:fld id="{8F5AB920-A722-48D3-993A-93DE3530B191}" type="slidenum">
              <a:rPr lang="en-US" smtClean="0"/>
              <a:t>‹#›</a:t>
            </a:fld>
            <a:endParaRPr lang="en-US"/>
          </a:p>
        </p:txBody>
      </p:sp>
    </p:spTree>
    <p:extLst>
      <p:ext uri="{BB962C8B-B14F-4D97-AF65-F5344CB8AC3E}">
        <p14:creationId xmlns:p14="http://schemas.microsoft.com/office/powerpoint/2010/main" val="4182734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59111-5404-AD29-402B-0B3A0FC0B5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9963E15-0DE6-C1FC-4D93-84C6856F76E3}"/>
              </a:ext>
            </a:extLst>
          </p:cNvPr>
          <p:cNvSpPr>
            <a:spLocks noGrp="1"/>
          </p:cNvSpPr>
          <p:nvPr>
            <p:ph type="dt" sz="half" idx="10"/>
          </p:nvPr>
        </p:nvSpPr>
        <p:spPr/>
        <p:txBody>
          <a:bodyPr/>
          <a:lstStyle/>
          <a:p>
            <a:fld id="{D3ADCA45-3B54-47D0-BF87-737FF49221E2}" type="datetimeFigureOut">
              <a:rPr lang="en-US" smtClean="0"/>
              <a:t>12/27/2025</a:t>
            </a:fld>
            <a:endParaRPr lang="en-US"/>
          </a:p>
        </p:txBody>
      </p:sp>
      <p:sp>
        <p:nvSpPr>
          <p:cNvPr id="4" name="Footer Placeholder 3">
            <a:extLst>
              <a:ext uri="{FF2B5EF4-FFF2-40B4-BE49-F238E27FC236}">
                <a16:creationId xmlns:a16="http://schemas.microsoft.com/office/drawing/2014/main" id="{A4300D1F-BFA5-5D10-B777-A90DAE5869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E61482-AA4B-29E6-80CD-E55D09525CB7}"/>
              </a:ext>
            </a:extLst>
          </p:cNvPr>
          <p:cNvSpPr>
            <a:spLocks noGrp="1"/>
          </p:cNvSpPr>
          <p:nvPr>
            <p:ph type="sldNum" sz="quarter" idx="12"/>
          </p:nvPr>
        </p:nvSpPr>
        <p:spPr/>
        <p:txBody>
          <a:bodyPr/>
          <a:lstStyle/>
          <a:p>
            <a:fld id="{8F5AB920-A722-48D3-993A-93DE3530B191}" type="slidenum">
              <a:rPr lang="en-US" smtClean="0"/>
              <a:t>‹#›</a:t>
            </a:fld>
            <a:endParaRPr lang="en-US"/>
          </a:p>
        </p:txBody>
      </p:sp>
    </p:spTree>
    <p:extLst>
      <p:ext uri="{BB962C8B-B14F-4D97-AF65-F5344CB8AC3E}">
        <p14:creationId xmlns:p14="http://schemas.microsoft.com/office/powerpoint/2010/main" val="36808544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D8CE9E-CAD7-8A1C-AD9F-8D33EB9E09CC}"/>
              </a:ext>
            </a:extLst>
          </p:cNvPr>
          <p:cNvSpPr>
            <a:spLocks noGrp="1"/>
          </p:cNvSpPr>
          <p:nvPr>
            <p:ph type="dt" sz="half" idx="10"/>
          </p:nvPr>
        </p:nvSpPr>
        <p:spPr/>
        <p:txBody>
          <a:bodyPr/>
          <a:lstStyle/>
          <a:p>
            <a:fld id="{D3ADCA45-3B54-47D0-BF87-737FF49221E2}" type="datetimeFigureOut">
              <a:rPr lang="en-US" smtClean="0"/>
              <a:t>12/27/2025</a:t>
            </a:fld>
            <a:endParaRPr lang="en-US"/>
          </a:p>
        </p:txBody>
      </p:sp>
      <p:sp>
        <p:nvSpPr>
          <p:cNvPr id="3" name="Footer Placeholder 2">
            <a:extLst>
              <a:ext uri="{FF2B5EF4-FFF2-40B4-BE49-F238E27FC236}">
                <a16:creationId xmlns:a16="http://schemas.microsoft.com/office/drawing/2014/main" id="{8F6DEDBB-7938-ACCA-2FED-0E4D937ECD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A0CEEE-FA61-32DD-4611-6DCA7EE77031}"/>
              </a:ext>
            </a:extLst>
          </p:cNvPr>
          <p:cNvSpPr>
            <a:spLocks noGrp="1"/>
          </p:cNvSpPr>
          <p:nvPr>
            <p:ph type="sldNum" sz="quarter" idx="12"/>
          </p:nvPr>
        </p:nvSpPr>
        <p:spPr/>
        <p:txBody>
          <a:bodyPr/>
          <a:lstStyle/>
          <a:p>
            <a:fld id="{8F5AB920-A722-48D3-993A-93DE3530B191}" type="slidenum">
              <a:rPr lang="en-US" smtClean="0"/>
              <a:t>‹#›</a:t>
            </a:fld>
            <a:endParaRPr lang="en-US"/>
          </a:p>
        </p:txBody>
      </p:sp>
    </p:spTree>
    <p:extLst>
      <p:ext uri="{BB962C8B-B14F-4D97-AF65-F5344CB8AC3E}">
        <p14:creationId xmlns:p14="http://schemas.microsoft.com/office/powerpoint/2010/main" val="38398578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7EFB9-393C-E193-F580-E16DBDCE9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4AC307F-ECF9-4679-E60F-693EB87028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7ECBD1-1FD4-F704-A4EA-9239B24007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A2FFFE-6E1C-2809-35DE-AE59D8EE6B19}"/>
              </a:ext>
            </a:extLst>
          </p:cNvPr>
          <p:cNvSpPr>
            <a:spLocks noGrp="1"/>
          </p:cNvSpPr>
          <p:nvPr>
            <p:ph type="dt" sz="half" idx="10"/>
          </p:nvPr>
        </p:nvSpPr>
        <p:spPr/>
        <p:txBody>
          <a:bodyPr/>
          <a:lstStyle/>
          <a:p>
            <a:fld id="{D3ADCA45-3B54-47D0-BF87-737FF49221E2}" type="datetimeFigureOut">
              <a:rPr lang="en-US" smtClean="0"/>
              <a:t>12/27/2025</a:t>
            </a:fld>
            <a:endParaRPr lang="en-US"/>
          </a:p>
        </p:txBody>
      </p:sp>
      <p:sp>
        <p:nvSpPr>
          <p:cNvPr id="6" name="Footer Placeholder 5">
            <a:extLst>
              <a:ext uri="{FF2B5EF4-FFF2-40B4-BE49-F238E27FC236}">
                <a16:creationId xmlns:a16="http://schemas.microsoft.com/office/drawing/2014/main" id="{377A885B-044D-3726-F6CB-F78C80710F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688FEB-6912-F222-26F2-1072E178C63A}"/>
              </a:ext>
            </a:extLst>
          </p:cNvPr>
          <p:cNvSpPr>
            <a:spLocks noGrp="1"/>
          </p:cNvSpPr>
          <p:nvPr>
            <p:ph type="sldNum" sz="quarter" idx="12"/>
          </p:nvPr>
        </p:nvSpPr>
        <p:spPr/>
        <p:txBody>
          <a:bodyPr/>
          <a:lstStyle/>
          <a:p>
            <a:fld id="{8F5AB920-A722-48D3-993A-93DE3530B191}" type="slidenum">
              <a:rPr lang="en-US" smtClean="0"/>
              <a:t>‹#›</a:t>
            </a:fld>
            <a:endParaRPr lang="en-US"/>
          </a:p>
        </p:txBody>
      </p:sp>
    </p:spTree>
    <p:extLst>
      <p:ext uri="{BB962C8B-B14F-4D97-AF65-F5344CB8AC3E}">
        <p14:creationId xmlns:p14="http://schemas.microsoft.com/office/powerpoint/2010/main" val="29877479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09B45-B297-56DB-47E6-FEEA7715AA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AE363A-75BC-163C-D01F-762BB3AD6A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35BCD7-6F12-91F7-35ED-E716A0036B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A0F624-17A9-C0FF-404D-53F29C1EBA70}"/>
              </a:ext>
            </a:extLst>
          </p:cNvPr>
          <p:cNvSpPr>
            <a:spLocks noGrp="1"/>
          </p:cNvSpPr>
          <p:nvPr>
            <p:ph type="dt" sz="half" idx="10"/>
          </p:nvPr>
        </p:nvSpPr>
        <p:spPr/>
        <p:txBody>
          <a:bodyPr/>
          <a:lstStyle/>
          <a:p>
            <a:fld id="{D3ADCA45-3B54-47D0-BF87-737FF49221E2}" type="datetimeFigureOut">
              <a:rPr lang="en-US" smtClean="0"/>
              <a:t>12/27/2025</a:t>
            </a:fld>
            <a:endParaRPr lang="en-US"/>
          </a:p>
        </p:txBody>
      </p:sp>
      <p:sp>
        <p:nvSpPr>
          <p:cNvPr id="6" name="Footer Placeholder 5">
            <a:extLst>
              <a:ext uri="{FF2B5EF4-FFF2-40B4-BE49-F238E27FC236}">
                <a16:creationId xmlns:a16="http://schemas.microsoft.com/office/drawing/2014/main" id="{609C39C6-108E-3627-B5D0-871D9F4128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2E6EEC-7F0E-4106-89BF-3B54F321320E}"/>
              </a:ext>
            </a:extLst>
          </p:cNvPr>
          <p:cNvSpPr>
            <a:spLocks noGrp="1"/>
          </p:cNvSpPr>
          <p:nvPr>
            <p:ph type="sldNum" sz="quarter" idx="12"/>
          </p:nvPr>
        </p:nvSpPr>
        <p:spPr/>
        <p:txBody>
          <a:bodyPr/>
          <a:lstStyle/>
          <a:p>
            <a:fld id="{8F5AB920-A722-48D3-993A-93DE3530B191}" type="slidenum">
              <a:rPr lang="en-US" smtClean="0"/>
              <a:t>‹#›</a:t>
            </a:fld>
            <a:endParaRPr lang="en-US"/>
          </a:p>
        </p:txBody>
      </p:sp>
    </p:spTree>
    <p:extLst>
      <p:ext uri="{BB962C8B-B14F-4D97-AF65-F5344CB8AC3E}">
        <p14:creationId xmlns:p14="http://schemas.microsoft.com/office/powerpoint/2010/main" val="24669961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C820C-6862-3416-888B-4084B951CC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F3CFCA-916F-477A-9988-A239B30EEC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07DC50-D89A-8068-2D54-D42EC8919930}"/>
              </a:ext>
            </a:extLst>
          </p:cNvPr>
          <p:cNvSpPr>
            <a:spLocks noGrp="1"/>
          </p:cNvSpPr>
          <p:nvPr>
            <p:ph type="dt" sz="half" idx="10"/>
          </p:nvPr>
        </p:nvSpPr>
        <p:spPr/>
        <p:txBody>
          <a:bodyPr/>
          <a:lstStyle/>
          <a:p>
            <a:fld id="{D3ADCA45-3B54-47D0-BF87-737FF49221E2}" type="datetimeFigureOut">
              <a:rPr lang="en-US" smtClean="0"/>
              <a:t>12/27/2025</a:t>
            </a:fld>
            <a:endParaRPr lang="en-US"/>
          </a:p>
        </p:txBody>
      </p:sp>
      <p:sp>
        <p:nvSpPr>
          <p:cNvPr id="5" name="Footer Placeholder 4">
            <a:extLst>
              <a:ext uri="{FF2B5EF4-FFF2-40B4-BE49-F238E27FC236}">
                <a16:creationId xmlns:a16="http://schemas.microsoft.com/office/drawing/2014/main" id="{FC69EFB8-CFF7-67EC-E037-028DE24693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994F9A-9BD3-5F29-A428-A296FA6C14B9}"/>
              </a:ext>
            </a:extLst>
          </p:cNvPr>
          <p:cNvSpPr>
            <a:spLocks noGrp="1"/>
          </p:cNvSpPr>
          <p:nvPr>
            <p:ph type="sldNum" sz="quarter" idx="12"/>
          </p:nvPr>
        </p:nvSpPr>
        <p:spPr/>
        <p:txBody>
          <a:bodyPr/>
          <a:lstStyle/>
          <a:p>
            <a:fld id="{8F5AB920-A722-48D3-993A-93DE3530B191}" type="slidenum">
              <a:rPr lang="en-US" smtClean="0"/>
              <a:t>‹#›</a:t>
            </a:fld>
            <a:endParaRPr lang="en-US"/>
          </a:p>
        </p:txBody>
      </p:sp>
    </p:spTree>
    <p:extLst>
      <p:ext uri="{BB962C8B-B14F-4D97-AF65-F5344CB8AC3E}">
        <p14:creationId xmlns:p14="http://schemas.microsoft.com/office/powerpoint/2010/main" val="20583997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1A88C1-ABA2-AE9A-A4F0-FF6EE8C8F9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CF6271-0C29-38E6-F372-5B3AA55942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13D6EE-3334-D598-DCA3-FA32BCD6F2ED}"/>
              </a:ext>
            </a:extLst>
          </p:cNvPr>
          <p:cNvSpPr>
            <a:spLocks noGrp="1"/>
          </p:cNvSpPr>
          <p:nvPr>
            <p:ph type="dt" sz="half" idx="10"/>
          </p:nvPr>
        </p:nvSpPr>
        <p:spPr/>
        <p:txBody>
          <a:bodyPr/>
          <a:lstStyle/>
          <a:p>
            <a:fld id="{D3ADCA45-3B54-47D0-BF87-737FF49221E2}" type="datetimeFigureOut">
              <a:rPr lang="en-US" smtClean="0"/>
              <a:t>12/27/2025</a:t>
            </a:fld>
            <a:endParaRPr lang="en-US"/>
          </a:p>
        </p:txBody>
      </p:sp>
      <p:sp>
        <p:nvSpPr>
          <p:cNvPr id="5" name="Footer Placeholder 4">
            <a:extLst>
              <a:ext uri="{FF2B5EF4-FFF2-40B4-BE49-F238E27FC236}">
                <a16:creationId xmlns:a16="http://schemas.microsoft.com/office/drawing/2014/main" id="{9ACE0DE3-D2F1-F176-C441-022845117F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62C2CA-E54E-BDA9-3AFD-69BA349B60EB}"/>
              </a:ext>
            </a:extLst>
          </p:cNvPr>
          <p:cNvSpPr>
            <a:spLocks noGrp="1"/>
          </p:cNvSpPr>
          <p:nvPr>
            <p:ph type="sldNum" sz="quarter" idx="12"/>
          </p:nvPr>
        </p:nvSpPr>
        <p:spPr/>
        <p:txBody>
          <a:bodyPr/>
          <a:lstStyle/>
          <a:p>
            <a:fld id="{8F5AB920-A722-48D3-993A-93DE3530B191}" type="slidenum">
              <a:rPr lang="en-US" smtClean="0"/>
              <a:t>‹#›</a:t>
            </a:fld>
            <a:endParaRPr lang="en-US"/>
          </a:p>
        </p:txBody>
      </p:sp>
    </p:spTree>
    <p:extLst>
      <p:ext uri="{BB962C8B-B14F-4D97-AF65-F5344CB8AC3E}">
        <p14:creationId xmlns:p14="http://schemas.microsoft.com/office/powerpoint/2010/main" val="15886799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90D856-18AE-6417-1482-3841FEEDEA50}"/>
              </a:ext>
            </a:extLst>
          </p:cNvPr>
          <p:cNvSpPr>
            <a:spLocks noGrp="1"/>
          </p:cNvSpPr>
          <p:nvPr>
            <p:ph type="title"/>
          </p:nvPr>
        </p:nvSpPr>
        <p:spPr>
          <a:xfrm>
            <a:off x="0" y="365126"/>
            <a:ext cx="12192000" cy="394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F05EA165-9432-D883-9D31-3276E51EBF47}"/>
              </a:ext>
            </a:extLst>
          </p:cNvPr>
          <p:cNvSpPr>
            <a:spLocks noGrp="1"/>
          </p:cNvSpPr>
          <p:nvPr>
            <p:ph type="body" idx="1"/>
          </p:nvPr>
        </p:nvSpPr>
        <p:spPr>
          <a:xfrm>
            <a:off x="838200" y="849744"/>
            <a:ext cx="10891982" cy="554181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359DB92-8A43-5C65-DECE-5E8D5FEDC7AB}"/>
              </a:ext>
            </a:extLst>
          </p:cNvPr>
          <p:cNvSpPr>
            <a:spLocks noGrp="1"/>
          </p:cNvSpPr>
          <p:nvPr>
            <p:ph type="dt" sz="half" idx="2"/>
          </p:nvPr>
        </p:nvSpPr>
        <p:spPr>
          <a:xfrm>
            <a:off x="838200" y="6492874"/>
            <a:ext cx="2743200" cy="228601"/>
          </a:xfrm>
          <a:prstGeom prst="rect">
            <a:avLst/>
          </a:prstGeom>
        </p:spPr>
        <p:txBody>
          <a:bodyPr vert="horz" lIns="91440" tIns="45720" rIns="91440" bIns="45720" rtlCol="0" anchor="ctr"/>
          <a:lstStyle>
            <a:lvl1pPr algn="l">
              <a:defRPr sz="1200">
                <a:solidFill>
                  <a:schemeClr val="tx1">
                    <a:tint val="82000"/>
                  </a:schemeClr>
                </a:solidFill>
              </a:defRPr>
            </a:lvl1pPr>
          </a:lstStyle>
          <a:p>
            <a:fld id="{F132D09C-33F8-4DF7-BBDE-3D23C3D55F22}" type="datetime1">
              <a:rPr lang="en-US" smtClean="0"/>
              <a:t>12/27/2025</a:t>
            </a:fld>
            <a:endParaRPr lang="en-US" dirty="0"/>
          </a:p>
        </p:txBody>
      </p:sp>
      <p:sp>
        <p:nvSpPr>
          <p:cNvPr id="5" name="Footer Placeholder 4">
            <a:extLst>
              <a:ext uri="{FF2B5EF4-FFF2-40B4-BE49-F238E27FC236}">
                <a16:creationId xmlns:a16="http://schemas.microsoft.com/office/drawing/2014/main" id="{CF6D1483-888E-4789-841E-9F08BC14CF2B}"/>
              </a:ext>
            </a:extLst>
          </p:cNvPr>
          <p:cNvSpPr>
            <a:spLocks noGrp="1"/>
          </p:cNvSpPr>
          <p:nvPr>
            <p:ph type="ftr" sz="quarter" idx="3"/>
          </p:nvPr>
        </p:nvSpPr>
        <p:spPr>
          <a:xfrm>
            <a:off x="4038600" y="6492874"/>
            <a:ext cx="4114800" cy="228601"/>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DDDE48E0-6B17-328F-FEC0-CA908F96506D}"/>
              </a:ext>
            </a:extLst>
          </p:cNvPr>
          <p:cNvSpPr>
            <a:spLocks noGrp="1"/>
          </p:cNvSpPr>
          <p:nvPr>
            <p:ph type="sldNum" sz="quarter" idx="4"/>
          </p:nvPr>
        </p:nvSpPr>
        <p:spPr>
          <a:xfrm>
            <a:off x="8986982" y="6492874"/>
            <a:ext cx="2743200" cy="228601"/>
          </a:xfrm>
          <a:prstGeom prst="rect">
            <a:avLst/>
          </a:prstGeom>
        </p:spPr>
        <p:txBody>
          <a:bodyPr vert="horz" lIns="91440" tIns="45720" rIns="91440" bIns="45720" rtlCol="0" anchor="ctr"/>
          <a:lstStyle>
            <a:lvl1pPr algn="r">
              <a:defRPr sz="1200">
                <a:solidFill>
                  <a:schemeClr val="tx1">
                    <a:tint val="82000"/>
                  </a:schemeClr>
                </a:solidFill>
              </a:defRPr>
            </a:lvl1pPr>
          </a:lstStyle>
          <a:p>
            <a:fld id="{704D49E2-C640-4137-BB2F-153E894575C6}" type="slidenum">
              <a:rPr lang="en-US" smtClean="0"/>
              <a:t>‹#›</a:t>
            </a:fld>
            <a:endParaRPr lang="en-US" dirty="0"/>
          </a:p>
        </p:txBody>
      </p:sp>
    </p:spTree>
    <p:extLst>
      <p:ext uri="{BB962C8B-B14F-4D97-AF65-F5344CB8AC3E}">
        <p14:creationId xmlns:p14="http://schemas.microsoft.com/office/powerpoint/2010/main" val="579318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1303E9-0B74-BB61-755C-4CE52E914502}"/>
              </a:ext>
            </a:extLst>
          </p:cNvPr>
          <p:cNvSpPr>
            <a:spLocks noGrp="1"/>
          </p:cNvSpPr>
          <p:nvPr>
            <p:ph type="title"/>
          </p:nvPr>
        </p:nvSpPr>
        <p:spPr>
          <a:xfrm>
            <a:off x="838200" y="365126"/>
            <a:ext cx="10515600" cy="6389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F07AF65-BB48-64B5-D3C4-B11E31A648D8}"/>
              </a:ext>
            </a:extLst>
          </p:cNvPr>
          <p:cNvSpPr>
            <a:spLocks noGrp="1"/>
          </p:cNvSpPr>
          <p:nvPr>
            <p:ph type="body" idx="1"/>
          </p:nvPr>
        </p:nvSpPr>
        <p:spPr>
          <a:xfrm>
            <a:off x="838200" y="1120588"/>
            <a:ext cx="10515600" cy="50563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C2D548-C50F-F559-D9F6-41F3F36A73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ADCA45-3B54-47D0-BF87-737FF49221E2}" type="datetimeFigureOut">
              <a:rPr lang="en-US" smtClean="0"/>
              <a:t>12/27/2025</a:t>
            </a:fld>
            <a:endParaRPr lang="en-US"/>
          </a:p>
        </p:txBody>
      </p:sp>
      <p:sp>
        <p:nvSpPr>
          <p:cNvPr id="5" name="Footer Placeholder 4">
            <a:extLst>
              <a:ext uri="{FF2B5EF4-FFF2-40B4-BE49-F238E27FC236}">
                <a16:creationId xmlns:a16="http://schemas.microsoft.com/office/drawing/2014/main" id="{0358EBC6-183A-9406-BD0F-273887CB1C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06F8D2-4562-5319-64C5-7A0B74B836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F5AB920-A722-48D3-993A-93DE3530B191}" type="slidenum">
              <a:rPr lang="en-US" smtClean="0"/>
              <a:t>‹#›</a:t>
            </a:fld>
            <a:endParaRPr lang="en-US"/>
          </a:p>
        </p:txBody>
      </p:sp>
    </p:spTree>
    <p:extLst>
      <p:ext uri="{BB962C8B-B14F-4D97-AF65-F5344CB8AC3E}">
        <p14:creationId xmlns:p14="http://schemas.microsoft.com/office/powerpoint/2010/main" val="3263590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4.jpeg"/><Relationship Id="rId5" Type="http://schemas.openxmlformats.org/officeDocument/2006/relationships/image" Target="../media/image3.png"/><Relationship Id="rId4" Type="http://schemas.microsoft.com/office/2007/relationships/hdphoto" Target="../media/hdphoto1.wdp"/><Relationship Id="rId9"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eg"/><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17.xml"/><Relationship Id="rId4" Type="http://schemas.openxmlformats.org/officeDocument/2006/relationships/image" Target="../media/image30.jpeg"/></Relationships>
</file>

<file path=ppt/slides/_rels/slide4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17.xml"/><Relationship Id="rId4"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AC118-35FD-9242-BE10-9404D90C7CA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9AF614A2-2A7D-FE03-CA94-BC77C9AD2C73}"/>
              </a:ext>
            </a:extLst>
          </p:cNvPr>
          <p:cNvSpPr/>
          <p:nvPr/>
        </p:nvSpPr>
        <p:spPr>
          <a:xfrm rot="19963329">
            <a:off x="257033" y="1940414"/>
            <a:ext cx="11340349" cy="2646878"/>
          </a:xfrm>
          <a:prstGeom prst="rect">
            <a:avLst/>
          </a:prstGeom>
          <a:noFill/>
        </p:spPr>
        <p:txBody>
          <a:bodyPr wrap="none" lIns="91440" tIns="45720" rIns="91440" bIns="45720">
            <a:spAutoFit/>
          </a:bodyPr>
          <a:lstStyle/>
          <a:p>
            <a:pPr algn="ctr"/>
            <a:r>
              <a:rPr lang="en-US" sz="16600" b="1" cap="none" spc="0" dirty="0">
                <a:ln w="10160">
                  <a:solidFill>
                    <a:schemeClr val="bg2"/>
                  </a:solidFill>
                  <a:prstDash val="solid"/>
                </a:ln>
                <a:solidFill>
                  <a:srgbClr val="FFFFFF"/>
                </a:solidFill>
                <a:effectLst>
                  <a:outerShdw blurRad="38100" dist="22860" dir="5400000" algn="tl" rotWithShape="0">
                    <a:srgbClr val="000000">
                      <a:alpha val="30000"/>
                    </a:srgbClr>
                  </a:outerShdw>
                </a:effectLst>
              </a:rPr>
              <a:t>Preliminary</a:t>
            </a:r>
          </a:p>
        </p:txBody>
      </p:sp>
      <p:sp>
        <p:nvSpPr>
          <p:cNvPr id="2" name="Title 1">
            <a:extLst>
              <a:ext uri="{FF2B5EF4-FFF2-40B4-BE49-F238E27FC236}">
                <a16:creationId xmlns:a16="http://schemas.microsoft.com/office/drawing/2014/main" id="{1B6D71EE-33CB-38DE-8B18-B7E47AFCE061}"/>
              </a:ext>
            </a:extLst>
          </p:cNvPr>
          <p:cNvSpPr>
            <a:spLocks noGrp="1"/>
          </p:cNvSpPr>
          <p:nvPr>
            <p:ph type="ctrTitle"/>
          </p:nvPr>
        </p:nvSpPr>
        <p:spPr>
          <a:xfrm>
            <a:off x="2" y="2171370"/>
            <a:ext cx="12191998" cy="1082796"/>
          </a:xfrm>
        </p:spPr>
        <p:txBody>
          <a:bodyPr>
            <a:noAutofit/>
          </a:bodyPr>
          <a:lstStyle/>
          <a:p>
            <a:pPr rtl="1"/>
            <a:r>
              <a:rPr lang="he-IL" sz="4000" dirty="0"/>
              <a:t>הערכה רב-ממדית ונטולת הקשר של קיצוניות פוליטית</a:t>
            </a:r>
            <a:endParaRPr lang="en-US" sz="2000" dirty="0"/>
          </a:p>
        </p:txBody>
      </p:sp>
      <p:sp>
        <p:nvSpPr>
          <p:cNvPr id="4" name="Subtitle 3">
            <a:extLst>
              <a:ext uri="{FF2B5EF4-FFF2-40B4-BE49-F238E27FC236}">
                <a16:creationId xmlns:a16="http://schemas.microsoft.com/office/drawing/2014/main" id="{2039EFC2-67E2-F7E8-13F0-6563EE5F08DD}"/>
              </a:ext>
            </a:extLst>
          </p:cNvPr>
          <p:cNvSpPr>
            <a:spLocks noGrp="1"/>
          </p:cNvSpPr>
          <p:nvPr>
            <p:ph type="subTitle" idx="1"/>
          </p:nvPr>
        </p:nvSpPr>
        <p:spPr>
          <a:xfrm>
            <a:off x="0" y="3539422"/>
            <a:ext cx="12191997" cy="1367857"/>
          </a:xfrm>
        </p:spPr>
        <p:txBody>
          <a:bodyPr>
            <a:normAutofit fontScale="92500" lnSpcReduction="20000"/>
          </a:bodyPr>
          <a:lstStyle/>
          <a:p>
            <a:pPr rtl="1"/>
            <a:endParaRPr lang="en-US" sz="1600" dirty="0"/>
          </a:p>
          <a:p>
            <a:pPr rtl="1"/>
            <a:r>
              <a:rPr lang="he-IL" dirty="0"/>
              <a:t>הצעת מחקר של אמיר פרוינד, דוקטורנט בבית ספר לאודר לממשל, דיפלומטיה ואסטרטגיה, אוניברסיטת רייכמן</a:t>
            </a:r>
            <a:endParaRPr lang="en-US" dirty="0"/>
          </a:p>
          <a:p>
            <a:pPr rtl="1"/>
            <a:r>
              <a:rPr lang="he-IL" dirty="0"/>
              <a:t>בהנחיית פרופ' סיון הירש הפלר, אוניברסיטת רייכמן וד"ר יוליה אלעד שטרנגר, אוניברסיטת בר אילן</a:t>
            </a:r>
            <a:endParaRPr lang="en-US" dirty="0"/>
          </a:p>
          <a:p>
            <a:pPr rtl="1"/>
            <a:r>
              <a:rPr lang="en-US" sz="1600" dirty="0"/>
              <a:t> </a:t>
            </a:r>
          </a:p>
        </p:txBody>
      </p:sp>
      <p:sp>
        <p:nvSpPr>
          <p:cNvPr id="5" name="TextBox 4">
            <a:extLst>
              <a:ext uri="{FF2B5EF4-FFF2-40B4-BE49-F238E27FC236}">
                <a16:creationId xmlns:a16="http://schemas.microsoft.com/office/drawing/2014/main" id="{15BB5434-74C3-6AD1-C445-21652497C7BE}"/>
              </a:ext>
            </a:extLst>
          </p:cNvPr>
          <p:cNvSpPr txBox="1"/>
          <p:nvPr/>
        </p:nvSpPr>
        <p:spPr>
          <a:xfrm>
            <a:off x="1" y="5016371"/>
            <a:ext cx="12192000" cy="1033909"/>
          </a:xfrm>
          <a:prstGeom prst="rect">
            <a:avLst/>
          </a:prstGeom>
        </p:spPr>
        <p:txBody>
          <a:bodyPr vert="horz" lIns="91440" tIns="45720" rIns="91440" bIns="45720" rtlCol="0">
            <a:normAutofit/>
          </a:bodyPr>
          <a:lstStyle>
            <a:lvl1pPr indent="0" algn="ctr">
              <a:lnSpc>
                <a:spcPct val="90000"/>
              </a:lnSpc>
              <a:spcBef>
                <a:spcPts val="1000"/>
              </a:spcBef>
              <a:buFont typeface="Arial" panose="020B0604020202020204" pitchFamily="34" charset="0"/>
              <a:buNone/>
              <a:defRPr sz="1600">
                <a:solidFill>
                  <a:schemeClr val="bg2">
                    <a:lumMod val="25000"/>
                  </a:schemeClr>
                </a:solidFill>
              </a:defRPr>
            </a:lvl1pPr>
            <a:lvl2pPr indent="0" algn="ctr">
              <a:lnSpc>
                <a:spcPct val="90000"/>
              </a:lnSpc>
              <a:spcBef>
                <a:spcPts val="500"/>
              </a:spcBef>
              <a:buFont typeface="Arial" panose="020B0604020202020204" pitchFamily="34" charset="0"/>
              <a:buNone/>
              <a:defRPr sz="2000">
                <a:solidFill>
                  <a:schemeClr val="bg2">
                    <a:lumMod val="25000"/>
                  </a:schemeClr>
                </a:solidFill>
              </a:defRPr>
            </a:lvl2pPr>
            <a:lvl3pPr indent="0" algn="ctr">
              <a:lnSpc>
                <a:spcPct val="90000"/>
              </a:lnSpc>
              <a:spcBef>
                <a:spcPts val="500"/>
              </a:spcBef>
              <a:buFont typeface="Arial" panose="020B0604020202020204" pitchFamily="34" charset="0"/>
              <a:buNone/>
              <a:defRPr>
                <a:solidFill>
                  <a:schemeClr val="bg2">
                    <a:lumMod val="25000"/>
                  </a:schemeClr>
                </a:solidFill>
              </a:defRPr>
            </a:lvl3pPr>
            <a:lvl4pPr indent="0" algn="ctr">
              <a:lnSpc>
                <a:spcPct val="90000"/>
              </a:lnSpc>
              <a:spcBef>
                <a:spcPts val="500"/>
              </a:spcBef>
              <a:buFont typeface="Arial" panose="020B0604020202020204" pitchFamily="34" charset="0"/>
              <a:buNone/>
              <a:defRPr sz="1600">
                <a:solidFill>
                  <a:schemeClr val="bg2">
                    <a:lumMod val="25000"/>
                  </a:schemeClr>
                </a:solidFill>
              </a:defRPr>
            </a:lvl4pPr>
            <a:lvl5pPr indent="0" algn="ctr">
              <a:lnSpc>
                <a:spcPct val="90000"/>
              </a:lnSpc>
              <a:spcBef>
                <a:spcPts val="500"/>
              </a:spcBef>
              <a:buFont typeface="Arial" panose="020B0604020202020204" pitchFamily="34" charset="0"/>
              <a:buNone/>
              <a:defRPr sz="1600">
                <a:solidFill>
                  <a:schemeClr val="bg2">
                    <a:lumMod val="25000"/>
                  </a:schemeClr>
                </a:solidFill>
              </a:defRPr>
            </a:lvl5pPr>
            <a:lvl6pPr indent="0" algn="ctr">
              <a:lnSpc>
                <a:spcPct val="90000"/>
              </a:lnSpc>
              <a:spcBef>
                <a:spcPts val="500"/>
              </a:spcBef>
              <a:buFont typeface="Arial" panose="020B0604020202020204" pitchFamily="34" charset="0"/>
              <a:buNone/>
              <a:defRPr sz="1600"/>
            </a:lvl6pPr>
            <a:lvl7pPr indent="0" algn="ctr">
              <a:lnSpc>
                <a:spcPct val="90000"/>
              </a:lnSpc>
              <a:spcBef>
                <a:spcPts val="500"/>
              </a:spcBef>
              <a:buFont typeface="Arial" panose="020B0604020202020204" pitchFamily="34" charset="0"/>
              <a:buNone/>
              <a:defRPr sz="1600"/>
            </a:lvl7pPr>
            <a:lvl8pPr indent="0" algn="ctr">
              <a:lnSpc>
                <a:spcPct val="90000"/>
              </a:lnSpc>
              <a:spcBef>
                <a:spcPts val="500"/>
              </a:spcBef>
              <a:buFont typeface="Arial" panose="020B0604020202020204" pitchFamily="34" charset="0"/>
              <a:buNone/>
              <a:defRPr sz="1600"/>
            </a:lvl8pPr>
            <a:lvl9pPr indent="0" algn="ctr">
              <a:lnSpc>
                <a:spcPct val="90000"/>
              </a:lnSpc>
              <a:spcBef>
                <a:spcPts val="500"/>
              </a:spcBef>
              <a:buFont typeface="Arial" panose="020B0604020202020204" pitchFamily="34" charset="0"/>
              <a:buNone/>
              <a:defRPr sz="1600"/>
            </a:lvl9pPr>
          </a:lstStyle>
          <a:p>
            <a:pPr rtl="1"/>
            <a:r>
              <a:rPr lang="he-IL" sz="2000" b="1" dirty="0"/>
              <a:t>סדנת המחקר בהתנהגות פוליטית - פורום המחקר של המכון לחירות ואחריות</a:t>
            </a:r>
          </a:p>
          <a:p>
            <a:pPr rtl="1"/>
            <a:r>
              <a:rPr lang="he-IL" sz="2000" b="1" dirty="0"/>
              <a:t>יולי 2025</a:t>
            </a:r>
            <a:endParaRPr lang="en-US" sz="2000" b="1" dirty="0"/>
          </a:p>
        </p:txBody>
      </p:sp>
      <p:pic>
        <p:nvPicPr>
          <p:cNvPr id="6" name="Picture 5">
            <a:extLst>
              <a:ext uri="{FF2B5EF4-FFF2-40B4-BE49-F238E27FC236}">
                <a16:creationId xmlns:a16="http://schemas.microsoft.com/office/drawing/2014/main" id="{E3A08B15-4A49-972A-98E3-A4B230F7E681}"/>
              </a:ext>
            </a:extLst>
          </p:cNvPr>
          <p:cNvPicPr>
            <a:picLocks noChangeAspect="1"/>
          </p:cNvPicPr>
          <p:nvPr/>
        </p:nvPicPr>
        <p:blipFill>
          <a:blip r:embed="rId3"/>
          <a:stretch>
            <a:fillRect/>
          </a:stretch>
        </p:blipFill>
        <p:spPr>
          <a:xfrm>
            <a:off x="4117814" y="431372"/>
            <a:ext cx="3956369" cy="1082796"/>
          </a:xfrm>
          <a:prstGeom prst="rect">
            <a:avLst/>
          </a:prstGeom>
        </p:spPr>
      </p:pic>
    </p:spTree>
    <p:extLst>
      <p:ext uri="{BB962C8B-B14F-4D97-AF65-F5344CB8AC3E}">
        <p14:creationId xmlns:p14="http://schemas.microsoft.com/office/powerpoint/2010/main" val="33225777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93041-2B2D-4FE6-D2E0-CD76EFE29858}"/>
              </a:ext>
            </a:extLst>
          </p:cNvPr>
          <p:cNvSpPr>
            <a:spLocks noGrp="1"/>
          </p:cNvSpPr>
          <p:nvPr>
            <p:ph type="title"/>
          </p:nvPr>
        </p:nvSpPr>
        <p:spPr>
          <a:xfrm>
            <a:off x="838200" y="365126"/>
            <a:ext cx="10891982" cy="394000"/>
          </a:xfrm>
        </p:spPr>
        <p:txBody>
          <a:bodyPr/>
          <a:lstStyle/>
          <a:p>
            <a:r>
              <a:rPr lang="en-US" dirty="0"/>
              <a:t>Background</a:t>
            </a:r>
          </a:p>
        </p:txBody>
      </p:sp>
      <p:sp>
        <p:nvSpPr>
          <p:cNvPr id="3" name="Content Placeholder 2">
            <a:extLst>
              <a:ext uri="{FF2B5EF4-FFF2-40B4-BE49-F238E27FC236}">
                <a16:creationId xmlns:a16="http://schemas.microsoft.com/office/drawing/2014/main" id="{88C0D365-C240-5A8E-61AE-D072D67BFAE8}"/>
              </a:ext>
            </a:extLst>
          </p:cNvPr>
          <p:cNvSpPr>
            <a:spLocks noGrp="1"/>
          </p:cNvSpPr>
          <p:nvPr>
            <p:ph idx="1"/>
          </p:nvPr>
        </p:nvSpPr>
        <p:spPr>
          <a:xfrm>
            <a:off x="838200" y="849745"/>
            <a:ext cx="10891982" cy="3968062"/>
          </a:xfrm>
        </p:spPr>
        <p:txBody>
          <a:bodyPr>
            <a:normAutofit fontScale="92500" lnSpcReduction="10000"/>
          </a:bodyPr>
          <a:lstStyle/>
          <a:p>
            <a:r>
              <a:rPr lang="en-US" dirty="0"/>
              <a:t>Political extremism has </a:t>
            </a:r>
            <a:r>
              <a:rPr lang="en-US" b="1" dirty="0"/>
              <a:t>accelerated across Western democracies </a:t>
            </a:r>
            <a:r>
              <a:rPr lang="en-US" dirty="0"/>
              <a:t>in recent years, challenging established norms and institutions.</a:t>
            </a:r>
          </a:p>
          <a:p>
            <a:r>
              <a:rPr lang="en-US" b="1" dirty="0"/>
              <a:t>Growing influence of extreme ideologies </a:t>
            </a:r>
            <a:r>
              <a:rPr lang="en-US" dirty="0"/>
              <a:t>and movements across all ends of the political spectrum</a:t>
            </a:r>
          </a:p>
          <a:p>
            <a:r>
              <a:rPr lang="en-US" b="1" dirty="0"/>
              <a:t>Rapid spread </a:t>
            </a:r>
            <a:r>
              <a:rPr lang="en-US" dirty="0"/>
              <a:t>of extremist information and disinformation through digital media platforms. </a:t>
            </a:r>
          </a:p>
          <a:p>
            <a:r>
              <a:rPr lang="en-US" dirty="0"/>
              <a:t>Socio-political extremism is a </a:t>
            </a:r>
            <a:r>
              <a:rPr lang="en-US" b="1" dirty="0"/>
              <a:t>dynamic phenomenon </a:t>
            </a:r>
            <a:r>
              <a:rPr lang="en-US" dirty="0"/>
              <a:t>that evolves over time and across various ideological spectra (Rigoli, 2023)</a:t>
            </a:r>
          </a:p>
          <a:p>
            <a:r>
              <a:rPr lang="en-US" dirty="0"/>
              <a:t>Socio-political extremism is one of </a:t>
            </a:r>
            <a:r>
              <a:rPr lang="en-US" b="1" dirty="0"/>
              <a:t>the most pressing concerns to democratic stability</a:t>
            </a:r>
            <a:r>
              <a:rPr lang="en-US" dirty="0"/>
              <a:t> (Ebner, 2023) and American voters (Lange, 2024). </a:t>
            </a:r>
          </a:p>
          <a:p>
            <a:r>
              <a:rPr lang="en-US" dirty="0"/>
              <a:t> </a:t>
            </a:r>
          </a:p>
        </p:txBody>
      </p:sp>
      <p:sp>
        <p:nvSpPr>
          <p:cNvPr id="4" name="Slide Number Placeholder 3">
            <a:extLst>
              <a:ext uri="{FF2B5EF4-FFF2-40B4-BE49-F238E27FC236}">
                <a16:creationId xmlns:a16="http://schemas.microsoft.com/office/drawing/2014/main" id="{2A8AEAD6-5337-DB0D-3348-70B8DF72FB22}"/>
              </a:ext>
            </a:extLst>
          </p:cNvPr>
          <p:cNvSpPr>
            <a:spLocks noGrp="1"/>
          </p:cNvSpPr>
          <p:nvPr>
            <p:ph type="sldNum" sz="quarter" idx="12"/>
          </p:nvPr>
        </p:nvSpPr>
        <p:spPr>
          <a:xfrm>
            <a:off x="8986982" y="6492874"/>
            <a:ext cx="2743200" cy="228601"/>
          </a:xfrm>
        </p:spPr>
        <p:txBody>
          <a:bodyPr/>
          <a:lstStyle/>
          <a:p>
            <a:fld id="{704D49E2-C640-4137-BB2F-153E894575C6}" type="slidenum">
              <a:rPr lang="en-US" smtClean="0"/>
              <a:pPr/>
              <a:t>2</a:t>
            </a:fld>
            <a:endParaRPr lang="en-US" dirty="0"/>
          </a:p>
        </p:txBody>
      </p:sp>
      <p:sp>
        <p:nvSpPr>
          <p:cNvPr id="5" name="TextBox 4">
            <a:extLst>
              <a:ext uri="{FF2B5EF4-FFF2-40B4-BE49-F238E27FC236}">
                <a16:creationId xmlns:a16="http://schemas.microsoft.com/office/drawing/2014/main" id="{25C290C9-74D5-700B-8207-CA892E8700EA}"/>
              </a:ext>
            </a:extLst>
          </p:cNvPr>
          <p:cNvSpPr txBox="1"/>
          <p:nvPr/>
        </p:nvSpPr>
        <p:spPr>
          <a:xfrm>
            <a:off x="838200" y="4556763"/>
            <a:ext cx="10891983" cy="1663248"/>
          </a:xfrm>
          <a:prstGeom prst="rect">
            <a:avLst/>
          </a:prstGeom>
        </p:spPr>
        <p:txBody>
          <a:bodyPr vert="horz" lIns="91440" tIns="45720" rIns="91440" bIns="45720" rtlCol="0" anchor="ctr">
            <a:noAutofit/>
          </a:bodyPr>
          <a:lstStyle/>
          <a:p>
            <a:pPr marL="228600" marR="0">
              <a:lnSpc>
                <a:spcPct val="90000"/>
              </a:lnSpc>
              <a:spcBef>
                <a:spcPts val="0"/>
              </a:spcBef>
              <a:spcAft>
                <a:spcPts val="1200"/>
              </a:spcAft>
            </a:pPr>
            <a:r>
              <a:rPr lang="en-US" sz="3200" b="1" i="1" dirty="0">
                <a:solidFill>
                  <a:srgbClr val="002060"/>
                </a:solidFill>
                <a:effectLst/>
              </a:rPr>
              <a:t>‘Why study political extremism? Well, extremists typically kill people in large numbers.’ </a:t>
            </a:r>
          </a:p>
          <a:p>
            <a:pPr marL="228600" marR="0" algn="r">
              <a:lnSpc>
                <a:spcPct val="90000"/>
              </a:lnSpc>
              <a:spcBef>
                <a:spcPts val="0"/>
              </a:spcBef>
              <a:spcAft>
                <a:spcPts val="1200"/>
              </a:spcAft>
            </a:pPr>
            <a:r>
              <a:rPr lang="en-US" sz="3200" i="1" dirty="0">
                <a:solidFill>
                  <a:srgbClr val="002060"/>
                </a:solidFill>
                <a:effectLst/>
              </a:rPr>
              <a:t>(Midlarsky, 2011) </a:t>
            </a:r>
          </a:p>
        </p:txBody>
      </p:sp>
    </p:spTree>
    <p:extLst>
      <p:ext uri="{BB962C8B-B14F-4D97-AF65-F5344CB8AC3E}">
        <p14:creationId xmlns:p14="http://schemas.microsoft.com/office/powerpoint/2010/main" val="1760277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B0AF4-45C5-141D-2F36-73B2F6481F58}"/>
              </a:ext>
            </a:extLst>
          </p:cNvPr>
          <p:cNvSpPr>
            <a:spLocks noGrp="1"/>
          </p:cNvSpPr>
          <p:nvPr>
            <p:ph type="title"/>
          </p:nvPr>
        </p:nvSpPr>
        <p:spPr>
          <a:xfrm>
            <a:off x="0" y="365126"/>
            <a:ext cx="12192000" cy="394000"/>
          </a:xfrm>
        </p:spPr>
        <p:txBody>
          <a:bodyPr>
            <a:normAutofit fontScale="90000"/>
          </a:bodyPr>
          <a:lstStyle/>
          <a:p>
            <a:r>
              <a:rPr lang="en-US" dirty="0"/>
              <a:t>Theoretical Background (Gap)</a:t>
            </a:r>
          </a:p>
        </p:txBody>
      </p:sp>
      <p:sp>
        <p:nvSpPr>
          <p:cNvPr id="3" name="Content Placeholder 2">
            <a:extLst>
              <a:ext uri="{FF2B5EF4-FFF2-40B4-BE49-F238E27FC236}">
                <a16:creationId xmlns:a16="http://schemas.microsoft.com/office/drawing/2014/main" id="{383A33F5-3930-C760-C795-EDF506C3E70F}"/>
              </a:ext>
            </a:extLst>
          </p:cNvPr>
          <p:cNvSpPr>
            <a:spLocks noGrp="1"/>
          </p:cNvSpPr>
          <p:nvPr>
            <p:ph idx="1"/>
          </p:nvPr>
        </p:nvSpPr>
        <p:spPr>
          <a:xfrm>
            <a:off x="838200" y="849744"/>
            <a:ext cx="10891982" cy="5541819"/>
          </a:xfrm>
        </p:spPr>
        <p:txBody>
          <a:bodyPr>
            <a:normAutofit/>
          </a:bodyPr>
          <a:lstStyle/>
          <a:p>
            <a:r>
              <a:rPr lang="en-US" dirty="0"/>
              <a:t>There is no universally accepted definition of political extremism, rendering the term elusive (Bötticher, 2017; Eatwell and Goodwin, 2010; Sotlar, 2004; Svetlichny and Khorev, 2022). </a:t>
            </a:r>
          </a:p>
          <a:p>
            <a:r>
              <a:rPr lang="en-US" dirty="0"/>
              <a:t>The conceptualization and operationalization of political extremism lack consistent dimensionality.</a:t>
            </a:r>
          </a:p>
          <a:p>
            <a:r>
              <a:rPr lang="en-US" dirty="0"/>
              <a:t>The existing academic research is highly context-dependent or context-specific (Rich, 2021) (in terms of ideological content, socio-political context, and historical period).</a:t>
            </a:r>
          </a:p>
          <a:p>
            <a:endParaRPr lang="en-US" dirty="0"/>
          </a:p>
          <a:p>
            <a:r>
              <a:rPr lang="en-US" i="1" dirty="0">
                <a:solidFill>
                  <a:schemeClr val="accent1"/>
                </a:solidFill>
              </a:rPr>
              <a:t>This research introduces a context-independent, multidimensional conceptualization and operationalization of political extremism, including a “Political Extremism Gauge." </a:t>
            </a:r>
          </a:p>
          <a:p>
            <a:r>
              <a:rPr lang="en-US" i="1" dirty="0">
                <a:solidFill>
                  <a:schemeClr val="accent1"/>
                </a:solidFill>
              </a:rPr>
              <a:t>The study comprises three distinct research projects that validate and demonstrate the theoretical and practical utility of this new framework. </a:t>
            </a:r>
          </a:p>
        </p:txBody>
      </p:sp>
      <p:sp>
        <p:nvSpPr>
          <p:cNvPr id="4" name="Slide Number Placeholder 3">
            <a:extLst>
              <a:ext uri="{FF2B5EF4-FFF2-40B4-BE49-F238E27FC236}">
                <a16:creationId xmlns:a16="http://schemas.microsoft.com/office/drawing/2014/main" id="{1FA567D5-B56A-B444-6573-B89753D81D78}"/>
              </a:ext>
            </a:extLst>
          </p:cNvPr>
          <p:cNvSpPr>
            <a:spLocks noGrp="1"/>
          </p:cNvSpPr>
          <p:nvPr>
            <p:ph type="sldNum" sz="quarter" idx="12"/>
          </p:nvPr>
        </p:nvSpPr>
        <p:spPr>
          <a:xfrm>
            <a:off x="8986982" y="6492874"/>
            <a:ext cx="2743200" cy="228601"/>
          </a:xfrm>
        </p:spPr>
        <p:txBody>
          <a:bodyPr/>
          <a:lstStyle/>
          <a:p>
            <a:fld id="{704D49E2-C640-4137-BB2F-153E894575C6}" type="slidenum">
              <a:rPr lang="en-US" smtClean="0"/>
              <a:pPr/>
              <a:t>3</a:t>
            </a:fld>
            <a:endParaRPr lang="en-US" dirty="0"/>
          </a:p>
        </p:txBody>
      </p:sp>
    </p:spTree>
    <p:extLst>
      <p:ext uri="{BB962C8B-B14F-4D97-AF65-F5344CB8AC3E}">
        <p14:creationId xmlns:p14="http://schemas.microsoft.com/office/powerpoint/2010/main" val="2742650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BE0F8-79C0-F98C-30FE-97637AAAA678}"/>
              </a:ext>
            </a:extLst>
          </p:cNvPr>
          <p:cNvSpPr>
            <a:spLocks noGrp="1"/>
          </p:cNvSpPr>
          <p:nvPr>
            <p:ph type="title"/>
          </p:nvPr>
        </p:nvSpPr>
        <p:spPr>
          <a:xfrm>
            <a:off x="0" y="394309"/>
            <a:ext cx="12192000" cy="394000"/>
          </a:xfrm>
        </p:spPr>
        <p:txBody>
          <a:bodyPr/>
          <a:lstStyle/>
          <a:p>
            <a:r>
              <a:rPr lang="en-US" dirty="0"/>
              <a:t>Research Structure </a:t>
            </a:r>
          </a:p>
        </p:txBody>
      </p:sp>
      <p:sp>
        <p:nvSpPr>
          <p:cNvPr id="4" name="Slide Number Placeholder 3">
            <a:extLst>
              <a:ext uri="{FF2B5EF4-FFF2-40B4-BE49-F238E27FC236}">
                <a16:creationId xmlns:a16="http://schemas.microsoft.com/office/drawing/2014/main" id="{2974E44F-5B56-5672-6C67-F15AC81C3B3F}"/>
              </a:ext>
            </a:extLst>
          </p:cNvPr>
          <p:cNvSpPr>
            <a:spLocks noGrp="1"/>
          </p:cNvSpPr>
          <p:nvPr>
            <p:ph type="sldNum" sz="quarter" idx="12"/>
          </p:nvPr>
        </p:nvSpPr>
        <p:spPr/>
        <p:txBody>
          <a:bodyPr/>
          <a:lstStyle/>
          <a:p>
            <a:fld id="{9EA0FD28-5B84-410E-9DA4-1F58A7902DAF}" type="slidenum">
              <a:rPr lang="en-US" smtClean="0"/>
              <a:t>4</a:t>
            </a:fld>
            <a:endParaRPr lang="en-US"/>
          </a:p>
        </p:txBody>
      </p:sp>
      <p:sp>
        <p:nvSpPr>
          <p:cNvPr id="5" name="Rectangle: Rounded Corners 4">
            <a:extLst>
              <a:ext uri="{FF2B5EF4-FFF2-40B4-BE49-F238E27FC236}">
                <a16:creationId xmlns:a16="http://schemas.microsoft.com/office/drawing/2014/main" id="{BF5E5498-A18C-CB84-D735-1900E17E930D}"/>
              </a:ext>
            </a:extLst>
          </p:cNvPr>
          <p:cNvSpPr/>
          <p:nvPr/>
        </p:nvSpPr>
        <p:spPr>
          <a:xfrm>
            <a:off x="2396961" y="1130708"/>
            <a:ext cx="7690934" cy="535741"/>
          </a:xfrm>
          <a:prstGeom prst="roundRect">
            <a:avLst/>
          </a:prstGeom>
          <a:solidFill>
            <a:srgbClr val="F2F0E8"/>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MULTIDIMENSIONAL CONTEXT-FREE CONCEPTUALIZATION AND OPERATIONALIZATION OF POLITICAL EXTREMISM</a:t>
            </a:r>
          </a:p>
        </p:txBody>
      </p:sp>
      <p:sp>
        <p:nvSpPr>
          <p:cNvPr id="6" name="Rectangle: Rounded Corners 5">
            <a:extLst>
              <a:ext uri="{FF2B5EF4-FFF2-40B4-BE49-F238E27FC236}">
                <a16:creationId xmlns:a16="http://schemas.microsoft.com/office/drawing/2014/main" id="{01FB7BEF-4A1E-2D58-FD6E-39AD53039612}"/>
              </a:ext>
            </a:extLst>
          </p:cNvPr>
          <p:cNvSpPr/>
          <p:nvPr/>
        </p:nvSpPr>
        <p:spPr>
          <a:xfrm>
            <a:off x="4703375" y="1983717"/>
            <a:ext cx="3078111" cy="388134"/>
          </a:xfrm>
          <a:prstGeom prst="roundRect">
            <a:avLst/>
          </a:prstGeom>
          <a:solidFill>
            <a:srgbClr val="E5DBCC"/>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Political Extremism Gauge</a:t>
            </a:r>
          </a:p>
        </p:txBody>
      </p:sp>
      <p:sp>
        <p:nvSpPr>
          <p:cNvPr id="7" name="Rectangle: Rounded Corners 6">
            <a:extLst>
              <a:ext uri="{FF2B5EF4-FFF2-40B4-BE49-F238E27FC236}">
                <a16:creationId xmlns:a16="http://schemas.microsoft.com/office/drawing/2014/main" id="{B4A3E42C-752B-1DF7-03EA-BF0B2B722B76}"/>
              </a:ext>
            </a:extLst>
          </p:cNvPr>
          <p:cNvSpPr/>
          <p:nvPr/>
        </p:nvSpPr>
        <p:spPr>
          <a:xfrm>
            <a:off x="2387094" y="2861870"/>
            <a:ext cx="2306414" cy="1355229"/>
          </a:xfrm>
          <a:prstGeom prst="roundRect">
            <a:avLst/>
          </a:prstGeom>
          <a:solidFill>
            <a:srgbClr val="E8EEE8"/>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Comparative Research using Global Surveys</a:t>
            </a:r>
          </a:p>
        </p:txBody>
      </p:sp>
      <p:sp>
        <p:nvSpPr>
          <p:cNvPr id="8" name="Rectangle: Rounded Corners 7">
            <a:extLst>
              <a:ext uri="{FF2B5EF4-FFF2-40B4-BE49-F238E27FC236}">
                <a16:creationId xmlns:a16="http://schemas.microsoft.com/office/drawing/2014/main" id="{927C7F94-3B69-F163-3986-A65DDF917400}"/>
              </a:ext>
            </a:extLst>
          </p:cNvPr>
          <p:cNvSpPr/>
          <p:nvPr/>
        </p:nvSpPr>
        <p:spPr>
          <a:xfrm>
            <a:off x="7781475" y="2860930"/>
            <a:ext cx="2306414" cy="1356169"/>
          </a:xfrm>
          <a:prstGeom prst="roundRect">
            <a:avLst/>
          </a:prstGeom>
          <a:solidFill>
            <a:srgbClr val="E8EEE8"/>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Threat Perceptions and Political Extremism</a:t>
            </a:r>
          </a:p>
        </p:txBody>
      </p:sp>
      <p:sp>
        <p:nvSpPr>
          <p:cNvPr id="12" name="Rectangle: Rounded Corners 11">
            <a:extLst>
              <a:ext uri="{FF2B5EF4-FFF2-40B4-BE49-F238E27FC236}">
                <a16:creationId xmlns:a16="http://schemas.microsoft.com/office/drawing/2014/main" id="{5702A8AD-E6E5-280D-26C2-A78663A7E4B7}"/>
              </a:ext>
            </a:extLst>
          </p:cNvPr>
          <p:cNvSpPr/>
          <p:nvPr/>
        </p:nvSpPr>
        <p:spPr>
          <a:xfrm>
            <a:off x="4703370" y="4707120"/>
            <a:ext cx="3078111" cy="388135"/>
          </a:xfrm>
          <a:prstGeom prst="roundRect">
            <a:avLst/>
          </a:prstGeom>
          <a:solidFill>
            <a:srgbClr val="E5DBCC"/>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Open-Source Portal</a:t>
            </a:r>
          </a:p>
        </p:txBody>
      </p:sp>
      <p:sp>
        <p:nvSpPr>
          <p:cNvPr id="13" name="Rectangle: Rounded Corners 12">
            <a:extLst>
              <a:ext uri="{FF2B5EF4-FFF2-40B4-BE49-F238E27FC236}">
                <a16:creationId xmlns:a16="http://schemas.microsoft.com/office/drawing/2014/main" id="{016C1552-6FAD-304F-CE4A-C87FEC076A86}"/>
              </a:ext>
            </a:extLst>
          </p:cNvPr>
          <p:cNvSpPr/>
          <p:nvPr/>
        </p:nvSpPr>
        <p:spPr>
          <a:xfrm>
            <a:off x="4201118" y="5489007"/>
            <a:ext cx="4082617" cy="388136"/>
          </a:xfrm>
          <a:prstGeom prst="roundRect">
            <a:avLst/>
          </a:prstGeom>
          <a:solidFill>
            <a:srgbClr val="F2F0E8"/>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Conclusions and Future Research</a:t>
            </a:r>
          </a:p>
        </p:txBody>
      </p:sp>
      <p:cxnSp>
        <p:nvCxnSpPr>
          <p:cNvPr id="14" name="Straight Arrow Connector 13">
            <a:extLst>
              <a:ext uri="{FF2B5EF4-FFF2-40B4-BE49-F238E27FC236}">
                <a16:creationId xmlns:a16="http://schemas.microsoft.com/office/drawing/2014/main" id="{8F8B2A89-A048-C745-1A45-742921E196AF}"/>
              </a:ext>
            </a:extLst>
          </p:cNvPr>
          <p:cNvCxnSpPr>
            <a:stCxn id="5" idx="2"/>
            <a:endCxn id="6" idx="0"/>
          </p:cNvCxnSpPr>
          <p:nvPr/>
        </p:nvCxnSpPr>
        <p:spPr>
          <a:xfrm>
            <a:off x="6242429" y="1666449"/>
            <a:ext cx="2" cy="317268"/>
          </a:xfrm>
          <a:prstGeom prst="straightConnector1">
            <a:avLst/>
          </a:pr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cxnSp>
      <p:cxnSp>
        <p:nvCxnSpPr>
          <p:cNvPr id="15" name="Connector: Curved 14">
            <a:extLst>
              <a:ext uri="{FF2B5EF4-FFF2-40B4-BE49-F238E27FC236}">
                <a16:creationId xmlns:a16="http://schemas.microsoft.com/office/drawing/2014/main" id="{E511B61C-EB2B-37B9-5491-57648A09D7B6}"/>
              </a:ext>
            </a:extLst>
          </p:cNvPr>
          <p:cNvCxnSpPr>
            <a:cxnSpLocks/>
            <a:stCxn id="6" idx="1"/>
            <a:endCxn id="7" idx="0"/>
          </p:cNvCxnSpPr>
          <p:nvPr/>
        </p:nvCxnSpPr>
        <p:spPr>
          <a:xfrm rot="10800000" flipV="1">
            <a:off x="3540301" y="2177784"/>
            <a:ext cx="1163074" cy="684086"/>
          </a:xfrm>
          <a:prstGeom prst="curvedConnector2">
            <a:avLst/>
          </a:pr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cxnSp>
      <p:cxnSp>
        <p:nvCxnSpPr>
          <p:cNvPr id="16" name="Connector: Curved 15">
            <a:extLst>
              <a:ext uri="{FF2B5EF4-FFF2-40B4-BE49-F238E27FC236}">
                <a16:creationId xmlns:a16="http://schemas.microsoft.com/office/drawing/2014/main" id="{0EE403CC-435B-C93C-9410-1A88F831DACC}"/>
              </a:ext>
            </a:extLst>
          </p:cNvPr>
          <p:cNvCxnSpPr>
            <a:cxnSpLocks/>
            <a:stCxn id="6" idx="3"/>
            <a:endCxn id="8" idx="0"/>
          </p:cNvCxnSpPr>
          <p:nvPr/>
        </p:nvCxnSpPr>
        <p:spPr>
          <a:xfrm>
            <a:off x="7781486" y="2177784"/>
            <a:ext cx="1153196" cy="683146"/>
          </a:xfrm>
          <a:prstGeom prst="curvedConnector2">
            <a:avLst/>
          </a:pr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cxnSp>
      <p:cxnSp>
        <p:nvCxnSpPr>
          <p:cNvPr id="17" name="Straight Arrow Connector 16">
            <a:extLst>
              <a:ext uri="{FF2B5EF4-FFF2-40B4-BE49-F238E27FC236}">
                <a16:creationId xmlns:a16="http://schemas.microsoft.com/office/drawing/2014/main" id="{B1B46806-6F9E-168B-DB29-C8AD8FA75A79}"/>
              </a:ext>
            </a:extLst>
          </p:cNvPr>
          <p:cNvCxnSpPr>
            <a:stCxn id="12" idx="2"/>
            <a:endCxn id="13" idx="0"/>
          </p:cNvCxnSpPr>
          <p:nvPr/>
        </p:nvCxnSpPr>
        <p:spPr>
          <a:xfrm>
            <a:off x="6242426" y="5095255"/>
            <a:ext cx="1" cy="393752"/>
          </a:xfrm>
          <a:prstGeom prst="straightConnector1">
            <a:avLst/>
          </a:pr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cxnSp>
      <p:cxnSp>
        <p:nvCxnSpPr>
          <p:cNvPr id="21" name="Connector: Curved 20">
            <a:extLst>
              <a:ext uri="{FF2B5EF4-FFF2-40B4-BE49-F238E27FC236}">
                <a16:creationId xmlns:a16="http://schemas.microsoft.com/office/drawing/2014/main" id="{2CE11291-2AB1-D4D9-C9F7-0630BBC544BB}"/>
              </a:ext>
            </a:extLst>
          </p:cNvPr>
          <p:cNvCxnSpPr>
            <a:cxnSpLocks/>
            <a:endCxn id="12" idx="3"/>
          </p:cNvCxnSpPr>
          <p:nvPr/>
        </p:nvCxnSpPr>
        <p:spPr>
          <a:xfrm rot="5400000">
            <a:off x="8016507" y="3983013"/>
            <a:ext cx="683149" cy="1153200"/>
          </a:xfrm>
          <a:prstGeom prst="curvedConnector2">
            <a:avLst/>
          </a:pr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cxnSp>
      <p:cxnSp>
        <p:nvCxnSpPr>
          <p:cNvPr id="22" name="Straight Arrow Connector 21">
            <a:extLst>
              <a:ext uri="{FF2B5EF4-FFF2-40B4-BE49-F238E27FC236}">
                <a16:creationId xmlns:a16="http://schemas.microsoft.com/office/drawing/2014/main" id="{0BA80AEE-0DE0-3AE2-5112-9142F9A94D05}"/>
              </a:ext>
            </a:extLst>
          </p:cNvPr>
          <p:cNvCxnSpPr>
            <a:cxnSpLocks/>
            <a:endCxn id="12" idx="0"/>
          </p:cNvCxnSpPr>
          <p:nvPr/>
        </p:nvCxnSpPr>
        <p:spPr>
          <a:xfrm>
            <a:off x="6237491" y="4218039"/>
            <a:ext cx="4935" cy="489081"/>
          </a:xfrm>
          <a:prstGeom prst="straightConnector1">
            <a:avLst/>
          </a:pr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cxnSp>
      <p:cxnSp>
        <p:nvCxnSpPr>
          <p:cNvPr id="23" name="Connector: Curved 22">
            <a:extLst>
              <a:ext uri="{FF2B5EF4-FFF2-40B4-BE49-F238E27FC236}">
                <a16:creationId xmlns:a16="http://schemas.microsoft.com/office/drawing/2014/main" id="{E3AA0EC9-CB87-7421-E2AB-750B503D112A}"/>
              </a:ext>
            </a:extLst>
          </p:cNvPr>
          <p:cNvCxnSpPr>
            <a:cxnSpLocks/>
            <a:endCxn id="12" idx="1"/>
          </p:cNvCxnSpPr>
          <p:nvPr/>
        </p:nvCxnSpPr>
        <p:spPr>
          <a:xfrm rot="16200000" flipH="1">
            <a:off x="3780262" y="3978079"/>
            <a:ext cx="683149" cy="1163068"/>
          </a:xfrm>
          <a:prstGeom prst="curvedConnector2">
            <a:avLst/>
          </a:pr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cxnSp>
      <p:sp>
        <p:nvSpPr>
          <p:cNvPr id="24" name="Rectangle: Rounded Corners 23">
            <a:extLst>
              <a:ext uri="{FF2B5EF4-FFF2-40B4-BE49-F238E27FC236}">
                <a16:creationId xmlns:a16="http://schemas.microsoft.com/office/drawing/2014/main" id="{265CBBD1-E6AD-78AC-5466-245D277979C2}"/>
              </a:ext>
            </a:extLst>
          </p:cNvPr>
          <p:cNvSpPr/>
          <p:nvPr/>
        </p:nvSpPr>
        <p:spPr>
          <a:xfrm>
            <a:off x="5079357" y="2860932"/>
            <a:ext cx="2306413" cy="1356167"/>
          </a:xfrm>
          <a:prstGeom prst="roundRect">
            <a:avLst/>
          </a:prstGeom>
          <a:solidFill>
            <a:srgbClr val="E8EEE8"/>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Destabilizing Events and Political Extremism</a:t>
            </a:r>
          </a:p>
        </p:txBody>
      </p:sp>
      <p:cxnSp>
        <p:nvCxnSpPr>
          <p:cNvPr id="51" name="Straight Arrow Connector 50">
            <a:extLst>
              <a:ext uri="{FF2B5EF4-FFF2-40B4-BE49-F238E27FC236}">
                <a16:creationId xmlns:a16="http://schemas.microsoft.com/office/drawing/2014/main" id="{25E56F16-E9E7-FE04-F957-972E1D77FC5E}"/>
              </a:ext>
            </a:extLst>
          </p:cNvPr>
          <p:cNvCxnSpPr>
            <a:cxnSpLocks/>
            <a:stCxn id="6" idx="2"/>
            <a:endCxn id="24" idx="0"/>
          </p:cNvCxnSpPr>
          <p:nvPr/>
        </p:nvCxnSpPr>
        <p:spPr>
          <a:xfrm flipH="1">
            <a:off x="6232564" y="2371851"/>
            <a:ext cx="9867" cy="489081"/>
          </a:xfrm>
          <a:prstGeom prst="straightConnector1">
            <a:avLst/>
          </a:pr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169367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500" fill="hold"/>
                                        <p:tgtEl>
                                          <p:spTgt spid="5"/>
                                        </p:tgtEl>
                                        <p:attrNameLst>
                                          <p:attrName>stroke.color</p:attrName>
                                        </p:attrNameLst>
                                      </p:cBhvr>
                                      <p:to>
                                        <a:schemeClr val="accent2"/>
                                      </p:to>
                                    </p:animClr>
                                    <p:set>
                                      <p:cBhvr>
                                        <p:cTn id="7" dur="500" fill="hold"/>
                                        <p:tgtEl>
                                          <p:spTgt spid="5"/>
                                        </p:tgtEl>
                                        <p:attrNameLst>
                                          <p:attrName>stroke.on</p:attrName>
                                        </p:attrNameLst>
                                      </p:cBhvr>
                                      <p:to>
                                        <p:strVal val="true"/>
                                      </p:to>
                                    </p:set>
                                  </p:childTnLst>
                                </p:cTn>
                              </p:par>
                            </p:childTnLst>
                          </p:cTn>
                        </p:par>
                      </p:childTnLst>
                    </p:cTn>
                  </p:par>
                  <p:par>
                    <p:cTn id="8" fill="hold">
                      <p:stCondLst>
                        <p:cond delay="indefinite"/>
                      </p:stCondLst>
                      <p:childTnLst>
                        <p:par>
                          <p:cTn id="9" fill="hold">
                            <p:stCondLst>
                              <p:cond delay="0"/>
                            </p:stCondLst>
                            <p:childTnLst>
                              <p:par>
                                <p:cTn id="10" presetID="7" presetClass="emph" presetSubtype="2" fill="hold" nodeType="clickEffect">
                                  <p:stCondLst>
                                    <p:cond delay="0"/>
                                  </p:stCondLst>
                                  <p:childTnLst>
                                    <p:animClr clrSpc="rgb" dir="cw">
                                      <p:cBhvr>
                                        <p:cTn id="11" dur="500" fill="hold"/>
                                        <p:tgtEl>
                                          <p:spTgt spid="6"/>
                                        </p:tgtEl>
                                        <p:attrNameLst>
                                          <p:attrName>stroke.color</p:attrName>
                                        </p:attrNameLst>
                                      </p:cBhvr>
                                      <p:to>
                                        <a:schemeClr val="accent2"/>
                                      </p:to>
                                    </p:animClr>
                                    <p:set>
                                      <p:cBhvr>
                                        <p:cTn id="12" dur="500" fill="hold"/>
                                        <p:tgtEl>
                                          <p:spTgt spid="6"/>
                                        </p:tgtEl>
                                        <p:attrNameLst>
                                          <p:attrName>stroke.on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7" presetClass="emph" presetSubtype="2" fill="hold" nodeType="clickEffect">
                                  <p:stCondLst>
                                    <p:cond delay="0"/>
                                  </p:stCondLst>
                                  <p:childTnLst>
                                    <p:animClr clrSpc="rgb" dir="cw">
                                      <p:cBhvr>
                                        <p:cTn id="16" dur="500" fill="hold"/>
                                        <p:tgtEl>
                                          <p:spTgt spid="7"/>
                                        </p:tgtEl>
                                        <p:attrNameLst>
                                          <p:attrName>stroke.color</p:attrName>
                                        </p:attrNameLst>
                                      </p:cBhvr>
                                      <p:to>
                                        <a:schemeClr val="accent2"/>
                                      </p:to>
                                    </p:animClr>
                                    <p:set>
                                      <p:cBhvr>
                                        <p:cTn id="17" dur="500" fill="hold"/>
                                        <p:tgtEl>
                                          <p:spTgt spid="7"/>
                                        </p:tgtEl>
                                        <p:attrNameLst>
                                          <p:attrName>stroke.on</p:attrName>
                                        </p:attrNameLst>
                                      </p:cBhvr>
                                      <p:to>
                                        <p:strVal val="true"/>
                                      </p:to>
                                    </p:set>
                                  </p:childTnLst>
                                </p:cTn>
                              </p:par>
                            </p:childTnLst>
                          </p:cTn>
                        </p:par>
                      </p:childTnLst>
                    </p:cTn>
                  </p:par>
                  <p:par>
                    <p:cTn id="18" fill="hold">
                      <p:stCondLst>
                        <p:cond delay="indefinite"/>
                      </p:stCondLst>
                      <p:childTnLst>
                        <p:par>
                          <p:cTn id="19" fill="hold">
                            <p:stCondLst>
                              <p:cond delay="0"/>
                            </p:stCondLst>
                            <p:childTnLst>
                              <p:par>
                                <p:cTn id="20" presetID="7" presetClass="emph" presetSubtype="2" fill="hold" nodeType="clickEffect">
                                  <p:stCondLst>
                                    <p:cond delay="0"/>
                                  </p:stCondLst>
                                  <p:childTnLst>
                                    <p:animClr clrSpc="rgb" dir="cw">
                                      <p:cBhvr>
                                        <p:cTn id="21" dur="500" fill="hold"/>
                                        <p:tgtEl>
                                          <p:spTgt spid="24"/>
                                        </p:tgtEl>
                                        <p:attrNameLst>
                                          <p:attrName>stroke.color</p:attrName>
                                        </p:attrNameLst>
                                      </p:cBhvr>
                                      <p:to>
                                        <a:schemeClr val="accent2"/>
                                      </p:to>
                                    </p:animClr>
                                    <p:set>
                                      <p:cBhvr>
                                        <p:cTn id="22" dur="500" fill="hold"/>
                                        <p:tgtEl>
                                          <p:spTgt spid="24"/>
                                        </p:tgtEl>
                                        <p:attrNameLst>
                                          <p:attrName>stroke.on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7" presetClass="emph" presetSubtype="2" fill="hold" nodeType="clickEffect">
                                  <p:stCondLst>
                                    <p:cond delay="0"/>
                                  </p:stCondLst>
                                  <p:childTnLst>
                                    <p:animClr clrSpc="rgb" dir="cw">
                                      <p:cBhvr>
                                        <p:cTn id="26" dur="500" fill="hold"/>
                                        <p:tgtEl>
                                          <p:spTgt spid="8"/>
                                        </p:tgtEl>
                                        <p:attrNameLst>
                                          <p:attrName>stroke.color</p:attrName>
                                        </p:attrNameLst>
                                      </p:cBhvr>
                                      <p:to>
                                        <a:schemeClr val="accent2"/>
                                      </p:to>
                                    </p:animClr>
                                    <p:set>
                                      <p:cBhvr>
                                        <p:cTn id="27" dur="500" fill="hold"/>
                                        <p:tgtEl>
                                          <p:spTgt spid="8"/>
                                        </p:tgtEl>
                                        <p:attrNameLst>
                                          <p:attrName>stroke.on</p:attrName>
                                        </p:attrNameLst>
                                      </p:cBhvr>
                                      <p:to>
                                        <p:strVal val="true"/>
                                      </p:to>
                                    </p:set>
                                  </p:childTnLst>
                                </p:cTn>
                              </p:par>
                            </p:childTnLst>
                          </p:cTn>
                        </p:par>
                      </p:childTnLst>
                    </p:cTn>
                  </p:par>
                  <p:par>
                    <p:cTn id="28" fill="hold">
                      <p:stCondLst>
                        <p:cond delay="indefinite"/>
                      </p:stCondLst>
                      <p:childTnLst>
                        <p:par>
                          <p:cTn id="29" fill="hold">
                            <p:stCondLst>
                              <p:cond delay="0"/>
                            </p:stCondLst>
                            <p:childTnLst>
                              <p:par>
                                <p:cTn id="30" presetID="7" presetClass="emph" presetSubtype="2" fill="hold" nodeType="clickEffect">
                                  <p:stCondLst>
                                    <p:cond delay="0"/>
                                  </p:stCondLst>
                                  <p:childTnLst>
                                    <p:animClr clrSpc="rgb" dir="cw">
                                      <p:cBhvr>
                                        <p:cTn id="31" dur="500" fill="hold"/>
                                        <p:tgtEl>
                                          <p:spTgt spid="12"/>
                                        </p:tgtEl>
                                        <p:attrNameLst>
                                          <p:attrName>stroke.color</p:attrName>
                                        </p:attrNameLst>
                                      </p:cBhvr>
                                      <p:to>
                                        <a:schemeClr val="accent2"/>
                                      </p:to>
                                    </p:animClr>
                                    <p:set>
                                      <p:cBhvr>
                                        <p:cTn id="32" dur="500" fill="hold"/>
                                        <p:tgtEl>
                                          <p:spTgt spid="12"/>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08C7AF-B467-5F7D-732D-2D167FDBBC34}"/>
              </a:ext>
            </a:extLst>
          </p:cNvPr>
          <p:cNvSpPr>
            <a:spLocks noGrp="1"/>
          </p:cNvSpPr>
          <p:nvPr>
            <p:ph type="title"/>
          </p:nvPr>
        </p:nvSpPr>
        <p:spPr>
          <a:xfrm>
            <a:off x="0" y="365126"/>
            <a:ext cx="12192000" cy="394000"/>
          </a:xfrm>
        </p:spPr>
        <p:txBody>
          <a:bodyPr/>
          <a:lstStyle/>
          <a:p>
            <a:r>
              <a:rPr lang="en-US" dirty="0"/>
              <a:t>The effect of socio-political destabilizing events on political extremism</a:t>
            </a:r>
          </a:p>
        </p:txBody>
      </p:sp>
      <p:sp>
        <p:nvSpPr>
          <p:cNvPr id="5" name="Text Placeholder 4">
            <a:extLst>
              <a:ext uri="{FF2B5EF4-FFF2-40B4-BE49-F238E27FC236}">
                <a16:creationId xmlns:a16="http://schemas.microsoft.com/office/drawing/2014/main" id="{84283B22-CAD9-03A6-3E4C-E4CE09B0B617}"/>
              </a:ext>
            </a:extLst>
          </p:cNvPr>
          <p:cNvSpPr>
            <a:spLocks noGrp="1"/>
          </p:cNvSpPr>
          <p:nvPr>
            <p:ph idx="1"/>
          </p:nvPr>
        </p:nvSpPr>
        <p:spPr>
          <a:xfrm>
            <a:off x="838200" y="849744"/>
            <a:ext cx="10891982" cy="5541819"/>
          </a:xfrm>
        </p:spPr>
        <p:txBody>
          <a:bodyPr/>
          <a:lstStyle/>
          <a:p>
            <a:r>
              <a:rPr lang="en-US" dirty="0"/>
              <a:t>The research aims to assess the new political extremism conceptualization and operationalization by addressing questions of how destabilizing events affect political extremism using an Israeli case study.</a:t>
            </a:r>
          </a:p>
          <a:p>
            <a:endParaRPr lang="en-US" dirty="0"/>
          </a:p>
          <a:p>
            <a:endParaRPr lang="en-US" dirty="0"/>
          </a:p>
        </p:txBody>
      </p:sp>
      <p:sp>
        <p:nvSpPr>
          <p:cNvPr id="3" name="Slide Number Placeholder 2">
            <a:extLst>
              <a:ext uri="{FF2B5EF4-FFF2-40B4-BE49-F238E27FC236}">
                <a16:creationId xmlns:a16="http://schemas.microsoft.com/office/drawing/2014/main" id="{D00B3B85-CF00-0890-70DE-108FEE9A09C0}"/>
              </a:ext>
            </a:extLst>
          </p:cNvPr>
          <p:cNvSpPr>
            <a:spLocks noGrp="1"/>
          </p:cNvSpPr>
          <p:nvPr>
            <p:ph type="sldNum" sz="quarter" idx="12"/>
          </p:nvPr>
        </p:nvSpPr>
        <p:spPr>
          <a:xfrm>
            <a:off x="8986982" y="6492874"/>
            <a:ext cx="2743200" cy="228601"/>
          </a:xfrm>
        </p:spPr>
        <p:txBody>
          <a:bodyPr/>
          <a:lstStyle/>
          <a:p>
            <a:fld id="{704D49E2-C640-4137-BB2F-153E894575C6}" type="slidenum">
              <a:rPr lang="en-US" smtClean="0"/>
              <a:pPr/>
              <a:t>5</a:t>
            </a:fld>
            <a:endParaRPr lang="en-US" dirty="0"/>
          </a:p>
        </p:txBody>
      </p:sp>
    </p:spTree>
    <p:extLst>
      <p:ext uri="{BB962C8B-B14F-4D97-AF65-F5344CB8AC3E}">
        <p14:creationId xmlns:p14="http://schemas.microsoft.com/office/powerpoint/2010/main" val="1870618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8D058-F5A1-D2DD-EA25-D3AAA59420B6}"/>
              </a:ext>
            </a:extLst>
          </p:cNvPr>
          <p:cNvSpPr>
            <a:spLocks noGrp="1"/>
          </p:cNvSpPr>
          <p:nvPr>
            <p:ph type="title"/>
          </p:nvPr>
        </p:nvSpPr>
        <p:spPr>
          <a:xfrm>
            <a:off x="0" y="365126"/>
            <a:ext cx="12192000" cy="394000"/>
          </a:xfrm>
        </p:spPr>
        <p:txBody>
          <a:bodyPr>
            <a:noAutofit/>
          </a:bodyPr>
          <a:lstStyle/>
          <a:p>
            <a:r>
              <a:rPr lang="en-US" dirty="0"/>
              <a:t>Theoretical Background</a:t>
            </a:r>
          </a:p>
        </p:txBody>
      </p:sp>
      <p:sp>
        <p:nvSpPr>
          <p:cNvPr id="3" name="Content Placeholder 2">
            <a:extLst>
              <a:ext uri="{FF2B5EF4-FFF2-40B4-BE49-F238E27FC236}">
                <a16:creationId xmlns:a16="http://schemas.microsoft.com/office/drawing/2014/main" id="{873E3316-1281-532D-FF14-B6188817FECB}"/>
              </a:ext>
            </a:extLst>
          </p:cNvPr>
          <p:cNvSpPr>
            <a:spLocks noGrp="1"/>
          </p:cNvSpPr>
          <p:nvPr>
            <p:ph idx="1"/>
          </p:nvPr>
        </p:nvSpPr>
        <p:spPr>
          <a:xfrm>
            <a:off x="2383278" y="849744"/>
            <a:ext cx="9346904" cy="5541819"/>
          </a:xfrm>
        </p:spPr>
        <p:txBody>
          <a:bodyPr>
            <a:normAutofit/>
          </a:bodyPr>
          <a:lstStyle/>
          <a:p>
            <a:r>
              <a:rPr lang="en-US" sz="1200" dirty="0"/>
              <a:t>Political extremism has accelerated across Western democracies in recent years, challenging established norms and institutions.</a:t>
            </a:r>
          </a:p>
          <a:p>
            <a:r>
              <a:rPr lang="en-US" sz="1200" dirty="0"/>
              <a:t>Growing influence of extreme ideologies and movements across all ends of the political spectrum</a:t>
            </a:r>
          </a:p>
          <a:p>
            <a:r>
              <a:rPr lang="en-US" sz="1200" dirty="0"/>
              <a:t>Rapid spread of extremist information and disinformation through digital media platforms. </a:t>
            </a:r>
          </a:p>
          <a:p>
            <a:r>
              <a:rPr lang="en-US" sz="1200" dirty="0"/>
              <a:t>Socio-political extremism is one of the most pressing concerns to democratic stability (Ebner, 2023) and American voters (Lange, 2024). </a:t>
            </a:r>
          </a:p>
          <a:p>
            <a:r>
              <a:rPr lang="en-US" sz="1200" dirty="0"/>
              <a:t> Socio-political extremism is a dynamic phenomenon that evolves over time and across various ideological spectra (Rigoli, 2023)</a:t>
            </a:r>
          </a:p>
          <a:p>
            <a:endParaRPr lang="he-IL" dirty="0"/>
          </a:p>
          <a:p>
            <a:r>
              <a:rPr lang="en-US" dirty="0"/>
              <a:t>National crises, including wars and economic depressions, consistently correlate with increased political extremism domestically, both on the right and the left (Kofman &amp; Garfin, 2020; Rasler, 1986; Stohl, 1975; Vlachos, 2016).</a:t>
            </a:r>
            <a:endParaRPr lang="he-IL" dirty="0"/>
          </a:p>
          <a:p>
            <a:endParaRPr lang="en-US" dirty="0"/>
          </a:p>
          <a:p>
            <a:r>
              <a:rPr lang="en-US" dirty="0"/>
              <a:t>Religiosity and Political Orientation influences different dimensions of political extremism, such as intolerance and violence </a:t>
            </a:r>
            <a:r>
              <a:rPr lang="de-DE" dirty="0"/>
              <a:t>(Canetti et al., 2009; Elad-Strenger et al., 2021; Halperin et al., 2009; Hirsch-Hoefler et al., 2016).</a:t>
            </a:r>
            <a:endParaRPr lang="en-US" dirty="0"/>
          </a:p>
        </p:txBody>
      </p:sp>
      <p:sp>
        <p:nvSpPr>
          <p:cNvPr id="5" name="Slide Number Placeholder 4">
            <a:extLst>
              <a:ext uri="{FF2B5EF4-FFF2-40B4-BE49-F238E27FC236}">
                <a16:creationId xmlns:a16="http://schemas.microsoft.com/office/drawing/2014/main" id="{E50D6258-3CED-EA9F-315A-A4FC858EC1A3}"/>
              </a:ext>
            </a:extLst>
          </p:cNvPr>
          <p:cNvSpPr>
            <a:spLocks noGrp="1"/>
          </p:cNvSpPr>
          <p:nvPr>
            <p:ph type="sldNum" sz="quarter" idx="12"/>
          </p:nvPr>
        </p:nvSpPr>
        <p:spPr>
          <a:xfrm>
            <a:off x="8986982" y="6492874"/>
            <a:ext cx="2743200" cy="228601"/>
          </a:xfrm>
        </p:spPr>
        <p:txBody>
          <a:bodyPr/>
          <a:lstStyle/>
          <a:p>
            <a:fld id="{704D49E2-C640-4137-BB2F-153E894575C6}" type="slidenum">
              <a:rPr lang="en-US" smtClean="0"/>
              <a:pPr/>
              <a:t>6</a:t>
            </a:fld>
            <a:endParaRPr lang="en-US" dirty="0"/>
          </a:p>
        </p:txBody>
      </p:sp>
      <p:sp>
        <p:nvSpPr>
          <p:cNvPr id="4" name="TextBox 3">
            <a:extLst>
              <a:ext uri="{FF2B5EF4-FFF2-40B4-BE49-F238E27FC236}">
                <a16:creationId xmlns:a16="http://schemas.microsoft.com/office/drawing/2014/main" id="{15671487-78BC-2A11-B2B1-D6AF8620B7BE}"/>
              </a:ext>
            </a:extLst>
          </p:cNvPr>
          <p:cNvSpPr txBox="1"/>
          <p:nvPr/>
        </p:nvSpPr>
        <p:spPr>
          <a:xfrm>
            <a:off x="554477" y="849744"/>
            <a:ext cx="1667058" cy="1200329"/>
          </a:xfrm>
          <a:prstGeom prst="rect">
            <a:avLst/>
          </a:prstGeom>
          <a:noFill/>
        </p:spPr>
        <p:txBody>
          <a:bodyPr wrap="square" rtlCol="0">
            <a:spAutoFit/>
          </a:bodyPr>
          <a:lstStyle/>
          <a:p>
            <a:r>
              <a:rPr lang="en-US" dirty="0">
                <a:solidFill>
                  <a:srgbClr val="FF6600"/>
                </a:solidFill>
              </a:rPr>
              <a:t>Political </a:t>
            </a:r>
          </a:p>
          <a:p>
            <a:r>
              <a:rPr lang="en-US" dirty="0">
                <a:solidFill>
                  <a:srgbClr val="FF6600"/>
                </a:solidFill>
              </a:rPr>
              <a:t>Extremism</a:t>
            </a:r>
          </a:p>
          <a:p>
            <a:r>
              <a:rPr lang="en-US" dirty="0">
                <a:solidFill>
                  <a:schemeClr val="bg2">
                    <a:lumMod val="75000"/>
                  </a:schemeClr>
                </a:solidFill>
              </a:rPr>
              <a:t>(Discussed before)</a:t>
            </a:r>
          </a:p>
        </p:txBody>
      </p:sp>
      <p:sp>
        <p:nvSpPr>
          <p:cNvPr id="6" name="TextBox 5">
            <a:extLst>
              <a:ext uri="{FF2B5EF4-FFF2-40B4-BE49-F238E27FC236}">
                <a16:creationId xmlns:a16="http://schemas.microsoft.com/office/drawing/2014/main" id="{1C056D13-0729-530D-FEBA-AC274133F5D7}"/>
              </a:ext>
            </a:extLst>
          </p:cNvPr>
          <p:cNvSpPr txBox="1"/>
          <p:nvPr/>
        </p:nvSpPr>
        <p:spPr>
          <a:xfrm>
            <a:off x="554476" y="2786541"/>
            <a:ext cx="1667059" cy="646331"/>
          </a:xfrm>
          <a:prstGeom prst="rect">
            <a:avLst/>
          </a:prstGeom>
          <a:noFill/>
        </p:spPr>
        <p:txBody>
          <a:bodyPr wrap="none" rtlCol="0">
            <a:spAutoFit/>
          </a:bodyPr>
          <a:lstStyle/>
          <a:p>
            <a:r>
              <a:rPr lang="en-US" dirty="0">
                <a:solidFill>
                  <a:srgbClr val="FF6600"/>
                </a:solidFill>
              </a:rPr>
              <a:t>Socio-Political </a:t>
            </a:r>
          </a:p>
          <a:p>
            <a:r>
              <a:rPr lang="en-US" dirty="0">
                <a:solidFill>
                  <a:srgbClr val="FF6600"/>
                </a:solidFill>
              </a:rPr>
              <a:t>Events</a:t>
            </a:r>
          </a:p>
        </p:txBody>
      </p:sp>
      <p:sp>
        <p:nvSpPr>
          <p:cNvPr id="7" name="TextBox 6">
            <a:extLst>
              <a:ext uri="{FF2B5EF4-FFF2-40B4-BE49-F238E27FC236}">
                <a16:creationId xmlns:a16="http://schemas.microsoft.com/office/drawing/2014/main" id="{D6758EB5-8269-8B92-8617-05393547973D}"/>
              </a:ext>
            </a:extLst>
          </p:cNvPr>
          <p:cNvSpPr txBox="1"/>
          <p:nvPr/>
        </p:nvSpPr>
        <p:spPr>
          <a:xfrm>
            <a:off x="554477" y="4723338"/>
            <a:ext cx="1667059" cy="1200329"/>
          </a:xfrm>
          <a:prstGeom prst="rect">
            <a:avLst/>
          </a:prstGeom>
          <a:noFill/>
        </p:spPr>
        <p:txBody>
          <a:bodyPr wrap="square" rtlCol="0">
            <a:spAutoFit/>
          </a:bodyPr>
          <a:lstStyle/>
          <a:p>
            <a:r>
              <a:rPr lang="en-US" dirty="0">
                <a:solidFill>
                  <a:srgbClr val="FF6600"/>
                </a:solidFill>
              </a:rPr>
              <a:t>Religiosity and Political Orientation groups</a:t>
            </a:r>
          </a:p>
        </p:txBody>
      </p:sp>
    </p:spTree>
    <p:extLst>
      <p:ext uri="{BB962C8B-B14F-4D97-AF65-F5344CB8AC3E}">
        <p14:creationId xmlns:p14="http://schemas.microsoft.com/office/powerpoint/2010/main" val="1564883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fade">
                                      <p:cBhvr>
                                        <p:cTn id="13" dur="500"/>
                                        <p:tgtEl>
                                          <p:spTgt spid="3">
                                            <p:txEl>
                                              <p:pRg st="8" end="8"/>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DA206-A834-5EDA-FBCF-1E840B321914}"/>
              </a:ext>
            </a:extLst>
          </p:cNvPr>
          <p:cNvSpPr>
            <a:spLocks noGrp="1"/>
          </p:cNvSpPr>
          <p:nvPr>
            <p:ph type="title"/>
          </p:nvPr>
        </p:nvSpPr>
        <p:spPr>
          <a:xfrm>
            <a:off x="0" y="365126"/>
            <a:ext cx="12192000" cy="394000"/>
          </a:xfrm>
        </p:spPr>
        <p:txBody>
          <a:bodyPr/>
          <a:lstStyle/>
          <a:p>
            <a:r>
              <a:rPr lang="en-US" dirty="0"/>
              <a:t>Theoretical Gap</a:t>
            </a:r>
          </a:p>
        </p:txBody>
      </p:sp>
      <p:sp>
        <p:nvSpPr>
          <p:cNvPr id="3" name="Content Placeholder 2">
            <a:extLst>
              <a:ext uri="{FF2B5EF4-FFF2-40B4-BE49-F238E27FC236}">
                <a16:creationId xmlns:a16="http://schemas.microsoft.com/office/drawing/2014/main" id="{19A31D9B-FD64-F1C3-CED9-040952039926}"/>
              </a:ext>
            </a:extLst>
          </p:cNvPr>
          <p:cNvSpPr>
            <a:spLocks noGrp="1"/>
          </p:cNvSpPr>
          <p:nvPr>
            <p:ph idx="1"/>
          </p:nvPr>
        </p:nvSpPr>
        <p:spPr>
          <a:xfrm>
            <a:off x="2334638" y="849744"/>
            <a:ext cx="9395543" cy="5541819"/>
          </a:xfrm>
        </p:spPr>
        <p:txBody>
          <a:bodyPr>
            <a:normAutofit lnSpcReduction="10000"/>
          </a:bodyPr>
          <a:lstStyle/>
          <a:p>
            <a:r>
              <a:rPr lang="en-US" dirty="0"/>
              <a:t>There is </a:t>
            </a:r>
            <a:r>
              <a:rPr lang="en-US" b="1" dirty="0"/>
              <a:t>no universally accepted definition </a:t>
            </a:r>
            <a:r>
              <a:rPr lang="en-US" dirty="0"/>
              <a:t>of political extremism, rendering the term elusive (Bötticher, 2017; Eatwell and Goodwin, 2010; Sotlar, 2004; Svetlichny and Khorev, 2022). </a:t>
            </a:r>
          </a:p>
          <a:p>
            <a:r>
              <a:rPr lang="en-US" dirty="0"/>
              <a:t>The conceptualization and operationalization of political extremism</a:t>
            </a:r>
            <a:r>
              <a:rPr lang="en-US" b="1" dirty="0"/>
              <a:t> lack consistent dimensionality</a:t>
            </a:r>
            <a:r>
              <a:rPr lang="en-US" dirty="0"/>
              <a:t>.</a:t>
            </a:r>
          </a:p>
          <a:p>
            <a:r>
              <a:rPr lang="en-US" dirty="0"/>
              <a:t>The existing academic research is </a:t>
            </a:r>
            <a:r>
              <a:rPr lang="en-US" b="1" dirty="0"/>
              <a:t>highly context-dependent </a:t>
            </a:r>
            <a:r>
              <a:rPr lang="en-US" dirty="0"/>
              <a:t>or context-specific (Rich, 2021) (in terms of ideological content, socio-political context, and historical period).</a:t>
            </a:r>
          </a:p>
          <a:p>
            <a:endParaRPr lang="en-US" dirty="0"/>
          </a:p>
          <a:p>
            <a:r>
              <a:rPr lang="en-US" dirty="0"/>
              <a:t>The role of political events in shaping the extremism of socio-political groups remains </a:t>
            </a:r>
            <a:r>
              <a:rPr lang="en-US" b="1" dirty="0"/>
              <a:t>poorly understood</a:t>
            </a:r>
            <a:r>
              <a:rPr lang="en-US" dirty="0"/>
              <a:t>. </a:t>
            </a:r>
          </a:p>
          <a:p>
            <a:r>
              <a:rPr lang="en-US" dirty="0"/>
              <a:t>Current academic discourse addresses </a:t>
            </a:r>
            <a:r>
              <a:rPr lang="en-US" b="1" dirty="0"/>
              <a:t>only one type of event </a:t>
            </a:r>
            <a:r>
              <a:rPr lang="en-US" dirty="0"/>
              <a:t>and does not compare different event types</a:t>
            </a:r>
          </a:p>
          <a:p>
            <a:r>
              <a:rPr lang="en-US" dirty="0"/>
              <a:t>Current academic discourse addresses </a:t>
            </a:r>
            <a:r>
              <a:rPr lang="en-US" b="1" dirty="0"/>
              <a:t>only one extremism dimension </a:t>
            </a:r>
            <a:r>
              <a:rPr lang="en-US" dirty="0"/>
              <a:t>and does not compare effects on the different dimensions.</a:t>
            </a:r>
          </a:p>
          <a:p>
            <a:endParaRPr lang="en-US" dirty="0"/>
          </a:p>
          <a:p>
            <a:endParaRPr lang="en-US" dirty="0"/>
          </a:p>
        </p:txBody>
      </p:sp>
      <p:sp>
        <p:nvSpPr>
          <p:cNvPr id="4" name="Slide Number Placeholder 3">
            <a:extLst>
              <a:ext uri="{FF2B5EF4-FFF2-40B4-BE49-F238E27FC236}">
                <a16:creationId xmlns:a16="http://schemas.microsoft.com/office/drawing/2014/main" id="{54CA27CB-116A-CB20-D3F6-EDAF8291220C}"/>
              </a:ext>
            </a:extLst>
          </p:cNvPr>
          <p:cNvSpPr>
            <a:spLocks noGrp="1"/>
          </p:cNvSpPr>
          <p:nvPr>
            <p:ph type="sldNum" sz="quarter" idx="12"/>
          </p:nvPr>
        </p:nvSpPr>
        <p:spPr>
          <a:xfrm>
            <a:off x="8986982" y="6492874"/>
            <a:ext cx="2743200" cy="228601"/>
          </a:xfrm>
        </p:spPr>
        <p:txBody>
          <a:bodyPr/>
          <a:lstStyle/>
          <a:p>
            <a:fld id="{704D49E2-C640-4137-BB2F-153E894575C6}" type="slidenum">
              <a:rPr lang="en-US" smtClean="0"/>
              <a:pPr/>
              <a:t>7</a:t>
            </a:fld>
            <a:endParaRPr lang="en-US" dirty="0"/>
          </a:p>
        </p:txBody>
      </p:sp>
      <p:sp>
        <p:nvSpPr>
          <p:cNvPr id="5" name="TextBox 4">
            <a:extLst>
              <a:ext uri="{FF2B5EF4-FFF2-40B4-BE49-F238E27FC236}">
                <a16:creationId xmlns:a16="http://schemas.microsoft.com/office/drawing/2014/main" id="{ECFA7BD2-1A88-CDFB-6B58-60B512253221}"/>
              </a:ext>
            </a:extLst>
          </p:cNvPr>
          <p:cNvSpPr txBox="1"/>
          <p:nvPr/>
        </p:nvSpPr>
        <p:spPr>
          <a:xfrm>
            <a:off x="554477" y="849744"/>
            <a:ext cx="1667059" cy="1754326"/>
          </a:xfrm>
          <a:prstGeom prst="rect">
            <a:avLst/>
          </a:prstGeom>
          <a:noFill/>
        </p:spPr>
        <p:txBody>
          <a:bodyPr wrap="square" rtlCol="0">
            <a:spAutoFit/>
          </a:bodyPr>
          <a:lstStyle/>
          <a:p>
            <a:r>
              <a:rPr lang="en-US" dirty="0">
                <a:solidFill>
                  <a:srgbClr val="FF6600"/>
                </a:solidFill>
              </a:rPr>
              <a:t>Assessment </a:t>
            </a:r>
          </a:p>
          <a:p>
            <a:r>
              <a:rPr lang="en-US" dirty="0">
                <a:solidFill>
                  <a:srgbClr val="FF6600"/>
                </a:solidFill>
              </a:rPr>
              <a:t>Of </a:t>
            </a:r>
          </a:p>
          <a:p>
            <a:r>
              <a:rPr lang="en-US" dirty="0">
                <a:solidFill>
                  <a:srgbClr val="FF6600"/>
                </a:solidFill>
              </a:rPr>
              <a:t>Political </a:t>
            </a:r>
          </a:p>
          <a:p>
            <a:r>
              <a:rPr lang="en-US" dirty="0">
                <a:solidFill>
                  <a:srgbClr val="FF6600"/>
                </a:solidFill>
              </a:rPr>
              <a:t>Extremism</a:t>
            </a:r>
          </a:p>
          <a:p>
            <a:r>
              <a:rPr lang="en-US" dirty="0">
                <a:solidFill>
                  <a:schemeClr val="bg2">
                    <a:lumMod val="75000"/>
                  </a:schemeClr>
                </a:solidFill>
              </a:rPr>
              <a:t>(Discussed before)</a:t>
            </a:r>
          </a:p>
        </p:txBody>
      </p:sp>
      <p:sp>
        <p:nvSpPr>
          <p:cNvPr id="6" name="TextBox 5">
            <a:extLst>
              <a:ext uri="{FF2B5EF4-FFF2-40B4-BE49-F238E27FC236}">
                <a16:creationId xmlns:a16="http://schemas.microsoft.com/office/drawing/2014/main" id="{8A885F4B-42B3-7119-95B4-BD805BBDCA14}"/>
              </a:ext>
            </a:extLst>
          </p:cNvPr>
          <p:cNvSpPr txBox="1"/>
          <p:nvPr/>
        </p:nvSpPr>
        <p:spPr>
          <a:xfrm>
            <a:off x="554477" y="4066359"/>
            <a:ext cx="1667059" cy="1754326"/>
          </a:xfrm>
          <a:prstGeom prst="rect">
            <a:avLst/>
          </a:prstGeom>
          <a:noFill/>
        </p:spPr>
        <p:txBody>
          <a:bodyPr wrap="none" rtlCol="0">
            <a:spAutoFit/>
          </a:bodyPr>
          <a:lstStyle/>
          <a:p>
            <a:r>
              <a:rPr lang="en-US" dirty="0">
                <a:solidFill>
                  <a:srgbClr val="FF6600"/>
                </a:solidFill>
              </a:rPr>
              <a:t>How </a:t>
            </a:r>
          </a:p>
          <a:p>
            <a:r>
              <a:rPr lang="en-US" dirty="0">
                <a:solidFill>
                  <a:srgbClr val="FF6600"/>
                </a:solidFill>
              </a:rPr>
              <a:t>Socio-Political </a:t>
            </a:r>
          </a:p>
          <a:p>
            <a:r>
              <a:rPr lang="en-US" dirty="0">
                <a:solidFill>
                  <a:srgbClr val="FF6600"/>
                </a:solidFill>
              </a:rPr>
              <a:t>Events </a:t>
            </a:r>
          </a:p>
          <a:p>
            <a:r>
              <a:rPr lang="en-US" dirty="0">
                <a:solidFill>
                  <a:srgbClr val="FF6600"/>
                </a:solidFill>
              </a:rPr>
              <a:t>Affect </a:t>
            </a:r>
          </a:p>
          <a:p>
            <a:r>
              <a:rPr lang="en-US" dirty="0">
                <a:solidFill>
                  <a:srgbClr val="FF6600"/>
                </a:solidFill>
              </a:rPr>
              <a:t>Political </a:t>
            </a:r>
          </a:p>
          <a:p>
            <a:r>
              <a:rPr lang="en-US" dirty="0">
                <a:solidFill>
                  <a:srgbClr val="FF6600"/>
                </a:solidFill>
              </a:rPr>
              <a:t>Extremism</a:t>
            </a:r>
          </a:p>
        </p:txBody>
      </p:sp>
    </p:spTree>
    <p:extLst>
      <p:ext uri="{BB962C8B-B14F-4D97-AF65-F5344CB8AC3E}">
        <p14:creationId xmlns:p14="http://schemas.microsoft.com/office/powerpoint/2010/main" val="1770413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44974-4BA4-E756-505A-8FD27800A557}"/>
              </a:ext>
            </a:extLst>
          </p:cNvPr>
          <p:cNvSpPr>
            <a:spLocks noGrp="1"/>
          </p:cNvSpPr>
          <p:nvPr>
            <p:ph type="title"/>
          </p:nvPr>
        </p:nvSpPr>
        <p:spPr>
          <a:xfrm>
            <a:off x="0" y="365126"/>
            <a:ext cx="12192000" cy="394000"/>
          </a:xfrm>
        </p:spPr>
        <p:txBody>
          <a:bodyPr/>
          <a:lstStyle/>
          <a:p>
            <a:r>
              <a:rPr lang="en-US" dirty="0"/>
              <a:t>Research Questions</a:t>
            </a:r>
          </a:p>
        </p:txBody>
      </p:sp>
      <p:sp>
        <p:nvSpPr>
          <p:cNvPr id="3" name="Content Placeholder 2">
            <a:extLst>
              <a:ext uri="{FF2B5EF4-FFF2-40B4-BE49-F238E27FC236}">
                <a16:creationId xmlns:a16="http://schemas.microsoft.com/office/drawing/2014/main" id="{31019528-2901-B689-5DE9-31D8EAC8E230}"/>
              </a:ext>
            </a:extLst>
          </p:cNvPr>
          <p:cNvSpPr>
            <a:spLocks noGrp="1"/>
          </p:cNvSpPr>
          <p:nvPr>
            <p:ph idx="1"/>
          </p:nvPr>
        </p:nvSpPr>
        <p:spPr>
          <a:xfrm>
            <a:off x="838200" y="849744"/>
            <a:ext cx="10891982" cy="5541819"/>
          </a:xfrm>
        </p:spPr>
        <p:txBody>
          <a:bodyPr>
            <a:normAutofit/>
          </a:bodyPr>
          <a:lstStyle/>
          <a:p>
            <a:pPr marL="0" indent="0">
              <a:buNone/>
            </a:pPr>
            <a:endParaRPr lang="he-IL" sz="3600" dirty="0"/>
          </a:p>
          <a:p>
            <a:pPr marL="0" indent="0">
              <a:buNone/>
            </a:pPr>
            <a:r>
              <a:rPr lang="en-US" sz="3600" b="1" dirty="0"/>
              <a:t>Q1</a:t>
            </a:r>
            <a:r>
              <a:rPr lang="en-US" sz="3600" dirty="0"/>
              <a:t>: How do different types of destabilizing events (security-related, political, and judicial-constitutional) affect the different dimensions of political extremism?</a:t>
            </a:r>
          </a:p>
          <a:p>
            <a:pPr marL="0" indent="0">
              <a:buNone/>
            </a:pPr>
            <a:endParaRPr lang="he-IL" sz="3600" dirty="0"/>
          </a:p>
          <a:p>
            <a:pPr marL="0" indent="0">
              <a:buNone/>
            </a:pPr>
            <a:r>
              <a:rPr lang="en-US" sz="3600" b="1" dirty="0"/>
              <a:t>Q2</a:t>
            </a:r>
            <a:r>
              <a:rPr lang="en-US" sz="3600" dirty="0"/>
              <a:t>: How do socio-political characteristics (political position,  religiosity) moderate the magnitude and direction of these effects?</a:t>
            </a:r>
          </a:p>
        </p:txBody>
      </p:sp>
      <p:sp>
        <p:nvSpPr>
          <p:cNvPr id="4" name="Slide Number Placeholder 3">
            <a:extLst>
              <a:ext uri="{FF2B5EF4-FFF2-40B4-BE49-F238E27FC236}">
                <a16:creationId xmlns:a16="http://schemas.microsoft.com/office/drawing/2014/main" id="{D5CB69FC-4C8A-85DE-435F-C8135D9B5F2E}"/>
              </a:ext>
            </a:extLst>
          </p:cNvPr>
          <p:cNvSpPr>
            <a:spLocks noGrp="1"/>
          </p:cNvSpPr>
          <p:nvPr>
            <p:ph type="sldNum" sz="quarter" idx="12"/>
          </p:nvPr>
        </p:nvSpPr>
        <p:spPr>
          <a:xfrm>
            <a:off x="8986982" y="6492874"/>
            <a:ext cx="2743200" cy="228601"/>
          </a:xfrm>
        </p:spPr>
        <p:txBody>
          <a:bodyPr/>
          <a:lstStyle/>
          <a:p>
            <a:fld id="{704D49E2-C640-4137-BB2F-153E894575C6}" type="slidenum">
              <a:rPr lang="en-US" smtClean="0"/>
              <a:pPr/>
              <a:t>8</a:t>
            </a:fld>
            <a:endParaRPr lang="en-US" dirty="0"/>
          </a:p>
        </p:txBody>
      </p:sp>
    </p:spTree>
    <p:extLst>
      <p:ext uri="{BB962C8B-B14F-4D97-AF65-F5344CB8AC3E}">
        <p14:creationId xmlns:p14="http://schemas.microsoft.com/office/powerpoint/2010/main" val="2738089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D5091-6BFE-7A06-BB6B-26422DC39017}"/>
              </a:ext>
            </a:extLst>
          </p:cNvPr>
          <p:cNvSpPr>
            <a:spLocks noGrp="1"/>
          </p:cNvSpPr>
          <p:nvPr>
            <p:ph type="title"/>
          </p:nvPr>
        </p:nvSpPr>
        <p:spPr>
          <a:xfrm>
            <a:off x="0" y="365126"/>
            <a:ext cx="12192000" cy="394000"/>
          </a:xfrm>
        </p:spPr>
        <p:txBody>
          <a:bodyPr/>
          <a:lstStyle/>
          <a:p>
            <a:r>
              <a:rPr lang="en-US" dirty="0"/>
              <a:t>Hypotheses</a:t>
            </a:r>
          </a:p>
        </p:txBody>
      </p:sp>
      <p:sp>
        <p:nvSpPr>
          <p:cNvPr id="3" name="Content Placeholder 2">
            <a:extLst>
              <a:ext uri="{FF2B5EF4-FFF2-40B4-BE49-F238E27FC236}">
                <a16:creationId xmlns:a16="http://schemas.microsoft.com/office/drawing/2014/main" id="{4AF08358-F0AB-B52F-4CC2-909EC1FAAB33}"/>
              </a:ext>
            </a:extLst>
          </p:cNvPr>
          <p:cNvSpPr>
            <a:spLocks noGrp="1"/>
          </p:cNvSpPr>
          <p:nvPr>
            <p:ph idx="1"/>
          </p:nvPr>
        </p:nvSpPr>
        <p:spPr>
          <a:xfrm>
            <a:off x="838200" y="849744"/>
            <a:ext cx="10891982" cy="5541819"/>
          </a:xfrm>
        </p:spPr>
        <p:txBody>
          <a:bodyPr>
            <a:normAutofit lnSpcReduction="10000"/>
          </a:bodyPr>
          <a:lstStyle/>
          <a:p>
            <a:r>
              <a:rPr lang="en-US" b="1" dirty="0"/>
              <a:t>H1</a:t>
            </a:r>
            <a:r>
              <a:rPr lang="en-US" dirty="0"/>
              <a:t>: Different political extremism dimensions do not equally (uniformly) respond to socio-political events</a:t>
            </a:r>
          </a:p>
          <a:p>
            <a:r>
              <a:rPr lang="en-US" b="1" dirty="0"/>
              <a:t>H2</a:t>
            </a:r>
            <a:r>
              <a:rPr lang="en-US" dirty="0"/>
              <a:t>: The effect of different destabilizing events will be moderated by the type of groups they affect (Political Orientation, Religiosity)</a:t>
            </a:r>
          </a:p>
          <a:p>
            <a:r>
              <a:rPr lang="en-US" b="1" dirty="0"/>
              <a:t>H3</a:t>
            </a:r>
            <a:r>
              <a:rPr lang="en-US" dirty="0"/>
              <a:t>: Events that pose threats to a group will heighten their political extremism, while events that diminish group threats will reduce extremism levels.</a:t>
            </a:r>
          </a:p>
          <a:p>
            <a:r>
              <a:rPr lang="en-GB" dirty="0"/>
              <a:t>Based on our Hypothesis 3, we expect that: </a:t>
            </a:r>
          </a:p>
          <a:p>
            <a:pPr lvl="1"/>
            <a:r>
              <a:rPr lang="en-GB" dirty="0"/>
              <a:t>(3.1</a:t>
            </a:r>
            <a:r>
              <a:rPr lang="en-US" dirty="0"/>
              <a:t>) Inland Terror increased political extremism within all political orientation groups. </a:t>
            </a:r>
          </a:p>
          <a:p>
            <a:pPr lvl="1"/>
            <a:r>
              <a:rPr lang="en-US" dirty="0"/>
              <a:t>(3.2) The fall of the Unity Government increased political extremism in the left-wing and center-left groups, while diminishing extremism in the right-wing group. </a:t>
            </a:r>
          </a:p>
          <a:p>
            <a:pPr lvl="1"/>
            <a:r>
              <a:rPr lang="en-US" dirty="0"/>
              <a:t>(3.3) The Judicial Reform increased the political extremism within the left-wing and center-left groups, while diminishing extremism in right-wing groups. </a:t>
            </a:r>
          </a:p>
          <a:p>
            <a:pPr lvl="1"/>
            <a:r>
              <a:rPr lang="en-US"/>
              <a:t>(</a:t>
            </a:r>
            <a:r>
              <a:rPr lang="en-US" dirty="0"/>
              <a:t>3.4) The Gallant Dismissal increased political extremism within right-wing groups and diminished it in left-wing and center-wing groups</a:t>
            </a:r>
            <a:r>
              <a:rPr lang="en-US"/>
              <a:t>. </a:t>
            </a:r>
          </a:p>
          <a:p>
            <a:pPr lvl="1"/>
            <a:r>
              <a:rPr lang="en-US"/>
              <a:t>(</a:t>
            </a:r>
            <a:r>
              <a:rPr lang="en-US" dirty="0"/>
              <a:t>3.5) The Oct. 7th War posed the highest increase of political extremism to all political orientation groups.</a:t>
            </a:r>
          </a:p>
        </p:txBody>
      </p:sp>
      <p:sp>
        <p:nvSpPr>
          <p:cNvPr id="4" name="Slide Number Placeholder 3">
            <a:extLst>
              <a:ext uri="{FF2B5EF4-FFF2-40B4-BE49-F238E27FC236}">
                <a16:creationId xmlns:a16="http://schemas.microsoft.com/office/drawing/2014/main" id="{93857ED1-042D-3393-3411-030EB85FF4E5}"/>
              </a:ext>
            </a:extLst>
          </p:cNvPr>
          <p:cNvSpPr>
            <a:spLocks noGrp="1"/>
          </p:cNvSpPr>
          <p:nvPr>
            <p:ph type="sldNum" sz="quarter" idx="12"/>
          </p:nvPr>
        </p:nvSpPr>
        <p:spPr>
          <a:xfrm>
            <a:off x="8986982" y="6492874"/>
            <a:ext cx="2743200" cy="228601"/>
          </a:xfrm>
        </p:spPr>
        <p:txBody>
          <a:bodyPr/>
          <a:lstStyle/>
          <a:p>
            <a:fld id="{704D49E2-C640-4137-BB2F-153E894575C6}" type="slidenum">
              <a:rPr lang="en-US" smtClean="0"/>
              <a:pPr/>
              <a:t>9</a:t>
            </a:fld>
            <a:endParaRPr lang="en-US" dirty="0"/>
          </a:p>
        </p:txBody>
      </p:sp>
    </p:spTree>
    <p:extLst>
      <p:ext uri="{BB962C8B-B14F-4D97-AF65-F5344CB8AC3E}">
        <p14:creationId xmlns:p14="http://schemas.microsoft.com/office/powerpoint/2010/main" val="3395321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D1428-AC3E-BA06-480E-81F2714ADD51}"/>
              </a:ext>
            </a:extLst>
          </p:cNvPr>
          <p:cNvSpPr>
            <a:spLocks noGrp="1"/>
          </p:cNvSpPr>
          <p:nvPr>
            <p:ph type="title"/>
          </p:nvPr>
        </p:nvSpPr>
        <p:spPr>
          <a:xfrm>
            <a:off x="0" y="365126"/>
            <a:ext cx="12192000" cy="394000"/>
          </a:xfrm>
        </p:spPr>
        <p:txBody>
          <a:bodyPr/>
          <a:lstStyle/>
          <a:p>
            <a:r>
              <a:rPr lang="en-US" dirty="0"/>
              <a:t>Conceptualization</a:t>
            </a:r>
          </a:p>
        </p:txBody>
      </p:sp>
      <p:sp>
        <p:nvSpPr>
          <p:cNvPr id="4" name="Slide Number Placeholder 3">
            <a:extLst>
              <a:ext uri="{FF2B5EF4-FFF2-40B4-BE49-F238E27FC236}">
                <a16:creationId xmlns:a16="http://schemas.microsoft.com/office/drawing/2014/main" id="{3EDDDF94-53CC-B685-4F8D-A6D76E61A829}"/>
              </a:ext>
            </a:extLst>
          </p:cNvPr>
          <p:cNvSpPr>
            <a:spLocks noGrp="1"/>
          </p:cNvSpPr>
          <p:nvPr>
            <p:ph type="sldNum" sz="quarter" idx="12"/>
          </p:nvPr>
        </p:nvSpPr>
        <p:spPr>
          <a:xfrm>
            <a:off x="8986982" y="6492874"/>
            <a:ext cx="2743200" cy="228601"/>
          </a:xfrm>
        </p:spPr>
        <p:txBody>
          <a:bodyPr/>
          <a:lstStyle/>
          <a:p>
            <a:fld id="{704D49E2-C640-4137-BB2F-153E894575C6}" type="slidenum">
              <a:rPr lang="en-US" smtClean="0"/>
              <a:pPr/>
              <a:t>10</a:t>
            </a:fld>
            <a:endParaRPr lang="en-US" dirty="0"/>
          </a:p>
        </p:txBody>
      </p:sp>
      <p:sp>
        <p:nvSpPr>
          <p:cNvPr id="24" name="Rectangle: Rounded Corners 23">
            <a:extLst>
              <a:ext uri="{FF2B5EF4-FFF2-40B4-BE49-F238E27FC236}">
                <a16:creationId xmlns:a16="http://schemas.microsoft.com/office/drawing/2014/main" id="{76ECB80C-C16F-C24A-5F87-3BF675EAAE20}"/>
              </a:ext>
            </a:extLst>
          </p:cNvPr>
          <p:cNvSpPr/>
          <p:nvPr/>
        </p:nvSpPr>
        <p:spPr>
          <a:xfrm>
            <a:off x="6009683" y="1768572"/>
            <a:ext cx="3633938" cy="727189"/>
          </a:xfrm>
          <a:prstGeom prst="roundRect">
            <a:avLst/>
          </a:prstGeom>
          <a:solidFill>
            <a:srgbClr val="F9F9F9"/>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Extremity and rigidity of positions on socio-political issues</a:t>
            </a:r>
          </a:p>
        </p:txBody>
      </p:sp>
      <p:sp>
        <p:nvSpPr>
          <p:cNvPr id="25" name="Rectangle: Rounded Corners 24">
            <a:extLst>
              <a:ext uri="{FF2B5EF4-FFF2-40B4-BE49-F238E27FC236}">
                <a16:creationId xmlns:a16="http://schemas.microsoft.com/office/drawing/2014/main" id="{933EC6CC-CA54-E7AC-F2CF-532F5AAE4E9D}"/>
              </a:ext>
            </a:extLst>
          </p:cNvPr>
          <p:cNvSpPr/>
          <p:nvPr/>
        </p:nvSpPr>
        <p:spPr>
          <a:xfrm>
            <a:off x="4095137" y="1768573"/>
            <a:ext cx="1469922" cy="727189"/>
          </a:xfrm>
          <a:prstGeom prst="roundRect">
            <a:avLst/>
          </a:prstGeom>
          <a:solidFill>
            <a:srgbClr val="F9F9F9"/>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Cognitive</a:t>
            </a:r>
          </a:p>
        </p:txBody>
      </p:sp>
      <p:sp>
        <p:nvSpPr>
          <p:cNvPr id="26" name="Rectangle: Rounded Corners 25">
            <a:extLst>
              <a:ext uri="{FF2B5EF4-FFF2-40B4-BE49-F238E27FC236}">
                <a16:creationId xmlns:a16="http://schemas.microsoft.com/office/drawing/2014/main" id="{696D9049-916A-8C78-CE92-6C8E448D672B}"/>
              </a:ext>
            </a:extLst>
          </p:cNvPr>
          <p:cNvSpPr/>
          <p:nvPr/>
        </p:nvSpPr>
        <p:spPr>
          <a:xfrm>
            <a:off x="1527141" y="2838335"/>
            <a:ext cx="2071465" cy="727189"/>
          </a:xfrm>
          <a:prstGeom prst="roundRect">
            <a:avLst/>
          </a:prstGeom>
          <a:solidFill>
            <a:srgbClr val="F9F9F9"/>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Political Extremism</a:t>
            </a:r>
          </a:p>
        </p:txBody>
      </p:sp>
      <p:sp>
        <p:nvSpPr>
          <p:cNvPr id="27" name="Rectangle: Rounded Corners 26">
            <a:extLst>
              <a:ext uri="{FF2B5EF4-FFF2-40B4-BE49-F238E27FC236}">
                <a16:creationId xmlns:a16="http://schemas.microsoft.com/office/drawing/2014/main" id="{DF70766B-6508-9C7A-0E7E-D4F864AF4A63}"/>
              </a:ext>
            </a:extLst>
          </p:cNvPr>
          <p:cNvSpPr/>
          <p:nvPr/>
        </p:nvSpPr>
        <p:spPr>
          <a:xfrm>
            <a:off x="4095137" y="2838336"/>
            <a:ext cx="1469922" cy="727189"/>
          </a:xfrm>
          <a:prstGeom prst="roundRect">
            <a:avLst/>
          </a:prstGeom>
          <a:solidFill>
            <a:srgbClr val="F9F9F9"/>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Behavioral</a:t>
            </a:r>
          </a:p>
        </p:txBody>
      </p:sp>
      <p:sp>
        <p:nvSpPr>
          <p:cNvPr id="28" name="Rectangle: Rounded Corners 27">
            <a:extLst>
              <a:ext uri="{FF2B5EF4-FFF2-40B4-BE49-F238E27FC236}">
                <a16:creationId xmlns:a16="http://schemas.microsoft.com/office/drawing/2014/main" id="{B6794011-C539-182F-B45E-A1F084352036}"/>
              </a:ext>
            </a:extLst>
          </p:cNvPr>
          <p:cNvSpPr/>
          <p:nvPr/>
        </p:nvSpPr>
        <p:spPr>
          <a:xfrm>
            <a:off x="6033965" y="2821402"/>
            <a:ext cx="3633938" cy="727189"/>
          </a:xfrm>
          <a:prstGeom prst="roundRect">
            <a:avLst/>
          </a:prstGeom>
          <a:solidFill>
            <a:srgbClr val="F9F9F9"/>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Violence against the state and against the outgroup</a:t>
            </a:r>
          </a:p>
        </p:txBody>
      </p:sp>
      <p:sp>
        <p:nvSpPr>
          <p:cNvPr id="30" name="Rectangle: Rounded Corners 29">
            <a:extLst>
              <a:ext uri="{FF2B5EF4-FFF2-40B4-BE49-F238E27FC236}">
                <a16:creationId xmlns:a16="http://schemas.microsoft.com/office/drawing/2014/main" id="{861D2A79-09B4-7318-1E75-D26633DF81F7}"/>
              </a:ext>
            </a:extLst>
          </p:cNvPr>
          <p:cNvSpPr/>
          <p:nvPr/>
        </p:nvSpPr>
        <p:spPr>
          <a:xfrm>
            <a:off x="6033965" y="3884020"/>
            <a:ext cx="3633938" cy="727189"/>
          </a:xfrm>
          <a:prstGeom prst="roundRect">
            <a:avLst/>
          </a:prstGeom>
          <a:solidFill>
            <a:srgbClr val="F9F9F9"/>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Personal and political </a:t>
            </a:r>
          </a:p>
          <a:p>
            <a:pPr algn="ctr"/>
            <a:r>
              <a:rPr lang="en-US" dirty="0">
                <a:solidFill>
                  <a:schemeClr val="tx1"/>
                </a:solidFill>
              </a:rPr>
              <a:t>intolerance and exclusion</a:t>
            </a:r>
          </a:p>
        </p:txBody>
      </p:sp>
      <p:sp>
        <p:nvSpPr>
          <p:cNvPr id="32" name="Rectangle: Rounded Corners 31">
            <a:extLst>
              <a:ext uri="{FF2B5EF4-FFF2-40B4-BE49-F238E27FC236}">
                <a16:creationId xmlns:a16="http://schemas.microsoft.com/office/drawing/2014/main" id="{E90F47EF-EAEE-331E-0D47-A8B90B07E71E}"/>
              </a:ext>
            </a:extLst>
          </p:cNvPr>
          <p:cNvSpPr/>
          <p:nvPr/>
        </p:nvSpPr>
        <p:spPr>
          <a:xfrm>
            <a:off x="4095137" y="3900232"/>
            <a:ext cx="1469922" cy="727189"/>
          </a:xfrm>
          <a:prstGeom prst="roundRect">
            <a:avLst/>
          </a:prstGeom>
          <a:solidFill>
            <a:srgbClr val="F9F9F9"/>
          </a:solidFill>
          <a:ln w="19050">
            <a:solidFill>
              <a:schemeClr val="bg1">
                <a:lumMod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Social</a:t>
            </a:r>
          </a:p>
        </p:txBody>
      </p:sp>
      <p:sp>
        <p:nvSpPr>
          <p:cNvPr id="33" name="Freeform: Shape 32">
            <a:extLst>
              <a:ext uri="{FF2B5EF4-FFF2-40B4-BE49-F238E27FC236}">
                <a16:creationId xmlns:a16="http://schemas.microsoft.com/office/drawing/2014/main" id="{86E12EAB-5D3F-E21F-AD6E-350DAA4A97FD}"/>
              </a:ext>
            </a:extLst>
          </p:cNvPr>
          <p:cNvSpPr/>
          <p:nvPr/>
        </p:nvSpPr>
        <p:spPr>
          <a:xfrm>
            <a:off x="2713703" y="2103375"/>
            <a:ext cx="1381434" cy="727189"/>
          </a:xfrm>
          <a:custGeom>
            <a:avLst/>
            <a:gdLst>
              <a:gd name="connsiteX0" fmla="*/ 0 w 2471613"/>
              <a:gd name="connsiteY0" fmla="*/ 1386349 h 1386349"/>
              <a:gd name="connsiteX1" fmla="*/ 1769806 w 2471613"/>
              <a:gd name="connsiteY1" fmla="*/ 216310 h 1386349"/>
              <a:gd name="connsiteX2" fmla="*/ 2467897 w 2471613"/>
              <a:gd name="connsiteY2" fmla="*/ 0 h 1386349"/>
            </a:gdLst>
            <a:ahLst/>
            <a:cxnLst>
              <a:cxn ang="0">
                <a:pos x="connsiteX0" y="connsiteY0"/>
              </a:cxn>
              <a:cxn ang="0">
                <a:pos x="connsiteX1" y="connsiteY1"/>
              </a:cxn>
              <a:cxn ang="0">
                <a:pos x="connsiteX2" y="connsiteY2"/>
              </a:cxn>
            </a:cxnLst>
            <a:rect l="l" t="t" r="r" b="b"/>
            <a:pathLst>
              <a:path w="2471613" h="1386349">
                <a:moveTo>
                  <a:pt x="0" y="1386349"/>
                </a:moveTo>
                <a:cubicBezTo>
                  <a:pt x="679245" y="916858"/>
                  <a:pt x="1358490" y="447368"/>
                  <a:pt x="1769806" y="216310"/>
                </a:cubicBezTo>
                <a:cubicBezTo>
                  <a:pt x="2181122" y="-14748"/>
                  <a:pt x="2510503" y="13110"/>
                  <a:pt x="2467897" y="0"/>
                </a:cubicBezTo>
              </a:path>
            </a:pathLst>
          </a:cu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8E8295A4-BEAC-9326-FB70-E7FC7620DB99}"/>
              </a:ext>
            </a:extLst>
          </p:cNvPr>
          <p:cNvSpPr/>
          <p:nvPr/>
        </p:nvSpPr>
        <p:spPr>
          <a:xfrm flipV="1">
            <a:off x="2610463" y="3573293"/>
            <a:ext cx="1484674" cy="727182"/>
          </a:xfrm>
          <a:custGeom>
            <a:avLst/>
            <a:gdLst>
              <a:gd name="connsiteX0" fmla="*/ 0 w 2471613"/>
              <a:gd name="connsiteY0" fmla="*/ 1386349 h 1386349"/>
              <a:gd name="connsiteX1" fmla="*/ 1769806 w 2471613"/>
              <a:gd name="connsiteY1" fmla="*/ 216310 h 1386349"/>
              <a:gd name="connsiteX2" fmla="*/ 2467897 w 2471613"/>
              <a:gd name="connsiteY2" fmla="*/ 0 h 1386349"/>
            </a:gdLst>
            <a:ahLst/>
            <a:cxnLst>
              <a:cxn ang="0">
                <a:pos x="connsiteX0" y="connsiteY0"/>
              </a:cxn>
              <a:cxn ang="0">
                <a:pos x="connsiteX1" y="connsiteY1"/>
              </a:cxn>
              <a:cxn ang="0">
                <a:pos x="connsiteX2" y="connsiteY2"/>
              </a:cxn>
            </a:cxnLst>
            <a:rect l="l" t="t" r="r" b="b"/>
            <a:pathLst>
              <a:path w="2471613" h="1386349">
                <a:moveTo>
                  <a:pt x="0" y="1386349"/>
                </a:moveTo>
                <a:cubicBezTo>
                  <a:pt x="679245" y="916858"/>
                  <a:pt x="1358490" y="447368"/>
                  <a:pt x="1769806" y="216310"/>
                </a:cubicBezTo>
                <a:cubicBezTo>
                  <a:pt x="2181122" y="-14748"/>
                  <a:pt x="2510503" y="13110"/>
                  <a:pt x="2467897" y="0"/>
                </a:cubicBezTo>
              </a:path>
            </a:pathLst>
          </a:cu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6" name="Straight Arrow Connector 35">
            <a:extLst>
              <a:ext uri="{FF2B5EF4-FFF2-40B4-BE49-F238E27FC236}">
                <a16:creationId xmlns:a16="http://schemas.microsoft.com/office/drawing/2014/main" id="{EAD8381A-9DED-3234-1D86-21B6F8E1AF87}"/>
              </a:ext>
            </a:extLst>
          </p:cNvPr>
          <p:cNvCxnSpPr>
            <a:cxnSpLocks/>
            <a:stCxn id="25" idx="3"/>
            <a:endCxn id="24" idx="1"/>
          </p:cNvCxnSpPr>
          <p:nvPr/>
        </p:nvCxnSpPr>
        <p:spPr>
          <a:xfrm flipV="1">
            <a:off x="5565059" y="2132167"/>
            <a:ext cx="444624" cy="1"/>
          </a:xfrm>
          <a:prstGeom prst="straightConnector1">
            <a:avLst/>
          </a:pr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cxnSp>
      <p:cxnSp>
        <p:nvCxnSpPr>
          <p:cNvPr id="51" name="Straight Arrow Connector 50">
            <a:extLst>
              <a:ext uri="{FF2B5EF4-FFF2-40B4-BE49-F238E27FC236}">
                <a16:creationId xmlns:a16="http://schemas.microsoft.com/office/drawing/2014/main" id="{5FEB08FB-07B8-E24A-4C1F-0C4BFF5A4B07}"/>
              </a:ext>
            </a:extLst>
          </p:cNvPr>
          <p:cNvCxnSpPr>
            <a:cxnSpLocks/>
            <a:stCxn id="26" idx="3"/>
            <a:endCxn id="27" idx="1"/>
          </p:cNvCxnSpPr>
          <p:nvPr/>
        </p:nvCxnSpPr>
        <p:spPr>
          <a:xfrm>
            <a:off x="3598606" y="3201930"/>
            <a:ext cx="496531" cy="1"/>
          </a:xfrm>
          <a:prstGeom prst="straightConnector1">
            <a:avLst/>
          </a:pr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cxnSp>
      <p:cxnSp>
        <p:nvCxnSpPr>
          <p:cNvPr id="3" name="Straight Arrow Connector 2">
            <a:extLst>
              <a:ext uri="{FF2B5EF4-FFF2-40B4-BE49-F238E27FC236}">
                <a16:creationId xmlns:a16="http://schemas.microsoft.com/office/drawing/2014/main" id="{572F3D16-92DC-8FB7-CAD8-991B3438C05F}"/>
              </a:ext>
            </a:extLst>
          </p:cNvPr>
          <p:cNvCxnSpPr>
            <a:cxnSpLocks/>
            <a:stCxn id="27" idx="3"/>
            <a:endCxn id="28" idx="1"/>
          </p:cNvCxnSpPr>
          <p:nvPr/>
        </p:nvCxnSpPr>
        <p:spPr>
          <a:xfrm flipV="1">
            <a:off x="5565059" y="3184997"/>
            <a:ext cx="468906" cy="16934"/>
          </a:xfrm>
          <a:prstGeom prst="straightConnector1">
            <a:avLst/>
          </a:pr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cxnSp>
      <p:cxnSp>
        <p:nvCxnSpPr>
          <p:cNvPr id="7" name="Straight Arrow Connector 6">
            <a:extLst>
              <a:ext uri="{FF2B5EF4-FFF2-40B4-BE49-F238E27FC236}">
                <a16:creationId xmlns:a16="http://schemas.microsoft.com/office/drawing/2014/main" id="{D04610D5-9CEB-12B6-1C0C-E2E012A15C07}"/>
              </a:ext>
            </a:extLst>
          </p:cNvPr>
          <p:cNvCxnSpPr>
            <a:cxnSpLocks/>
            <a:stCxn id="32" idx="3"/>
            <a:endCxn id="30" idx="1"/>
          </p:cNvCxnSpPr>
          <p:nvPr/>
        </p:nvCxnSpPr>
        <p:spPr>
          <a:xfrm flipV="1">
            <a:off x="5565059" y="4247615"/>
            <a:ext cx="468906" cy="16212"/>
          </a:xfrm>
          <a:prstGeom prst="straightConnector1">
            <a:avLst/>
          </a:prstGeom>
          <a:noFill/>
          <a:ln w="15875">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93369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0" fill="hold"/>
                                        <p:tgtEl>
                                          <p:spTgt spid="25"/>
                                        </p:tgtEl>
                                        <p:attrNameLst>
                                          <p:attrName>stroke.color</p:attrName>
                                        </p:attrNameLst>
                                      </p:cBhvr>
                                      <p:to>
                                        <a:schemeClr val="accent2"/>
                                      </p:to>
                                    </p:animClr>
                                    <p:set>
                                      <p:cBhvr>
                                        <p:cTn id="7" dur="2000" fill="hold"/>
                                        <p:tgtEl>
                                          <p:spTgt spid="25"/>
                                        </p:tgtEl>
                                        <p:attrNameLst>
                                          <p:attrName>stroke.on</p:attrName>
                                        </p:attrNameLst>
                                      </p:cBhvr>
                                      <p:to>
                                        <p:strVal val="true"/>
                                      </p:to>
                                    </p:set>
                                  </p:childTnLst>
                                </p:cTn>
                              </p:par>
                            </p:childTnLst>
                          </p:cTn>
                        </p:par>
                      </p:childTnLst>
                    </p:cTn>
                  </p:par>
                  <p:par>
                    <p:cTn id="8" fill="hold">
                      <p:stCondLst>
                        <p:cond delay="indefinite"/>
                      </p:stCondLst>
                      <p:childTnLst>
                        <p:par>
                          <p:cTn id="9" fill="hold">
                            <p:stCondLst>
                              <p:cond delay="0"/>
                            </p:stCondLst>
                            <p:childTnLst>
                              <p:par>
                                <p:cTn id="10" presetID="7" presetClass="emph" presetSubtype="2" fill="hold" nodeType="clickEffect">
                                  <p:stCondLst>
                                    <p:cond delay="0"/>
                                  </p:stCondLst>
                                  <p:childTnLst>
                                    <p:animClr clrSpc="rgb" dir="cw">
                                      <p:cBhvr>
                                        <p:cTn id="11" dur="2000" fill="hold"/>
                                        <p:tgtEl>
                                          <p:spTgt spid="27"/>
                                        </p:tgtEl>
                                        <p:attrNameLst>
                                          <p:attrName>stroke.color</p:attrName>
                                        </p:attrNameLst>
                                      </p:cBhvr>
                                      <p:to>
                                        <a:schemeClr val="accent2"/>
                                      </p:to>
                                    </p:animClr>
                                    <p:set>
                                      <p:cBhvr>
                                        <p:cTn id="12" dur="2000" fill="hold"/>
                                        <p:tgtEl>
                                          <p:spTgt spid="27"/>
                                        </p:tgtEl>
                                        <p:attrNameLst>
                                          <p:attrName>stroke.on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7" presetClass="emph" presetSubtype="2" fill="hold" nodeType="clickEffect">
                                  <p:stCondLst>
                                    <p:cond delay="0"/>
                                  </p:stCondLst>
                                  <p:childTnLst>
                                    <p:animClr clrSpc="rgb" dir="cw">
                                      <p:cBhvr>
                                        <p:cTn id="16" dur="2000" fill="hold"/>
                                        <p:tgtEl>
                                          <p:spTgt spid="32"/>
                                        </p:tgtEl>
                                        <p:attrNameLst>
                                          <p:attrName>stroke.color</p:attrName>
                                        </p:attrNameLst>
                                      </p:cBhvr>
                                      <p:to>
                                        <a:schemeClr val="accent2"/>
                                      </p:to>
                                    </p:animClr>
                                    <p:set>
                                      <p:cBhvr>
                                        <p:cTn id="17" dur="2000" fill="hold"/>
                                        <p:tgtEl>
                                          <p:spTgt spid="32"/>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56687-BCCF-9952-4ADC-9011E2367355}"/>
            </a:ext>
          </a:extLst>
        </p:cNvPr>
        <p:cNvGrpSpPr/>
        <p:nvPr/>
      </p:nvGrpSpPr>
      <p:grpSpPr>
        <a:xfrm>
          <a:off x="0" y="0"/>
          <a:ext cx="0" cy="0"/>
          <a:chOff x="0" y="0"/>
          <a:chExt cx="0" cy="0"/>
        </a:xfrm>
      </p:grpSpPr>
      <p:sp>
        <p:nvSpPr>
          <p:cNvPr id="31" name="Title 30">
            <a:extLst>
              <a:ext uri="{FF2B5EF4-FFF2-40B4-BE49-F238E27FC236}">
                <a16:creationId xmlns:a16="http://schemas.microsoft.com/office/drawing/2014/main" id="{2F5E259F-AF0C-B55B-FDCF-DA476A8921D1}"/>
              </a:ext>
            </a:extLst>
          </p:cNvPr>
          <p:cNvSpPr>
            <a:spLocks noGrp="1"/>
          </p:cNvSpPr>
          <p:nvPr>
            <p:ph type="title"/>
          </p:nvPr>
        </p:nvSpPr>
        <p:spPr/>
        <p:txBody>
          <a:bodyPr/>
          <a:lstStyle/>
          <a:p>
            <a:r>
              <a:rPr lang="en-US" dirty="0"/>
              <a:t>Operationalization</a:t>
            </a:r>
          </a:p>
        </p:txBody>
      </p:sp>
      <p:sp>
        <p:nvSpPr>
          <p:cNvPr id="33" name="Slide Number Placeholder 32">
            <a:extLst>
              <a:ext uri="{FF2B5EF4-FFF2-40B4-BE49-F238E27FC236}">
                <a16:creationId xmlns:a16="http://schemas.microsoft.com/office/drawing/2014/main" id="{7501FCCE-33FF-181C-99CF-5E8FB58777A8}"/>
              </a:ext>
            </a:extLst>
          </p:cNvPr>
          <p:cNvSpPr>
            <a:spLocks noGrp="1"/>
          </p:cNvSpPr>
          <p:nvPr>
            <p:ph type="sldNum" sz="quarter" idx="12"/>
          </p:nvPr>
        </p:nvSpPr>
        <p:spPr/>
        <p:txBody>
          <a:bodyPr/>
          <a:lstStyle/>
          <a:p>
            <a:fld id="{704D49E2-C640-4137-BB2F-153E894575C6}" type="slidenum">
              <a:rPr lang="en-US" smtClean="0"/>
              <a:t>11</a:t>
            </a:fld>
            <a:endParaRPr lang="en-US" dirty="0"/>
          </a:p>
        </p:txBody>
      </p:sp>
      <p:grpSp>
        <p:nvGrpSpPr>
          <p:cNvPr id="132" name="Group 131">
            <a:extLst>
              <a:ext uri="{FF2B5EF4-FFF2-40B4-BE49-F238E27FC236}">
                <a16:creationId xmlns:a16="http://schemas.microsoft.com/office/drawing/2014/main" id="{20902936-EF48-6A94-75F5-FB7D560DF60F}"/>
              </a:ext>
            </a:extLst>
          </p:cNvPr>
          <p:cNvGrpSpPr/>
          <p:nvPr/>
        </p:nvGrpSpPr>
        <p:grpSpPr>
          <a:xfrm>
            <a:off x="0" y="1430337"/>
            <a:ext cx="12192000" cy="3997325"/>
            <a:chOff x="0" y="1430337"/>
            <a:chExt cx="12192000" cy="3997325"/>
          </a:xfrm>
        </p:grpSpPr>
        <p:grpSp>
          <p:nvGrpSpPr>
            <p:cNvPr id="46" name="Group 45">
              <a:extLst>
                <a:ext uri="{FF2B5EF4-FFF2-40B4-BE49-F238E27FC236}">
                  <a16:creationId xmlns:a16="http://schemas.microsoft.com/office/drawing/2014/main" id="{56CC934A-3E4E-2E7A-18D9-25F45D916CAB}"/>
                </a:ext>
              </a:extLst>
            </p:cNvPr>
            <p:cNvGrpSpPr/>
            <p:nvPr/>
          </p:nvGrpSpPr>
          <p:grpSpPr>
            <a:xfrm>
              <a:off x="0" y="1430337"/>
              <a:ext cx="12192000" cy="3997325"/>
              <a:chOff x="0" y="1430337"/>
              <a:chExt cx="12192000" cy="3997325"/>
            </a:xfrm>
          </p:grpSpPr>
          <p:grpSp>
            <p:nvGrpSpPr>
              <p:cNvPr id="32" name="Group 31">
                <a:extLst>
                  <a:ext uri="{FF2B5EF4-FFF2-40B4-BE49-F238E27FC236}">
                    <a16:creationId xmlns:a16="http://schemas.microsoft.com/office/drawing/2014/main" id="{0828E7CC-4291-90C8-D2C1-6CA20052B979}"/>
                  </a:ext>
                </a:extLst>
              </p:cNvPr>
              <p:cNvGrpSpPr/>
              <p:nvPr/>
            </p:nvGrpSpPr>
            <p:grpSpPr>
              <a:xfrm>
                <a:off x="0" y="1430337"/>
                <a:ext cx="12192000" cy="3997325"/>
                <a:chOff x="0" y="1430337"/>
                <a:chExt cx="12192000" cy="3997325"/>
              </a:xfrm>
            </p:grpSpPr>
            <p:pic>
              <p:nvPicPr>
                <p:cNvPr id="5" name="Picture 4">
                  <a:extLst>
                    <a:ext uri="{FF2B5EF4-FFF2-40B4-BE49-F238E27FC236}">
                      <a16:creationId xmlns:a16="http://schemas.microsoft.com/office/drawing/2014/main" id="{52B48F0D-39A4-E479-7355-78A05FF91FCC}"/>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0" y="1430337"/>
                  <a:ext cx="12192000" cy="3997325"/>
                </a:xfrm>
                <a:prstGeom prst="rect">
                  <a:avLst/>
                </a:prstGeom>
              </p:spPr>
            </p:pic>
            <p:sp>
              <p:nvSpPr>
                <p:cNvPr id="7" name="Rectangle 6">
                  <a:extLst>
                    <a:ext uri="{FF2B5EF4-FFF2-40B4-BE49-F238E27FC236}">
                      <a16:creationId xmlns:a16="http://schemas.microsoft.com/office/drawing/2014/main" id="{AFD86978-470A-1516-DD9E-6132EFFAB881}"/>
                    </a:ext>
                  </a:extLst>
                </p:cNvPr>
                <p:cNvSpPr/>
                <p:nvPr/>
              </p:nvSpPr>
              <p:spPr>
                <a:xfrm>
                  <a:off x="5122606" y="3116825"/>
                  <a:ext cx="1248697" cy="619433"/>
                </a:xfrm>
                <a:prstGeom prst="rect">
                  <a:avLst/>
                </a:prstGeom>
                <a:solidFill>
                  <a:schemeClr val="bg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 name="Rectangle 8">
                  <a:extLst>
                    <a:ext uri="{FF2B5EF4-FFF2-40B4-BE49-F238E27FC236}">
                      <a16:creationId xmlns:a16="http://schemas.microsoft.com/office/drawing/2014/main" id="{19AD419E-1F2D-1598-228D-B198FA9AB894}"/>
                    </a:ext>
                  </a:extLst>
                </p:cNvPr>
                <p:cNvSpPr/>
                <p:nvPr/>
              </p:nvSpPr>
              <p:spPr>
                <a:xfrm>
                  <a:off x="5545393" y="3695493"/>
                  <a:ext cx="432621" cy="31463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8" name="Picture 8" descr="Dimension Icons - Free SVG &amp; PNG Dimension Images - Noun Project">
                  <a:extLst>
                    <a:ext uri="{FF2B5EF4-FFF2-40B4-BE49-F238E27FC236}">
                      <a16:creationId xmlns:a16="http://schemas.microsoft.com/office/drawing/2014/main" id="{F4944A82-3711-CBE5-6E3A-0363BD959C42}"/>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52102" y="2715264"/>
                  <a:ext cx="1145100" cy="11451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21B8BCBF-84BA-6BF1-A9C9-B380C87546BE}"/>
                    </a:ext>
                  </a:extLst>
                </p:cNvPr>
                <p:cNvSpPr/>
                <p:nvPr/>
              </p:nvSpPr>
              <p:spPr>
                <a:xfrm>
                  <a:off x="1361767" y="2087918"/>
                  <a:ext cx="432621" cy="31463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E60690A-C4DB-AFF7-670C-D433EFF87C13}"/>
                    </a:ext>
                  </a:extLst>
                </p:cNvPr>
                <p:cNvSpPr/>
                <p:nvPr/>
              </p:nvSpPr>
              <p:spPr>
                <a:xfrm>
                  <a:off x="1410927" y="3269225"/>
                  <a:ext cx="432621" cy="31463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29B7B5C-CC07-BA15-0AB0-F6AE6E74FF2E}"/>
                    </a:ext>
                  </a:extLst>
                </p:cNvPr>
                <p:cNvSpPr/>
                <p:nvPr/>
              </p:nvSpPr>
              <p:spPr>
                <a:xfrm>
                  <a:off x="1233951" y="4439263"/>
                  <a:ext cx="432621" cy="31463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24" name="Picture 2" descr="Clipboard Witch Checklist Wishlist Line Icon Editable Stroke Pixel Perfect  For Mobile And Web Stock Illustration - Download Image Now - iStock">
                  <a:extLst>
                    <a:ext uri="{FF2B5EF4-FFF2-40B4-BE49-F238E27FC236}">
                      <a16:creationId xmlns:a16="http://schemas.microsoft.com/office/drawing/2014/main" id="{B0EA9DDC-F596-B81A-B13F-34C69F89D333}"/>
                    </a:ext>
                  </a:extLst>
                </p:cNvPr>
                <p:cNvPicPr>
                  <a:picLocks noChangeAspect="1" noChangeArrowheads="1"/>
                </p:cNvPicPr>
                <p:nvPr/>
              </p:nvPicPr>
              <p:blipFill rotWithShape="1">
                <a:blip r:embed="rId6">
                  <a:clrChange>
                    <a:clrFrom>
                      <a:srgbClr val="FFFFFF"/>
                    </a:clrFrom>
                    <a:clrTo>
                      <a:srgbClr val="FFFFFF">
                        <a:alpha val="0"/>
                      </a:srgbClr>
                    </a:clrTo>
                  </a:clrChange>
                  <a:alphaModFix/>
                  <a:duotone>
                    <a:prstClr val="black"/>
                    <a:schemeClr val="accent1">
                      <a:tint val="45000"/>
                      <a:satMod val="400000"/>
                    </a:schemeClr>
                  </a:duotone>
                  <a:extLst>
                    <a:ext uri="{28A0092B-C50C-407E-A947-70E740481C1C}">
                      <a14:useLocalDpi xmlns:a14="http://schemas.microsoft.com/office/drawing/2010/main" val="0"/>
                    </a:ext>
                  </a:extLst>
                </a:blip>
                <a:srcRect l="23018" t="18781" r="22598" b="16817"/>
                <a:stretch/>
              </p:blipFill>
              <p:spPr bwMode="auto">
                <a:xfrm>
                  <a:off x="1388999" y="1982188"/>
                  <a:ext cx="454549" cy="52322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Clipboard Witch Checklist Wishlist Line Icon Editable Stroke Pixel Perfect  For Mobile And Web Stock Illustration - Download Image Now - iStock">
                  <a:extLst>
                    <a:ext uri="{FF2B5EF4-FFF2-40B4-BE49-F238E27FC236}">
                      <a16:creationId xmlns:a16="http://schemas.microsoft.com/office/drawing/2014/main" id="{29664D2D-9A44-C436-C378-CCC64D571EB2}"/>
                    </a:ext>
                  </a:extLst>
                </p:cNvPr>
                <p:cNvPicPr>
                  <a:picLocks noChangeAspect="1" noChangeArrowheads="1"/>
                </p:cNvPicPr>
                <p:nvPr/>
              </p:nvPicPr>
              <p:blipFill rotWithShape="1">
                <a:blip r:embed="rId6">
                  <a:clrChange>
                    <a:clrFrom>
                      <a:srgbClr val="FFFFFF"/>
                    </a:clrFrom>
                    <a:clrTo>
                      <a:srgbClr val="FFFFFF">
                        <a:alpha val="0"/>
                      </a:srgbClr>
                    </a:clrTo>
                  </a:clrChange>
                  <a:alphaModFix/>
                  <a:duotone>
                    <a:prstClr val="black"/>
                    <a:schemeClr val="accent1">
                      <a:tint val="45000"/>
                      <a:satMod val="400000"/>
                    </a:schemeClr>
                  </a:duotone>
                  <a:extLst>
                    <a:ext uri="{28A0092B-C50C-407E-A947-70E740481C1C}">
                      <a14:useLocalDpi xmlns:a14="http://schemas.microsoft.com/office/drawing/2010/main" val="0"/>
                    </a:ext>
                  </a:extLst>
                </a:blip>
                <a:srcRect l="23018" t="18781" r="22598" b="16817"/>
                <a:stretch/>
              </p:blipFill>
              <p:spPr bwMode="auto">
                <a:xfrm>
                  <a:off x="1445534" y="3157020"/>
                  <a:ext cx="454549" cy="52322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Clipboard Witch Checklist Wishlist Line Icon Editable Stroke Pixel Perfect  For Mobile And Web Stock Illustration - Download Image Now - iStock">
                  <a:extLst>
                    <a:ext uri="{FF2B5EF4-FFF2-40B4-BE49-F238E27FC236}">
                      <a16:creationId xmlns:a16="http://schemas.microsoft.com/office/drawing/2014/main" id="{283E3CF0-D626-302B-3621-5B4EBDEB8E00}"/>
                    </a:ext>
                  </a:extLst>
                </p:cNvPr>
                <p:cNvPicPr>
                  <a:picLocks noChangeAspect="1" noChangeArrowheads="1"/>
                </p:cNvPicPr>
                <p:nvPr/>
              </p:nvPicPr>
              <p:blipFill rotWithShape="1">
                <a:blip r:embed="rId6">
                  <a:clrChange>
                    <a:clrFrom>
                      <a:srgbClr val="FFFFFF"/>
                    </a:clrFrom>
                    <a:clrTo>
                      <a:srgbClr val="FFFFFF">
                        <a:alpha val="0"/>
                      </a:srgbClr>
                    </a:clrTo>
                  </a:clrChange>
                  <a:alphaModFix/>
                  <a:duotone>
                    <a:prstClr val="black"/>
                    <a:schemeClr val="accent1">
                      <a:tint val="45000"/>
                      <a:satMod val="400000"/>
                    </a:schemeClr>
                  </a:duotone>
                  <a:extLst>
                    <a:ext uri="{28A0092B-C50C-407E-A947-70E740481C1C}">
                      <a14:useLocalDpi xmlns:a14="http://schemas.microsoft.com/office/drawing/2010/main" val="0"/>
                    </a:ext>
                  </a:extLst>
                </a:blip>
                <a:srcRect l="23018" t="18781" r="22598" b="16817"/>
                <a:stretch/>
              </p:blipFill>
              <p:spPr bwMode="auto">
                <a:xfrm>
                  <a:off x="1292509" y="4305807"/>
                  <a:ext cx="454549" cy="52322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40CD283-679B-1FDE-F678-8353B514756F}"/>
                    </a:ext>
                  </a:extLst>
                </p:cNvPr>
                <p:cNvSpPr/>
                <p:nvPr/>
              </p:nvSpPr>
              <p:spPr>
                <a:xfrm>
                  <a:off x="8578243" y="2133367"/>
                  <a:ext cx="605086" cy="31463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 name="Rectangle 2">
                  <a:extLst>
                    <a:ext uri="{FF2B5EF4-FFF2-40B4-BE49-F238E27FC236}">
                      <a16:creationId xmlns:a16="http://schemas.microsoft.com/office/drawing/2014/main" id="{E688691B-B55B-F643-DDA3-047520182424}"/>
                    </a:ext>
                  </a:extLst>
                </p:cNvPr>
                <p:cNvSpPr/>
                <p:nvPr/>
              </p:nvSpPr>
              <p:spPr>
                <a:xfrm>
                  <a:off x="10082578" y="2142966"/>
                  <a:ext cx="605086" cy="31463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4" name="Rectangle 3">
                  <a:extLst>
                    <a:ext uri="{FF2B5EF4-FFF2-40B4-BE49-F238E27FC236}">
                      <a16:creationId xmlns:a16="http://schemas.microsoft.com/office/drawing/2014/main" id="{EE721565-7CA9-006A-B8DD-B9E468B737AC}"/>
                    </a:ext>
                  </a:extLst>
                </p:cNvPr>
                <p:cNvSpPr/>
                <p:nvPr/>
              </p:nvSpPr>
              <p:spPr>
                <a:xfrm>
                  <a:off x="7826077" y="4429431"/>
                  <a:ext cx="605086" cy="31463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6" name="Rectangle 5">
                  <a:extLst>
                    <a:ext uri="{FF2B5EF4-FFF2-40B4-BE49-F238E27FC236}">
                      <a16:creationId xmlns:a16="http://schemas.microsoft.com/office/drawing/2014/main" id="{7B78664A-EAA4-27B7-7563-8B7C4ADE5D66}"/>
                    </a:ext>
                  </a:extLst>
                </p:cNvPr>
                <p:cNvSpPr/>
                <p:nvPr/>
              </p:nvSpPr>
              <p:spPr>
                <a:xfrm>
                  <a:off x="9403952" y="4514395"/>
                  <a:ext cx="605086" cy="31463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44BC4E2-9875-812B-5D9A-E9C164B37920}"/>
                    </a:ext>
                  </a:extLst>
                </p:cNvPr>
                <p:cNvSpPr/>
                <p:nvPr/>
              </p:nvSpPr>
              <p:spPr>
                <a:xfrm>
                  <a:off x="10899491" y="4429431"/>
                  <a:ext cx="605086" cy="31463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1" name="TextBox 20">
                  <a:extLst>
                    <a:ext uri="{FF2B5EF4-FFF2-40B4-BE49-F238E27FC236}">
                      <a16:creationId xmlns:a16="http://schemas.microsoft.com/office/drawing/2014/main" id="{590B6FC2-6074-1BB4-32CB-368B763ED300}"/>
                    </a:ext>
                  </a:extLst>
                </p:cNvPr>
                <p:cNvSpPr txBox="1"/>
                <p:nvPr/>
              </p:nvSpPr>
              <p:spPr>
                <a:xfrm>
                  <a:off x="8467403" y="2057488"/>
                  <a:ext cx="826765" cy="400110"/>
                </a:xfrm>
                <a:prstGeom prst="rect">
                  <a:avLst/>
                </a:prstGeom>
                <a:noFill/>
              </p:spPr>
              <p:txBody>
                <a:bodyPr wrap="none" rtlCol="0">
                  <a:spAutoFit/>
                </a:bodyPr>
                <a:lstStyle>
                  <a:defPPr>
                    <a:defRPr lang="en-US"/>
                  </a:defPPr>
                  <a:lvl1pPr>
                    <a:defRPr sz="2000" b="1" i="1">
                      <a:solidFill>
                        <a:srgbClr val="004768"/>
                      </a:solidFill>
                    </a:defRPr>
                  </a:lvl1pPr>
                </a:lstStyle>
                <a:p>
                  <a:r>
                    <a:rPr lang="en-US" dirty="0"/>
                    <a:t>Index</a:t>
                  </a:r>
                </a:p>
              </p:txBody>
            </p:sp>
            <p:sp>
              <p:nvSpPr>
                <p:cNvPr id="27" name="TextBox 26">
                  <a:extLst>
                    <a:ext uri="{FF2B5EF4-FFF2-40B4-BE49-F238E27FC236}">
                      <a16:creationId xmlns:a16="http://schemas.microsoft.com/office/drawing/2014/main" id="{8B01A6F1-6EA5-0942-B556-D529BF3E8FEF}"/>
                    </a:ext>
                  </a:extLst>
                </p:cNvPr>
                <p:cNvSpPr txBox="1"/>
                <p:nvPr/>
              </p:nvSpPr>
              <p:spPr>
                <a:xfrm>
                  <a:off x="10009038" y="2053453"/>
                  <a:ext cx="826765" cy="400110"/>
                </a:xfrm>
                <a:prstGeom prst="rect">
                  <a:avLst/>
                </a:prstGeom>
                <a:noFill/>
              </p:spPr>
              <p:txBody>
                <a:bodyPr wrap="none" rtlCol="0">
                  <a:spAutoFit/>
                </a:bodyPr>
                <a:lstStyle>
                  <a:defPPr>
                    <a:defRPr lang="en-US"/>
                  </a:defPPr>
                  <a:lvl1pPr>
                    <a:defRPr sz="2000" b="1" i="1">
                      <a:solidFill>
                        <a:srgbClr val="004768"/>
                      </a:solidFill>
                    </a:defRPr>
                  </a:lvl1pPr>
                </a:lstStyle>
                <a:p>
                  <a:r>
                    <a:rPr lang="en-US" dirty="0"/>
                    <a:t>Index</a:t>
                  </a:r>
                </a:p>
              </p:txBody>
            </p:sp>
            <p:sp>
              <p:nvSpPr>
                <p:cNvPr id="28" name="TextBox 27">
                  <a:extLst>
                    <a:ext uri="{FF2B5EF4-FFF2-40B4-BE49-F238E27FC236}">
                      <a16:creationId xmlns:a16="http://schemas.microsoft.com/office/drawing/2014/main" id="{B006DDD0-EB01-05D4-CDAC-4EE77A60502D}"/>
                    </a:ext>
                  </a:extLst>
                </p:cNvPr>
                <p:cNvSpPr txBox="1"/>
                <p:nvPr/>
              </p:nvSpPr>
              <p:spPr>
                <a:xfrm>
                  <a:off x="7703714" y="4386429"/>
                  <a:ext cx="826765" cy="400110"/>
                </a:xfrm>
                <a:prstGeom prst="rect">
                  <a:avLst/>
                </a:prstGeom>
                <a:noFill/>
              </p:spPr>
              <p:txBody>
                <a:bodyPr wrap="none" rtlCol="0">
                  <a:spAutoFit/>
                </a:bodyPr>
                <a:lstStyle>
                  <a:defPPr>
                    <a:defRPr lang="en-US"/>
                  </a:defPPr>
                  <a:lvl1pPr>
                    <a:defRPr sz="2000" b="1" i="1">
                      <a:solidFill>
                        <a:srgbClr val="004768"/>
                      </a:solidFill>
                    </a:defRPr>
                  </a:lvl1pPr>
                </a:lstStyle>
                <a:p>
                  <a:r>
                    <a:rPr lang="en-US" dirty="0"/>
                    <a:t>Index</a:t>
                  </a:r>
                </a:p>
              </p:txBody>
            </p:sp>
            <p:sp>
              <p:nvSpPr>
                <p:cNvPr id="29" name="TextBox 28">
                  <a:extLst>
                    <a:ext uri="{FF2B5EF4-FFF2-40B4-BE49-F238E27FC236}">
                      <a16:creationId xmlns:a16="http://schemas.microsoft.com/office/drawing/2014/main" id="{E59EEA42-FD5A-C518-DD87-ED929EA794E0}"/>
                    </a:ext>
                  </a:extLst>
                </p:cNvPr>
                <p:cNvSpPr txBox="1"/>
                <p:nvPr/>
              </p:nvSpPr>
              <p:spPr>
                <a:xfrm>
                  <a:off x="9248597" y="4386429"/>
                  <a:ext cx="826765" cy="400110"/>
                </a:xfrm>
                <a:prstGeom prst="rect">
                  <a:avLst/>
                </a:prstGeom>
                <a:noFill/>
              </p:spPr>
              <p:txBody>
                <a:bodyPr wrap="none" rtlCol="0">
                  <a:spAutoFit/>
                </a:bodyPr>
                <a:lstStyle>
                  <a:defPPr>
                    <a:defRPr lang="en-US"/>
                  </a:defPPr>
                  <a:lvl1pPr>
                    <a:defRPr sz="2000" b="1" i="1">
                      <a:solidFill>
                        <a:srgbClr val="004768"/>
                      </a:solidFill>
                    </a:defRPr>
                  </a:lvl1pPr>
                </a:lstStyle>
                <a:p>
                  <a:r>
                    <a:rPr lang="en-US" dirty="0"/>
                    <a:t>Index</a:t>
                  </a:r>
                </a:p>
              </p:txBody>
            </p:sp>
            <p:sp>
              <p:nvSpPr>
                <p:cNvPr id="30" name="TextBox 29">
                  <a:extLst>
                    <a:ext uri="{FF2B5EF4-FFF2-40B4-BE49-F238E27FC236}">
                      <a16:creationId xmlns:a16="http://schemas.microsoft.com/office/drawing/2014/main" id="{C9887DA9-D32C-49EE-F534-530CCBA4072F}"/>
                    </a:ext>
                  </a:extLst>
                </p:cNvPr>
                <p:cNvSpPr txBox="1"/>
                <p:nvPr/>
              </p:nvSpPr>
              <p:spPr>
                <a:xfrm>
                  <a:off x="10788651" y="4386173"/>
                  <a:ext cx="826765" cy="400110"/>
                </a:xfrm>
                <a:prstGeom prst="rect">
                  <a:avLst/>
                </a:prstGeom>
                <a:noFill/>
              </p:spPr>
              <p:txBody>
                <a:bodyPr wrap="none" rtlCol="0">
                  <a:spAutoFit/>
                </a:bodyPr>
                <a:lstStyle>
                  <a:defPPr>
                    <a:defRPr lang="en-US"/>
                  </a:defPPr>
                  <a:lvl1pPr>
                    <a:defRPr sz="2000" b="1" i="1">
                      <a:solidFill>
                        <a:srgbClr val="004768"/>
                      </a:solidFill>
                    </a:defRPr>
                  </a:lvl1pPr>
                </a:lstStyle>
                <a:p>
                  <a:r>
                    <a:rPr lang="en-US" dirty="0"/>
                    <a:t>Index</a:t>
                  </a:r>
                </a:p>
              </p:txBody>
            </p:sp>
          </p:grpSp>
          <p:grpSp>
            <p:nvGrpSpPr>
              <p:cNvPr id="43" name="Group 42">
                <a:extLst>
                  <a:ext uri="{FF2B5EF4-FFF2-40B4-BE49-F238E27FC236}">
                    <a16:creationId xmlns:a16="http://schemas.microsoft.com/office/drawing/2014/main" id="{0D8CC69C-9D73-46EC-8C2B-1D638B9DA448}"/>
                  </a:ext>
                </a:extLst>
              </p:cNvPr>
              <p:cNvGrpSpPr/>
              <p:nvPr/>
            </p:nvGrpSpPr>
            <p:grpSpPr>
              <a:xfrm>
                <a:off x="338557" y="1979557"/>
                <a:ext cx="1723177" cy="584775"/>
                <a:chOff x="14179840" y="2063543"/>
                <a:chExt cx="1723177" cy="584775"/>
              </a:xfrm>
            </p:grpSpPr>
            <p:sp>
              <p:nvSpPr>
                <p:cNvPr id="36" name="Rectangle 35">
                  <a:extLst>
                    <a:ext uri="{FF2B5EF4-FFF2-40B4-BE49-F238E27FC236}">
                      <a16:creationId xmlns:a16="http://schemas.microsoft.com/office/drawing/2014/main" id="{25DE0AFC-7074-8757-64A4-1111B86686A5}"/>
                    </a:ext>
                  </a:extLst>
                </p:cNvPr>
                <p:cNvSpPr/>
                <p:nvPr/>
              </p:nvSpPr>
              <p:spPr>
                <a:xfrm>
                  <a:off x="14180355" y="2065440"/>
                  <a:ext cx="1722662" cy="576197"/>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54CED323-7536-78C2-1BE6-8B07B8833908}"/>
                    </a:ext>
                  </a:extLst>
                </p:cNvPr>
                <p:cNvSpPr txBox="1"/>
                <p:nvPr/>
              </p:nvSpPr>
              <p:spPr>
                <a:xfrm>
                  <a:off x="14179840" y="2063543"/>
                  <a:ext cx="1263359" cy="584775"/>
                </a:xfrm>
                <a:prstGeom prst="rect">
                  <a:avLst/>
                </a:prstGeom>
                <a:noFill/>
              </p:spPr>
              <p:txBody>
                <a:bodyPr wrap="none" rtlCol="0">
                  <a:spAutoFit/>
                </a:bodyPr>
                <a:lstStyle>
                  <a:defPPr>
                    <a:defRPr lang="en-US"/>
                  </a:defPPr>
                  <a:lvl1pPr>
                    <a:defRPr sz="2400" b="1" i="1">
                      <a:solidFill>
                        <a:srgbClr val="004768"/>
                      </a:solidFill>
                    </a:defRPr>
                  </a:lvl1pPr>
                </a:lstStyle>
                <a:p>
                  <a:r>
                    <a:rPr lang="en-US" sz="1600" dirty="0"/>
                    <a:t>Ideological </a:t>
                  </a:r>
                </a:p>
                <a:p>
                  <a:r>
                    <a:rPr lang="en-US" sz="1600" dirty="0"/>
                    <a:t>Positions</a:t>
                  </a:r>
                </a:p>
              </p:txBody>
            </p:sp>
          </p:grpSp>
          <p:grpSp>
            <p:nvGrpSpPr>
              <p:cNvPr id="44" name="Group 43">
                <a:extLst>
                  <a:ext uri="{FF2B5EF4-FFF2-40B4-BE49-F238E27FC236}">
                    <a16:creationId xmlns:a16="http://schemas.microsoft.com/office/drawing/2014/main" id="{16940855-9048-8933-E179-EF623A81A7AF}"/>
                  </a:ext>
                </a:extLst>
              </p:cNvPr>
              <p:cNvGrpSpPr/>
              <p:nvPr/>
            </p:nvGrpSpPr>
            <p:grpSpPr>
              <a:xfrm>
                <a:off x="338733" y="3139005"/>
                <a:ext cx="1723001" cy="589459"/>
                <a:chOff x="14210457" y="3166756"/>
                <a:chExt cx="1723001" cy="589459"/>
              </a:xfrm>
            </p:grpSpPr>
            <p:sp>
              <p:nvSpPr>
                <p:cNvPr id="37" name="Rectangle 36">
                  <a:extLst>
                    <a:ext uri="{FF2B5EF4-FFF2-40B4-BE49-F238E27FC236}">
                      <a16:creationId xmlns:a16="http://schemas.microsoft.com/office/drawing/2014/main" id="{487E8E6E-BC35-65BD-C6C6-72DF1AAFEB0B}"/>
                    </a:ext>
                  </a:extLst>
                </p:cNvPr>
                <p:cNvSpPr/>
                <p:nvPr/>
              </p:nvSpPr>
              <p:spPr>
                <a:xfrm>
                  <a:off x="14210796" y="3166756"/>
                  <a:ext cx="1722662" cy="576197"/>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9EF0A116-7FE8-B743-76FC-8154081528DF}"/>
                    </a:ext>
                  </a:extLst>
                </p:cNvPr>
                <p:cNvSpPr txBox="1"/>
                <p:nvPr/>
              </p:nvSpPr>
              <p:spPr>
                <a:xfrm>
                  <a:off x="14210457" y="3171440"/>
                  <a:ext cx="1335884" cy="584775"/>
                </a:xfrm>
                <a:prstGeom prst="rect">
                  <a:avLst/>
                </a:prstGeom>
                <a:noFill/>
              </p:spPr>
              <p:txBody>
                <a:bodyPr wrap="square" rtlCol="0">
                  <a:spAutoFit/>
                </a:bodyPr>
                <a:lstStyle>
                  <a:defPPr>
                    <a:defRPr lang="en-US"/>
                  </a:defPPr>
                  <a:lvl1pPr>
                    <a:defRPr sz="1600" b="1" i="1">
                      <a:solidFill>
                        <a:srgbClr val="004768"/>
                      </a:solidFill>
                    </a:defRPr>
                  </a:lvl1pPr>
                </a:lstStyle>
                <a:p>
                  <a:r>
                    <a:rPr lang="en-US" dirty="0"/>
                    <a:t>Support </a:t>
                  </a:r>
                </a:p>
                <a:p>
                  <a:r>
                    <a:rPr lang="en-US" dirty="0"/>
                    <a:t>for Violence</a:t>
                  </a:r>
                </a:p>
              </p:txBody>
            </p:sp>
          </p:grpSp>
          <p:grpSp>
            <p:nvGrpSpPr>
              <p:cNvPr id="45" name="Group 44">
                <a:extLst>
                  <a:ext uri="{FF2B5EF4-FFF2-40B4-BE49-F238E27FC236}">
                    <a16:creationId xmlns:a16="http://schemas.microsoft.com/office/drawing/2014/main" id="{622D8B1E-D9C6-D430-7CAE-DBA3B896CA8F}"/>
                  </a:ext>
                </a:extLst>
              </p:cNvPr>
              <p:cNvGrpSpPr/>
              <p:nvPr/>
            </p:nvGrpSpPr>
            <p:grpSpPr>
              <a:xfrm>
                <a:off x="339072" y="4305807"/>
                <a:ext cx="1722662" cy="589965"/>
                <a:chOff x="14219733" y="4073262"/>
                <a:chExt cx="1722662" cy="589965"/>
              </a:xfrm>
            </p:grpSpPr>
            <p:sp>
              <p:nvSpPr>
                <p:cNvPr id="40" name="Rectangle 39">
                  <a:extLst>
                    <a:ext uri="{FF2B5EF4-FFF2-40B4-BE49-F238E27FC236}">
                      <a16:creationId xmlns:a16="http://schemas.microsoft.com/office/drawing/2014/main" id="{D319E104-B234-B5F4-BEE4-BE5942FBB27E}"/>
                    </a:ext>
                  </a:extLst>
                </p:cNvPr>
                <p:cNvSpPr/>
                <p:nvPr/>
              </p:nvSpPr>
              <p:spPr>
                <a:xfrm>
                  <a:off x="14219733" y="4073262"/>
                  <a:ext cx="1722662" cy="576197"/>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D57AAC3E-FCDB-F58D-0111-E2DA50A60B83}"/>
                    </a:ext>
                  </a:extLst>
                </p:cNvPr>
                <p:cNvSpPr txBox="1"/>
                <p:nvPr/>
              </p:nvSpPr>
              <p:spPr>
                <a:xfrm>
                  <a:off x="14222683" y="4078452"/>
                  <a:ext cx="1577943" cy="584775"/>
                </a:xfrm>
                <a:prstGeom prst="rect">
                  <a:avLst/>
                </a:prstGeom>
                <a:noFill/>
              </p:spPr>
              <p:txBody>
                <a:bodyPr wrap="square" rtlCol="0">
                  <a:spAutoFit/>
                </a:bodyPr>
                <a:lstStyle>
                  <a:defPPr>
                    <a:defRPr lang="en-US"/>
                  </a:defPPr>
                  <a:lvl1pPr>
                    <a:defRPr sz="1600" b="1" i="1">
                      <a:solidFill>
                        <a:srgbClr val="004768"/>
                      </a:solidFill>
                    </a:defRPr>
                  </a:lvl1pPr>
                </a:lstStyle>
                <a:p>
                  <a:r>
                    <a:rPr lang="en-US" dirty="0"/>
                    <a:t>Outgroup Intolerance</a:t>
                  </a:r>
                </a:p>
              </p:txBody>
            </p:sp>
          </p:grpSp>
        </p:grpSp>
        <p:sp>
          <p:nvSpPr>
            <p:cNvPr id="47" name="Rectangle 46">
              <a:extLst>
                <a:ext uri="{FF2B5EF4-FFF2-40B4-BE49-F238E27FC236}">
                  <a16:creationId xmlns:a16="http://schemas.microsoft.com/office/drawing/2014/main" id="{70CCA6FF-263F-C9A2-B038-F7D8035C2AE1}"/>
                </a:ext>
              </a:extLst>
            </p:cNvPr>
            <p:cNvSpPr/>
            <p:nvPr/>
          </p:nvSpPr>
          <p:spPr>
            <a:xfrm>
              <a:off x="3175819" y="4324874"/>
              <a:ext cx="760852" cy="523220"/>
            </a:xfrm>
            <a:prstGeom prst="rect">
              <a:avLst/>
            </a:prstGeom>
            <a:noFill/>
            <a:ln w="28575">
              <a:solidFill>
                <a:srgbClr val="5B5B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4" name="Group 103">
              <a:extLst>
                <a:ext uri="{FF2B5EF4-FFF2-40B4-BE49-F238E27FC236}">
                  <a16:creationId xmlns:a16="http://schemas.microsoft.com/office/drawing/2014/main" id="{6F4BEF2D-165B-F867-D299-724D12EF924B}"/>
                </a:ext>
              </a:extLst>
            </p:cNvPr>
            <p:cNvGrpSpPr/>
            <p:nvPr/>
          </p:nvGrpSpPr>
          <p:grpSpPr>
            <a:xfrm>
              <a:off x="1674955" y="3217178"/>
              <a:ext cx="337185" cy="388645"/>
              <a:chOff x="3305353" y="5791405"/>
              <a:chExt cx="562500" cy="523294"/>
            </a:xfrm>
          </p:grpSpPr>
          <p:pic>
            <p:nvPicPr>
              <p:cNvPr id="105" name="Picture 2" descr="Clipboard Witch Checklist Wishlist Line Icon Editable Stroke Pixel Perfect  For Mobile And Web Stock Illustration - Download Image Now - iStock">
                <a:extLst>
                  <a:ext uri="{FF2B5EF4-FFF2-40B4-BE49-F238E27FC236}">
                    <a16:creationId xmlns:a16="http://schemas.microsoft.com/office/drawing/2014/main" id="{40FE97E7-00B4-3D9B-4040-87A5532E2D84}"/>
                  </a:ext>
                </a:extLst>
              </p:cNvPr>
              <p:cNvPicPr>
                <a:picLocks noChangeAspect="1" noChangeArrowheads="1"/>
              </p:cNvPicPr>
              <p:nvPr/>
            </p:nvPicPr>
            <p:blipFill rotWithShape="1">
              <a:blip r:embed="rId6">
                <a:clrChange>
                  <a:clrFrom>
                    <a:srgbClr val="FFFFFF"/>
                  </a:clrFrom>
                  <a:clrTo>
                    <a:srgbClr val="FFFFFF">
                      <a:alpha val="0"/>
                    </a:srgbClr>
                  </a:clrTo>
                </a:clrChange>
                <a:alphaModFix/>
                <a:duotone>
                  <a:prstClr val="black"/>
                  <a:schemeClr val="accent1">
                    <a:tint val="45000"/>
                    <a:satMod val="400000"/>
                  </a:schemeClr>
                </a:duotone>
                <a:extLst>
                  <a:ext uri="{28A0092B-C50C-407E-A947-70E740481C1C}">
                    <a14:useLocalDpi xmlns:a14="http://schemas.microsoft.com/office/drawing/2010/main" val="0"/>
                  </a:ext>
                </a:extLst>
              </a:blip>
              <a:srcRect l="23018" t="18781" r="22598" b="16817"/>
              <a:stretch/>
            </p:blipFill>
            <p:spPr bwMode="auto">
              <a:xfrm>
                <a:off x="3305353" y="5791405"/>
                <a:ext cx="375000" cy="431653"/>
              </a:xfrm>
              <a:prstGeom prst="rect">
                <a:avLst/>
              </a:prstGeom>
              <a:solidFill>
                <a:srgbClr val="FFFFFF"/>
              </a:solidFill>
            </p:spPr>
          </p:pic>
          <p:pic>
            <p:nvPicPr>
              <p:cNvPr id="106" name="Picture 2" descr="Clipboard Witch Checklist Wishlist Line Icon Editable Stroke Pixel Perfect  For Mobile And Web Stock Illustration - Download Image Now - iStock">
                <a:extLst>
                  <a:ext uri="{FF2B5EF4-FFF2-40B4-BE49-F238E27FC236}">
                    <a16:creationId xmlns:a16="http://schemas.microsoft.com/office/drawing/2014/main" id="{65574B8D-7318-07CA-8FBC-60283C0CFDF4}"/>
                  </a:ext>
                </a:extLst>
              </p:cNvPr>
              <p:cNvPicPr>
                <a:picLocks noChangeAspect="1" noChangeArrowheads="1"/>
              </p:cNvPicPr>
              <p:nvPr/>
            </p:nvPicPr>
            <p:blipFill rotWithShape="1">
              <a:blip r:embed="rId6">
                <a:clrChange>
                  <a:clrFrom>
                    <a:srgbClr val="FFFFFF"/>
                  </a:clrFrom>
                  <a:clrTo>
                    <a:srgbClr val="FFFFFF">
                      <a:alpha val="0"/>
                    </a:srgbClr>
                  </a:clrTo>
                </a:clrChange>
                <a:alphaModFix/>
                <a:duotone>
                  <a:prstClr val="black"/>
                  <a:schemeClr val="accent1">
                    <a:tint val="45000"/>
                    <a:satMod val="400000"/>
                  </a:schemeClr>
                </a:duotone>
                <a:extLst>
                  <a:ext uri="{28A0092B-C50C-407E-A947-70E740481C1C}">
                    <a14:useLocalDpi xmlns:a14="http://schemas.microsoft.com/office/drawing/2010/main" val="0"/>
                  </a:ext>
                </a:extLst>
              </a:blip>
              <a:srcRect l="23018" t="18781" r="22598" b="16817"/>
              <a:stretch/>
            </p:blipFill>
            <p:spPr bwMode="auto">
              <a:xfrm>
                <a:off x="3492853" y="5883046"/>
                <a:ext cx="375000" cy="431653"/>
              </a:xfrm>
              <a:prstGeom prst="rect">
                <a:avLst/>
              </a:prstGeom>
              <a:solidFill>
                <a:srgbClr val="FFFFFF"/>
              </a:solidFill>
            </p:spPr>
          </p:pic>
        </p:grpSp>
        <p:sp>
          <p:nvSpPr>
            <p:cNvPr id="107" name="Rectangle 106">
              <a:extLst>
                <a:ext uri="{FF2B5EF4-FFF2-40B4-BE49-F238E27FC236}">
                  <a16:creationId xmlns:a16="http://schemas.microsoft.com/office/drawing/2014/main" id="{FFDBBAD2-DC37-70FF-E241-680E8FC5DB81}"/>
                </a:ext>
              </a:extLst>
            </p:cNvPr>
            <p:cNvSpPr/>
            <p:nvPr/>
          </p:nvSpPr>
          <p:spPr>
            <a:xfrm>
              <a:off x="3175819" y="1981454"/>
              <a:ext cx="1722662" cy="576197"/>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2CFCDE55-D21F-9CB4-51FD-DC675C01C752}"/>
                </a:ext>
              </a:extLst>
            </p:cNvPr>
            <p:cNvSpPr/>
            <p:nvPr/>
          </p:nvSpPr>
          <p:spPr>
            <a:xfrm>
              <a:off x="3155947" y="4307478"/>
              <a:ext cx="1722662" cy="576197"/>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1" name="Picture 110">
              <a:extLst>
                <a:ext uri="{FF2B5EF4-FFF2-40B4-BE49-F238E27FC236}">
                  <a16:creationId xmlns:a16="http://schemas.microsoft.com/office/drawing/2014/main" id="{34CCC65F-2A21-2B9B-D772-D53B4C013D9B}"/>
                </a:ext>
              </a:extLst>
            </p:cNvPr>
            <p:cNvPicPr>
              <a:picLocks noChangeAspect="1"/>
            </p:cNvPicPr>
            <p:nvPr/>
          </p:nvPicPr>
          <p:blipFill>
            <a:blip r:embed="rId7"/>
            <a:stretch>
              <a:fillRect/>
            </a:stretch>
          </p:blipFill>
          <p:spPr>
            <a:xfrm>
              <a:off x="4346450" y="3219435"/>
              <a:ext cx="1009791" cy="362001"/>
            </a:xfrm>
            <a:prstGeom prst="rect">
              <a:avLst/>
            </a:prstGeom>
          </p:spPr>
        </p:pic>
        <p:sp>
          <p:nvSpPr>
            <p:cNvPr id="108" name="Rectangle 107">
              <a:extLst>
                <a:ext uri="{FF2B5EF4-FFF2-40B4-BE49-F238E27FC236}">
                  <a16:creationId xmlns:a16="http://schemas.microsoft.com/office/drawing/2014/main" id="{C8F5F5C3-F184-A89A-FC30-61814398A4EC}"/>
                </a:ext>
              </a:extLst>
            </p:cNvPr>
            <p:cNvSpPr/>
            <p:nvPr/>
          </p:nvSpPr>
          <p:spPr>
            <a:xfrm>
              <a:off x="3168196" y="3139759"/>
              <a:ext cx="1722662" cy="576197"/>
            </a:xfrm>
            <a:prstGeom prst="rect">
              <a:avLst/>
            </a:prstGeom>
            <a:solidFill>
              <a:schemeClr val="bg1"/>
            </a:solidFill>
            <a:ln w="28575">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3" name="Picture 112">
              <a:extLst>
                <a:ext uri="{FF2B5EF4-FFF2-40B4-BE49-F238E27FC236}">
                  <a16:creationId xmlns:a16="http://schemas.microsoft.com/office/drawing/2014/main" id="{2EF9A17A-4F1B-BC35-AE6D-AFE68CCAC872}"/>
                </a:ext>
              </a:extLst>
            </p:cNvPr>
            <p:cNvPicPr>
              <a:picLocks noChangeAspect="1"/>
            </p:cNvPicPr>
            <p:nvPr/>
          </p:nvPicPr>
          <p:blipFill>
            <a:blip r:embed="rId8"/>
            <a:stretch>
              <a:fillRect/>
            </a:stretch>
          </p:blipFill>
          <p:spPr>
            <a:xfrm>
              <a:off x="2717447" y="1581514"/>
              <a:ext cx="2133898" cy="352474"/>
            </a:xfrm>
            <a:prstGeom prst="rect">
              <a:avLst/>
            </a:prstGeom>
          </p:spPr>
        </p:pic>
        <p:cxnSp>
          <p:nvCxnSpPr>
            <p:cNvPr id="114" name="Straight Arrow Connector 113">
              <a:extLst>
                <a:ext uri="{FF2B5EF4-FFF2-40B4-BE49-F238E27FC236}">
                  <a16:creationId xmlns:a16="http://schemas.microsoft.com/office/drawing/2014/main" id="{388C4B8E-7778-3D34-191D-33FBA1796D27}"/>
                </a:ext>
              </a:extLst>
            </p:cNvPr>
            <p:cNvCxnSpPr>
              <a:cxnSpLocks/>
            </p:cNvCxnSpPr>
            <p:nvPr/>
          </p:nvCxnSpPr>
          <p:spPr>
            <a:xfrm flipH="1">
              <a:off x="4487753" y="2090268"/>
              <a:ext cx="363592" cy="381304"/>
            </a:xfrm>
            <a:prstGeom prst="straightConnector1">
              <a:avLst/>
            </a:prstGeom>
            <a:ln w="38100">
              <a:solidFill>
                <a:srgbClr val="004768"/>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5" name="Straight Arrow Connector 114">
              <a:extLst>
                <a:ext uri="{FF2B5EF4-FFF2-40B4-BE49-F238E27FC236}">
                  <a16:creationId xmlns:a16="http://schemas.microsoft.com/office/drawing/2014/main" id="{2126774F-792F-71C6-6121-BCB25CC18C0D}"/>
                </a:ext>
              </a:extLst>
            </p:cNvPr>
            <p:cNvCxnSpPr>
              <a:cxnSpLocks/>
            </p:cNvCxnSpPr>
            <p:nvPr/>
          </p:nvCxnSpPr>
          <p:spPr>
            <a:xfrm flipH="1">
              <a:off x="4483552" y="3254879"/>
              <a:ext cx="363592" cy="381304"/>
            </a:xfrm>
            <a:prstGeom prst="straightConnector1">
              <a:avLst/>
            </a:prstGeom>
            <a:ln w="38100">
              <a:solidFill>
                <a:srgbClr val="004768"/>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6" name="Straight Arrow Connector 115">
              <a:extLst>
                <a:ext uri="{FF2B5EF4-FFF2-40B4-BE49-F238E27FC236}">
                  <a16:creationId xmlns:a16="http://schemas.microsoft.com/office/drawing/2014/main" id="{16E7162A-3B05-150D-046D-F7B5D2934557}"/>
                </a:ext>
              </a:extLst>
            </p:cNvPr>
            <p:cNvCxnSpPr>
              <a:cxnSpLocks/>
            </p:cNvCxnSpPr>
            <p:nvPr/>
          </p:nvCxnSpPr>
          <p:spPr>
            <a:xfrm flipH="1">
              <a:off x="4478842" y="4419512"/>
              <a:ext cx="363592" cy="381304"/>
            </a:xfrm>
            <a:prstGeom prst="straightConnector1">
              <a:avLst/>
            </a:prstGeom>
            <a:ln w="38100">
              <a:solidFill>
                <a:srgbClr val="004768"/>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18" name="TextBox 117">
              <a:extLst>
                <a:ext uri="{FF2B5EF4-FFF2-40B4-BE49-F238E27FC236}">
                  <a16:creationId xmlns:a16="http://schemas.microsoft.com/office/drawing/2014/main" id="{3EF7A72F-DCDC-BA14-25C5-5B4CD4A438C9}"/>
                </a:ext>
              </a:extLst>
            </p:cNvPr>
            <p:cNvSpPr txBox="1"/>
            <p:nvPr/>
          </p:nvSpPr>
          <p:spPr>
            <a:xfrm>
              <a:off x="3155482" y="2064825"/>
              <a:ext cx="1292341" cy="400110"/>
            </a:xfrm>
            <a:prstGeom prst="rect">
              <a:avLst/>
            </a:prstGeom>
            <a:noFill/>
          </p:spPr>
          <p:txBody>
            <a:bodyPr wrap="none" rtlCol="0">
              <a:spAutoFit/>
            </a:bodyPr>
            <a:lstStyle/>
            <a:p>
              <a:r>
                <a:rPr lang="en-US" sz="2000" b="1" i="1" dirty="0">
                  <a:solidFill>
                    <a:srgbClr val="004768"/>
                  </a:solidFill>
                </a:rPr>
                <a:t>Cognitive</a:t>
              </a:r>
            </a:p>
          </p:txBody>
        </p:sp>
        <p:sp>
          <p:nvSpPr>
            <p:cNvPr id="119" name="TextBox 118">
              <a:extLst>
                <a:ext uri="{FF2B5EF4-FFF2-40B4-BE49-F238E27FC236}">
                  <a16:creationId xmlns:a16="http://schemas.microsoft.com/office/drawing/2014/main" id="{88DEE11E-DDE3-7E42-E665-EBEA8974E442}"/>
                </a:ext>
              </a:extLst>
            </p:cNvPr>
            <p:cNvSpPr txBox="1"/>
            <p:nvPr/>
          </p:nvSpPr>
          <p:spPr>
            <a:xfrm>
              <a:off x="3182100" y="3218686"/>
              <a:ext cx="1428596" cy="400110"/>
            </a:xfrm>
            <a:prstGeom prst="rect">
              <a:avLst/>
            </a:prstGeom>
            <a:noFill/>
          </p:spPr>
          <p:txBody>
            <a:bodyPr wrap="none" rtlCol="0">
              <a:spAutoFit/>
            </a:bodyPr>
            <a:lstStyle/>
            <a:p>
              <a:r>
                <a:rPr lang="en-US" sz="2000" b="1" i="1" dirty="0">
                  <a:solidFill>
                    <a:srgbClr val="004768"/>
                  </a:solidFill>
                </a:rPr>
                <a:t>Behavioral</a:t>
              </a:r>
            </a:p>
          </p:txBody>
        </p:sp>
        <p:sp>
          <p:nvSpPr>
            <p:cNvPr id="120" name="TextBox 119">
              <a:extLst>
                <a:ext uri="{FF2B5EF4-FFF2-40B4-BE49-F238E27FC236}">
                  <a16:creationId xmlns:a16="http://schemas.microsoft.com/office/drawing/2014/main" id="{94E63549-162A-13AC-AEB1-B6D0CFB3BE8A}"/>
                </a:ext>
              </a:extLst>
            </p:cNvPr>
            <p:cNvSpPr txBox="1"/>
            <p:nvPr/>
          </p:nvSpPr>
          <p:spPr>
            <a:xfrm>
              <a:off x="3168196" y="4367361"/>
              <a:ext cx="915635" cy="400110"/>
            </a:xfrm>
            <a:prstGeom prst="rect">
              <a:avLst/>
            </a:prstGeom>
            <a:noFill/>
          </p:spPr>
          <p:txBody>
            <a:bodyPr wrap="none" rtlCol="0">
              <a:spAutoFit/>
            </a:bodyPr>
            <a:lstStyle/>
            <a:p>
              <a:r>
                <a:rPr lang="en-US" sz="2000" b="1" i="1" dirty="0">
                  <a:solidFill>
                    <a:srgbClr val="004768"/>
                  </a:solidFill>
                </a:rPr>
                <a:t>Social</a:t>
              </a:r>
            </a:p>
          </p:txBody>
        </p:sp>
        <p:grpSp>
          <p:nvGrpSpPr>
            <p:cNvPr id="125" name="Group 124">
              <a:extLst>
                <a:ext uri="{FF2B5EF4-FFF2-40B4-BE49-F238E27FC236}">
                  <a16:creationId xmlns:a16="http://schemas.microsoft.com/office/drawing/2014/main" id="{79625811-44B0-EA19-9281-B10C63939BC0}"/>
                </a:ext>
              </a:extLst>
            </p:cNvPr>
            <p:cNvGrpSpPr/>
            <p:nvPr/>
          </p:nvGrpSpPr>
          <p:grpSpPr>
            <a:xfrm>
              <a:off x="1630377" y="4368858"/>
              <a:ext cx="383227" cy="467053"/>
              <a:chOff x="6101057" y="5904550"/>
              <a:chExt cx="383227" cy="467053"/>
            </a:xfrm>
          </p:grpSpPr>
          <p:pic>
            <p:nvPicPr>
              <p:cNvPr id="122" name="Picture 2" descr="Clipboard Witch Checklist Wishlist Line Icon Editable Stroke Pixel Perfect  For Mobile And Web Stock Illustration - Download Image Now - iStock">
                <a:extLst>
                  <a:ext uri="{FF2B5EF4-FFF2-40B4-BE49-F238E27FC236}">
                    <a16:creationId xmlns:a16="http://schemas.microsoft.com/office/drawing/2014/main" id="{1578745F-176C-54AB-D167-8CCE988B9834}"/>
                  </a:ext>
                </a:extLst>
              </p:cNvPr>
              <p:cNvPicPr>
                <a:picLocks noChangeAspect="1" noChangeArrowheads="1"/>
              </p:cNvPicPr>
              <p:nvPr/>
            </p:nvPicPr>
            <p:blipFill rotWithShape="1">
              <a:blip r:embed="rId6">
                <a:clrChange>
                  <a:clrFrom>
                    <a:srgbClr val="FFFFFF"/>
                  </a:clrFrom>
                  <a:clrTo>
                    <a:srgbClr val="FFFFFF">
                      <a:alpha val="0"/>
                    </a:srgbClr>
                  </a:clrTo>
                </a:clrChange>
                <a:alphaModFix/>
                <a:duotone>
                  <a:prstClr val="black"/>
                  <a:schemeClr val="accent1">
                    <a:tint val="45000"/>
                    <a:satMod val="400000"/>
                  </a:schemeClr>
                </a:duotone>
                <a:extLst>
                  <a:ext uri="{28A0092B-C50C-407E-A947-70E740481C1C}">
                    <a14:useLocalDpi xmlns:a14="http://schemas.microsoft.com/office/drawing/2010/main" val="0"/>
                  </a:ext>
                </a:extLst>
              </a:blip>
              <a:srcRect l="23018" t="18781" r="22598" b="16817"/>
              <a:stretch/>
            </p:blipFill>
            <p:spPr bwMode="auto">
              <a:xfrm>
                <a:off x="6128609" y="5904550"/>
                <a:ext cx="224790" cy="320584"/>
              </a:xfrm>
              <a:prstGeom prst="rect">
                <a:avLst/>
              </a:prstGeom>
              <a:solidFill>
                <a:srgbClr val="FFFFFF"/>
              </a:solidFill>
            </p:spPr>
          </p:pic>
          <p:pic>
            <p:nvPicPr>
              <p:cNvPr id="123" name="Picture 2" descr="Clipboard Witch Checklist Wishlist Line Icon Editable Stroke Pixel Perfect  For Mobile And Web Stock Illustration - Download Image Now - iStock">
                <a:extLst>
                  <a:ext uri="{FF2B5EF4-FFF2-40B4-BE49-F238E27FC236}">
                    <a16:creationId xmlns:a16="http://schemas.microsoft.com/office/drawing/2014/main" id="{E11566CE-2391-8A3A-FFED-B191C3C0A29F}"/>
                  </a:ext>
                </a:extLst>
              </p:cNvPr>
              <p:cNvPicPr>
                <a:picLocks noChangeAspect="1" noChangeArrowheads="1"/>
              </p:cNvPicPr>
              <p:nvPr/>
            </p:nvPicPr>
            <p:blipFill rotWithShape="1">
              <a:blip r:embed="rId6">
                <a:clrChange>
                  <a:clrFrom>
                    <a:srgbClr val="FFFFFF"/>
                  </a:clrFrom>
                  <a:clrTo>
                    <a:srgbClr val="FFFFFF">
                      <a:alpha val="0"/>
                    </a:srgbClr>
                  </a:clrTo>
                </a:clrChange>
                <a:alphaModFix/>
                <a:duotone>
                  <a:prstClr val="black"/>
                  <a:schemeClr val="accent1">
                    <a:tint val="45000"/>
                    <a:satMod val="400000"/>
                  </a:schemeClr>
                </a:duotone>
                <a:extLst>
                  <a:ext uri="{28A0092B-C50C-407E-A947-70E740481C1C}">
                    <a14:useLocalDpi xmlns:a14="http://schemas.microsoft.com/office/drawing/2010/main" val="0"/>
                  </a:ext>
                </a:extLst>
              </a:blip>
              <a:srcRect l="23018" t="18781" r="22598" b="16817"/>
              <a:stretch/>
            </p:blipFill>
            <p:spPr bwMode="auto">
              <a:xfrm>
                <a:off x="6259494" y="5952780"/>
                <a:ext cx="224790" cy="320584"/>
              </a:xfrm>
              <a:prstGeom prst="rect">
                <a:avLst/>
              </a:prstGeom>
              <a:solidFill>
                <a:srgbClr val="FFFFFF"/>
              </a:solidFill>
            </p:spPr>
          </p:pic>
          <p:pic>
            <p:nvPicPr>
              <p:cNvPr id="124" name="Picture 2" descr="Clipboard Witch Checklist Wishlist Line Icon Editable Stroke Pixel Perfect  For Mobile And Web Stock Illustration - Download Image Now - iStock">
                <a:extLst>
                  <a:ext uri="{FF2B5EF4-FFF2-40B4-BE49-F238E27FC236}">
                    <a16:creationId xmlns:a16="http://schemas.microsoft.com/office/drawing/2014/main" id="{28A0F954-FA0D-2E41-06D8-3DB527063F1A}"/>
                  </a:ext>
                </a:extLst>
              </p:cNvPr>
              <p:cNvPicPr>
                <a:picLocks noChangeAspect="1" noChangeArrowheads="1"/>
              </p:cNvPicPr>
              <p:nvPr/>
            </p:nvPicPr>
            <p:blipFill rotWithShape="1">
              <a:blip r:embed="rId6">
                <a:clrChange>
                  <a:clrFrom>
                    <a:srgbClr val="FFFFFF"/>
                  </a:clrFrom>
                  <a:clrTo>
                    <a:srgbClr val="FFFFFF">
                      <a:alpha val="0"/>
                    </a:srgbClr>
                  </a:clrTo>
                </a:clrChange>
                <a:alphaModFix/>
                <a:duotone>
                  <a:prstClr val="black"/>
                  <a:schemeClr val="accent1">
                    <a:tint val="45000"/>
                    <a:satMod val="400000"/>
                  </a:schemeClr>
                </a:duotone>
                <a:extLst>
                  <a:ext uri="{28A0092B-C50C-407E-A947-70E740481C1C}">
                    <a14:useLocalDpi xmlns:a14="http://schemas.microsoft.com/office/drawing/2010/main" val="0"/>
                  </a:ext>
                </a:extLst>
              </a:blip>
              <a:srcRect l="23018" t="18781" r="22598" b="16817"/>
              <a:stretch/>
            </p:blipFill>
            <p:spPr bwMode="auto">
              <a:xfrm>
                <a:off x="6101057" y="6051019"/>
                <a:ext cx="224790" cy="320584"/>
              </a:xfrm>
              <a:prstGeom prst="rect">
                <a:avLst/>
              </a:prstGeom>
              <a:solidFill>
                <a:srgbClr val="FFFFFF"/>
              </a:solidFill>
            </p:spPr>
          </p:pic>
        </p:grpSp>
        <p:grpSp>
          <p:nvGrpSpPr>
            <p:cNvPr id="126" name="Group 125">
              <a:extLst>
                <a:ext uri="{FF2B5EF4-FFF2-40B4-BE49-F238E27FC236}">
                  <a16:creationId xmlns:a16="http://schemas.microsoft.com/office/drawing/2014/main" id="{915B1707-BC52-891F-84AA-D90AC38D12E2}"/>
                </a:ext>
              </a:extLst>
            </p:cNvPr>
            <p:cNvGrpSpPr/>
            <p:nvPr/>
          </p:nvGrpSpPr>
          <p:grpSpPr>
            <a:xfrm>
              <a:off x="1520020" y="2044986"/>
              <a:ext cx="505778" cy="467053"/>
              <a:chOff x="6016214" y="5904550"/>
              <a:chExt cx="505778" cy="467053"/>
            </a:xfrm>
          </p:grpSpPr>
          <p:pic>
            <p:nvPicPr>
              <p:cNvPr id="127" name="Picture 2" descr="Clipboard Witch Checklist Wishlist Line Icon Editable Stroke Pixel Perfect  For Mobile And Web Stock Illustration - Download Image Now - iStock">
                <a:extLst>
                  <a:ext uri="{FF2B5EF4-FFF2-40B4-BE49-F238E27FC236}">
                    <a16:creationId xmlns:a16="http://schemas.microsoft.com/office/drawing/2014/main" id="{16ABC95E-D490-C0C2-7D3C-7479F53CF3F1}"/>
                  </a:ext>
                </a:extLst>
              </p:cNvPr>
              <p:cNvPicPr>
                <a:picLocks noChangeAspect="1" noChangeArrowheads="1"/>
              </p:cNvPicPr>
              <p:nvPr/>
            </p:nvPicPr>
            <p:blipFill rotWithShape="1">
              <a:blip r:embed="rId6">
                <a:clrChange>
                  <a:clrFrom>
                    <a:srgbClr val="FFFFFF"/>
                  </a:clrFrom>
                  <a:clrTo>
                    <a:srgbClr val="FFFFFF">
                      <a:alpha val="0"/>
                    </a:srgbClr>
                  </a:clrTo>
                </a:clrChange>
                <a:alphaModFix/>
                <a:duotone>
                  <a:prstClr val="black"/>
                  <a:schemeClr val="accent1">
                    <a:tint val="45000"/>
                    <a:satMod val="400000"/>
                  </a:schemeClr>
                </a:duotone>
                <a:extLst>
                  <a:ext uri="{28A0092B-C50C-407E-A947-70E740481C1C}">
                    <a14:useLocalDpi xmlns:a14="http://schemas.microsoft.com/office/drawing/2010/main" val="0"/>
                  </a:ext>
                </a:extLst>
              </a:blip>
              <a:srcRect l="23018" t="18781" r="22598" b="16817"/>
              <a:stretch/>
            </p:blipFill>
            <p:spPr bwMode="auto">
              <a:xfrm>
                <a:off x="6128609" y="5904550"/>
                <a:ext cx="224790" cy="320584"/>
              </a:xfrm>
              <a:prstGeom prst="rect">
                <a:avLst/>
              </a:prstGeom>
              <a:solidFill>
                <a:srgbClr val="FFFFFF"/>
              </a:solidFill>
            </p:spPr>
          </p:pic>
          <p:pic>
            <p:nvPicPr>
              <p:cNvPr id="128" name="Picture 2" descr="Clipboard Witch Checklist Wishlist Line Icon Editable Stroke Pixel Perfect  For Mobile And Web Stock Illustration - Download Image Now - iStock">
                <a:extLst>
                  <a:ext uri="{FF2B5EF4-FFF2-40B4-BE49-F238E27FC236}">
                    <a16:creationId xmlns:a16="http://schemas.microsoft.com/office/drawing/2014/main" id="{D1A308F0-BF6E-C85B-7518-9DD7184733D0}"/>
                  </a:ext>
                </a:extLst>
              </p:cNvPr>
              <p:cNvPicPr>
                <a:picLocks noChangeAspect="1" noChangeArrowheads="1"/>
              </p:cNvPicPr>
              <p:nvPr/>
            </p:nvPicPr>
            <p:blipFill rotWithShape="1">
              <a:blip r:embed="rId6">
                <a:clrChange>
                  <a:clrFrom>
                    <a:srgbClr val="FFFFFF"/>
                  </a:clrFrom>
                  <a:clrTo>
                    <a:srgbClr val="FFFFFF">
                      <a:alpha val="0"/>
                    </a:srgbClr>
                  </a:clrTo>
                </a:clrChange>
                <a:alphaModFix/>
                <a:duotone>
                  <a:prstClr val="black"/>
                  <a:schemeClr val="accent1">
                    <a:tint val="45000"/>
                    <a:satMod val="400000"/>
                  </a:schemeClr>
                </a:duotone>
                <a:extLst>
                  <a:ext uri="{28A0092B-C50C-407E-A947-70E740481C1C}">
                    <a14:useLocalDpi xmlns:a14="http://schemas.microsoft.com/office/drawing/2010/main" val="0"/>
                  </a:ext>
                </a:extLst>
              </a:blip>
              <a:srcRect l="23018" t="18781" r="22598" b="16817"/>
              <a:stretch/>
            </p:blipFill>
            <p:spPr bwMode="auto">
              <a:xfrm>
                <a:off x="6297202" y="5952780"/>
                <a:ext cx="224790" cy="320584"/>
              </a:xfrm>
              <a:prstGeom prst="rect">
                <a:avLst/>
              </a:prstGeom>
              <a:solidFill>
                <a:srgbClr val="FFFFFF"/>
              </a:solidFill>
            </p:spPr>
          </p:pic>
          <p:pic>
            <p:nvPicPr>
              <p:cNvPr id="129" name="Picture 2" descr="Clipboard Witch Checklist Wishlist Line Icon Editable Stroke Pixel Perfect  For Mobile And Web Stock Illustration - Download Image Now - iStock">
                <a:extLst>
                  <a:ext uri="{FF2B5EF4-FFF2-40B4-BE49-F238E27FC236}">
                    <a16:creationId xmlns:a16="http://schemas.microsoft.com/office/drawing/2014/main" id="{E50D8F57-AC3E-9CA9-EA58-AFEC8FADAD13}"/>
                  </a:ext>
                </a:extLst>
              </p:cNvPr>
              <p:cNvPicPr>
                <a:picLocks noChangeAspect="1" noChangeArrowheads="1"/>
              </p:cNvPicPr>
              <p:nvPr/>
            </p:nvPicPr>
            <p:blipFill rotWithShape="1">
              <a:blip r:embed="rId6">
                <a:clrChange>
                  <a:clrFrom>
                    <a:srgbClr val="FFFFFF"/>
                  </a:clrFrom>
                  <a:clrTo>
                    <a:srgbClr val="FFFFFF">
                      <a:alpha val="0"/>
                    </a:srgbClr>
                  </a:clrTo>
                </a:clrChange>
                <a:alphaModFix/>
                <a:duotone>
                  <a:prstClr val="black"/>
                  <a:schemeClr val="accent1">
                    <a:tint val="45000"/>
                    <a:satMod val="400000"/>
                  </a:schemeClr>
                </a:duotone>
                <a:extLst>
                  <a:ext uri="{28A0092B-C50C-407E-A947-70E740481C1C}">
                    <a14:useLocalDpi xmlns:a14="http://schemas.microsoft.com/office/drawing/2010/main" val="0"/>
                  </a:ext>
                </a:extLst>
              </a:blip>
              <a:srcRect l="23018" t="18781" r="22598" b="16817"/>
              <a:stretch/>
            </p:blipFill>
            <p:spPr bwMode="auto">
              <a:xfrm>
                <a:off x="6016214" y="6051019"/>
                <a:ext cx="224790" cy="320584"/>
              </a:xfrm>
              <a:prstGeom prst="rect">
                <a:avLst/>
              </a:prstGeom>
              <a:solidFill>
                <a:srgbClr val="FFFFFF"/>
              </a:solidFill>
            </p:spPr>
          </p:pic>
        </p:grpSp>
        <p:pic>
          <p:nvPicPr>
            <p:cNvPr id="131" name="Picture 130">
              <a:extLst>
                <a:ext uri="{FF2B5EF4-FFF2-40B4-BE49-F238E27FC236}">
                  <a16:creationId xmlns:a16="http://schemas.microsoft.com/office/drawing/2014/main" id="{9DCBFBCA-1F57-28C0-4033-204E8CD5C89B}"/>
                </a:ext>
              </a:extLst>
            </p:cNvPr>
            <p:cNvPicPr>
              <a:picLocks noChangeAspect="1"/>
            </p:cNvPicPr>
            <p:nvPr/>
          </p:nvPicPr>
          <p:blipFill>
            <a:blip r:embed="rId9"/>
            <a:stretch>
              <a:fillRect/>
            </a:stretch>
          </p:blipFill>
          <p:spPr>
            <a:xfrm>
              <a:off x="5184297" y="1701800"/>
              <a:ext cx="1095528" cy="962159"/>
            </a:xfrm>
            <a:prstGeom prst="rect">
              <a:avLst/>
            </a:prstGeom>
          </p:spPr>
        </p:pic>
      </p:grpSp>
      <p:sp>
        <p:nvSpPr>
          <p:cNvPr id="13" name="TextBox 12">
            <a:extLst>
              <a:ext uri="{FF2B5EF4-FFF2-40B4-BE49-F238E27FC236}">
                <a16:creationId xmlns:a16="http://schemas.microsoft.com/office/drawing/2014/main" id="{D5446993-0A57-BC06-39C0-642A4A96DEEB}"/>
              </a:ext>
            </a:extLst>
          </p:cNvPr>
          <p:cNvSpPr txBox="1"/>
          <p:nvPr/>
        </p:nvSpPr>
        <p:spPr>
          <a:xfrm>
            <a:off x="506721" y="1553258"/>
            <a:ext cx="1348446" cy="400110"/>
          </a:xfrm>
          <a:prstGeom prst="rect">
            <a:avLst/>
          </a:prstGeom>
          <a:solidFill>
            <a:schemeClr val="bg1"/>
          </a:solidFill>
        </p:spPr>
        <p:txBody>
          <a:bodyPr wrap="none" rtlCol="0">
            <a:spAutoFit/>
          </a:bodyPr>
          <a:lstStyle/>
          <a:p>
            <a:r>
              <a:rPr lang="en-US" sz="2000" dirty="0">
                <a:latin typeface="Segoe Print" panose="02000600000000000000" pitchFamily="2" charset="0"/>
                <a:cs typeface="MV Boli" panose="02000500030200090000" pitchFamily="2" charset="0"/>
              </a:rPr>
              <a:t>Measures</a:t>
            </a:r>
          </a:p>
        </p:txBody>
      </p:sp>
      <p:sp>
        <p:nvSpPr>
          <p:cNvPr id="14" name="TextBox 13">
            <a:extLst>
              <a:ext uri="{FF2B5EF4-FFF2-40B4-BE49-F238E27FC236}">
                <a16:creationId xmlns:a16="http://schemas.microsoft.com/office/drawing/2014/main" id="{FAAB364A-576F-D79A-A76D-E0491D7590BD}"/>
              </a:ext>
            </a:extLst>
          </p:cNvPr>
          <p:cNvSpPr txBox="1"/>
          <p:nvPr/>
        </p:nvSpPr>
        <p:spPr>
          <a:xfrm>
            <a:off x="3131379" y="1551274"/>
            <a:ext cx="1767102" cy="400110"/>
          </a:xfrm>
          <a:prstGeom prst="rect">
            <a:avLst/>
          </a:prstGeom>
          <a:solidFill>
            <a:schemeClr val="bg1"/>
          </a:solidFill>
        </p:spPr>
        <p:txBody>
          <a:bodyPr wrap="square" rtlCol="0">
            <a:spAutoFit/>
          </a:bodyPr>
          <a:lstStyle/>
          <a:p>
            <a:r>
              <a:rPr lang="en-US" sz="2000" dirty="0">
                <a:latin typeface="Segoe Print" panose="02000600000000000000" pitchFamily="2" charset="0"/>
                <a:cs typeface="MV Boli" panose="02000500030200090000" pitchFamily="2" charset="0"/>
              </a:rPr>
              <a:t>Dimensions</a:t>
            </a:r>
          </a:p>
        </p:txBody>
      </p:sp>
      <p:sp>
        <p:nvSpPr>
          <p:cNvPr id="15" name="TextBox 14">
            <a:extLst>
              <a:ext uri="{FF2B5EF4-FFF2-40B4-BE49-F238E27FC236}">
                <a16:creationId xmlns:a16="http://schemas.microsoft.com/office/drawing/2014/main" id="{C03A86EA-844B-2FF1-5E57-2A55D4A64E70}"/>
              </a:ext>
            </a:extLst>
          </p:cNvPr>
          <p:cNvSpPr txBox="1"/>
          <p:nvPr/>
        </p:nvSpPr>
        <p:spPr>
          <a:xfrm>
            <a:off x="5308084" y="2260407"/>
            <a:ext cx="971741" cy="400110"/>
          </a:xfrm>
          <a:prstGeom prst="rect">
            <a:avLst/>
          </a:prstGeom>
          <a:solidFill>
            <a:schemeClr val="bg1"/>
          </a:solidFill>
        </p:spPr>
        <p:txBody>
          <a:bodyPr wrap="none" rtlCol="0">
            <a:spAutoFit/>
          </a:bodyPr>
          <a:lstStyle/>
          <a:p>
            <a:r>
              <a:rPr lang="en-US" sz="2000" dirty="0">
                <a:latin typeface="Segoe Print" panose="02000600000000000000" pitchFamily="2" charset="0"/>
                <a:cs typeface="MV Boli" panose="02000500030200090000" pitchFamily="2" charset="0"/>
              </a:rPr>
              <a:t>Gauge</a:t>
            </a:r>
          </a:p>
        </p:txBody>
      </p:sp>
      <p:sp>
        <p:nvSpPr>
          <p:cNvPr id="17" name="TextBox 16">
            <a:extLst>
              <a:ext uri="{FF2B5EF4-FFF2-40B4-BE49-F238E27FC236}">
                <a16:creationId xmlns:a16="http://schemas.microsoft.com/office/drawing/2014/main" id="{F9BC133C-C4B1-6573-9815-513B43407964}"/>
              </a:ext>
            </a:extLst>
          </p:cNvPr>
          <p:cNvSpPr txBox="1"/>
          <p:nvPr/>
        </p:nvSpPr>
        <p:spPr>
          <a:xfrm>
            <a:off x="9027029" y="1541840"/>
            <a:ext cx="1269899" cy="400110"/>
          </a:xfrm>
          <a:prstGeom prst="rect">
            <a:avLst/>
          </a:prstGeom>
          <a:solidFill>
            <a:schemeClr val="bg1"/>
          </a:solidFill>
        </p:spPr>
        <p:txBody>
          <a:bodyPr wrap="none" rtlCol="0">
            <a:spAutoFit/>
          </a:bodyPr>
          <a:lstStyle/>
          <a:p>
            <a:r>
              <a:rPr lang="en-US" sz="2000" dirty="0">
                <a:latin typeface="Segoe Print" panose="02000600000000000000" pitchFamily="2" charset="0"/>
                <a:cs typeface="MV Boli" panose="02000500030200090000" pitchFamily="2" charset="0"/>
              </a:rPr>
              <a:t>Absolute</a:t>
            </a:r>
          </a:p>
        </p:txBody>
      </p:sp>
      <p:sp>
        <p:nvSpPr>
          <p:cNvPr id="18" name="TextBox 17">
            <a:extLst>
              <a:ext uri="{FF2B5EF4-FFF2-40B4-BE49-F238E27FC236}">
                <a16:creationId xmlns:a16="http://schemas.microsoft.com/office/drawing/2014/main" id="{68B7F812-743B-152F-FDE0-957EB7BAE4C8}"/>
              </a:ext>
            </a:extLst>
          </p:cNvPr>
          <p:cNvSpPr txBox="1"/>
          <p:nvPr/>
        </p:nvSpPr>
        <p:spPr>
          <a:xfrm>
            <a:off x="9063897" y="3870781"/>
            <a:ext cx="1196161" cy="400110"/>
          </a:xfrm>
          <a:prstGeom prst="rect">
            <a:avLst/>
          </a:prstGeom>
          <a:solidFill>
            <a:schemeClr val="bg1"/>
          </a:solidFill>
        </p:spPr>
        <p:txBody>
          <a:bodyPr wrap="none" rtlCol="0">
            <a:spAutoFit/>
          </a:bodyPr>
          <a:lstStyle/>
          <a:p>
            <a:r>
              <a:rPr lang="en-US" sz="2000" dirty="0">
                <a:latin typeface="Segoe Print" panose="02000600000000000000" pitchFamily="2" charset="0"/>
                <a:cs typeface="MV Boli" panose="02000500030200090000" pitchFamily="2" charset="0"/>
              </a:rPr>
              <a:t>Relative</a:t>
            </a:r>
          </a:p>
        </p:txBody>
      </p:sp>
    </p:spTree>
    <p:extLst>
      <p:ext uri="{BB962C8B-B14F-4D97-AF65-F5344CB8AC3E}">
        <p14:creationId xmlns:p14="http://schemas.microsoft.com/office/powerpoint/2010/main" val="90114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175AA-767D-A67A-81CA-77F141D2B45D}"/>
              </a:ext>
            </a:extLst>
          </p:cNvPr>
          <p:cNvSpPr>
            <a:spLocks noGrp="1"/>
          </p:cNvSpPr>
          <p:nvPr>
            <p:ph type="title"/>
          </p:nvPr>
        </p:nvSpPr>
        <p:spPr/>
        <p:txBody>
          <a:bodyPr/>
          <a:lstStyle/>
          <a:p>
            <a:r>
              <a:rPr lang="en-US" dirty="0"/>
              <a:t>Political Extremism Gauge</a:t>
            </a:r>
          </a:p>
        </p:txBody>
      </p:sp>
      <p:grpSp>
        <p:nvGrpSpPr>
          <p:cNvPr id="4" name="Group 3">
            <a:extLst>
              <a:ext uri="{FF2B5EF4-FFF2-40B4-BE49-F238E27FC236}">
                <a16:creationId xmlns:a16="http://schemas.microsoft.com/office/drawing/2014/main" id="{03F364F0-6FF4-5C2C-2F19-664236A0A0EF}"/>
              </a:ext>
            </a:extLst>
          </p:cNvPr>
          <p:cNvGrpSpPr/>
          <p:nvPr/>
        </p:nvGrpSpPr>
        <p:grpSpPr>
          <a:xfrm>
            <a:off x="299943" y="1131205"/>
            <a:ext cx="5176956" cy="5104472"/>
            <a:chOff x="6672142" y="1120775"/>
            <a:chExt cx="5176956" cy="5104472"/>
          </a:xfrm>
        </p:grpSpPr>
        <p:grpSp>
          <p:nvGrpSpPr>
            <p:cNvPr id="5" name="Group 4">
              <a:extLst>
                <a:ext uri="{FF2B5EF4-FFF2-40B4-BE49-F238E27FC236}">
                  <a16:creationId xmlns:a16="http://schemas.microsoft.com/office/drawing/2014/main" id="{DFD0FC67-45E8-3790-B49C-0F5248A7681A}"/>
                </a:ext>
              </a:extLst>
            </p:cNvPr>
            <p:cNvGrpSpPr/>
            <p:nvPr/>
          </p:nvGrpSpPr>
          <p:grpSpPr>
            <a:xfrm>
              <a:off x="6672142" y="1120775"/>
              <a:ext cx="5176956" cy="5104472"/>
              <a:chOff x="6672142" y="1120775"/>
              <a:chExt cx="5176956" cy="5104472"/>
            </a:xfrm>
          </p:grpSpPr>
          <p:grpSp>
            <p:nvGrpSpPr>
              <p:cNvPr id="12" name="Group 11">
                <a:extLst>
                  <a:ext uri="{FF2B5EF4-FFF2-40B4-BE49-F238E27FC236}">
                    <a16:creationId xmlns:a16="http://schemas.microsoft.com/office/drawing/2014/main" id="{BC651094-9F7A-1343-A124-61A2253C315E}"/>
                  </a:ext>
                </a:extLst>
              </p:cNvPr>
              <p:cNvGrpSpPr/>
              <p:nvPr/>
            </p:nvGrpSpPr>
            <p:grpSpPr>
              <a:xfrm>
                <a:off x="6672142" y="1120775"/>
                <a:ext cx="5176956" cy="5104472"/>
                <a:chOff x="6643567" y="1172503"/>
                <a:chExt cx="5176956" cy="5104472"/>
              </a:xfrm>
            </p:grpSpPr>
            <p:sp>
              <p:nvSpPr>
                <p:cNvPr id="16" name="Rectangle 15">
                  <a:extLst>
                    <a:ext uri="{FF2B5EF4-FFF2-40B4-BE49-F238E27FC236}">
                      <a16:creationId xmlns:a16="http://schemas.microsoft.com/office/drawing/2014/main" id="{4CEF1FC6-3308-1E05-00A4-9E68B1B63735}"/>
                    </a:ext>
                  </a:extLst>
                </p:cNvPr>
                <p:cNvSpPr/>
                <p:nvPr/>
              </p:nvSpPr>
              <p:spPr>
                <a:xfrm>
                  <a:off x="6667501" y="1172503"/>
                  <a:ext cx="5153022" cy="5104472"/>
                </a:xfrm>
                <a:prstGeom prst="rect">
                  <a:avLst/>
                </a:prstGeom>
                <a:solidFill>
                  <a:srgbClr val="F5F5F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7F27FA99-83C3-13C4-797E-0954CA01024B}"/>
                    </a:ext>
                  </a:extLst>
                </p:cNvPr>
                <p:cNvGrpSpPr/>
                <p:nvPr/>
              </p:nvGrpSpPr>
              <p:grpSpPr>
                <a:xfrm>
                  <a:off x="6643567" y="1336486"/>
                  <a:ext cx="5052194" cy="4397862"/>
                  <a:chOff x="6241960" y="1498411"/>
                  <a:chExt cx="5052194" cy="4397862"/>
                </a:xfrm>
              </p:grpSpPr>
              <p:sp>
                <p:nvSpPr>
                  <p:cNvPr id="18" name="Cube 17">
                    <a:extLst>
                      <a:ext uri="{FF2B5EF4-FFF2-40B4-BE49-F238E27FC236}">
                        <a16:creationId xmlns:a16="http://schemas.microsoft.com/office/drawing/2014/main" id="{032CFACE-72DA-EBE8-CA7C-275709E1FBAE}"/>
                      </a:ext>
                    </a:extLst>
                  </p:cNvPr>
                  <p:cNvSpPr/>
                  <p:nvPr/>
                </p:nvSpPr>
                <p:spPr>
                  <a:xfrm>
                    <a:off x="9319602" y="1996524"/>
                    <a:ext cx="1212024" cy="1083928"/>
                  </a:xfrm>
                  <a:prstGeom prst="cube">
                    <a:avLst>
                      <a:gd name="adj" fmla="val 76136"/>
                    </a:avLst>
                  </a:prstGeom>
                  <a:solidFill>
                    <a:srgbClr val="FF0000">
                      <a:alpha val="20000"/>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Cube 18">
                    <a:extLst>
                      <a:ext uri="{FF2B5EF4-FFF2-40B4-BE49-F238E27FC236}">
                        <a16:creationId xmlns:a16="http://schemas.microsoft.com/office/drawing/2014/main" id="{9738D781-26B4-FE10-AAFC-9D6E940DD3C7}"/>
                      </a:ext>
                    </a:extLst>
                  </p:cNvPr>
                  <p:cNvSpPr/>
                  <p:nvPr/>
                </p:nvSpPr>
                <p:spPr>
                  <a:xfrm>
                    <a:off x="10065899" y="1994440"/>
                    <a:ext cx="475384" cy="2663960"/>
                  </a:xfrm>
                  <a:prstGeom prst="cube">
                    <a:avLst/>
                  </a:prstGeom>
                  <a:solidFill>
                    <a:srgbClr val="FF0000">
                      <a:alpha val="20000"/>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A295A16F-E07E-EF80-6187-9B9D5F519606}"/>
                      </a:ext>
                    </a:extLst>
                  </p:cNvPr>
                  <p:cNvGrpSpPr/>
                  <p:nvPr/>
                </p:nvGrpSpPr>
                <p:grpSpPr>
                  <a:xfrm>
                    <a:off x="7517543" y="1987950"/>
                    <a:ext cx="1719621" cy="1700874"/>
                    <a:chOff x="5198251" y="1335215"/>
                    <a:chExt cx="1719621" cy="1700874"/>
                  </a:xfrm>
                </p:grpSpPr>
                <p:sp>
                  <p:nvSpPr>
                    <p:cNvPr id="70" name="Cube 69">
                      <a:extLst>
                        <a:ext uri="{FF2B5EF4-FFF2-40B4-BE49-F238E27FC236}">
                          <a16:creationId xmlns:a16="http://schemas.microsoft.com/office/drawing/2014/main" id="{60A5D04D-0D29-8ECA-7BBC-93092B238D22}"/>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1" name="Straight Connector 70">
                      <a:extLst>
                        <a:ext uri="{FF2B5EF4-FFF2-40B4-BE49-F238E27FC236}">
                          <a16:creationId xmlns:a16="http://schemas.microsoft.com/office/drawing/2014/main" id="{82FFA139-6285-ECF2-3345-FB1C3624C3B0}"/>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F826E0D2-611E-C118-48B9-7EA677AE45BD}"/>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Straight Connector 72">
                      <a:extLst>
                        <a:ext uri="{FF2B5EF4-FFF2-40B4-BE49-F238E27FC236}">
                          <a16:creationId xmlns:a16="http://schemas.microsoft.com/office/drawing/2014/main" id="{319B085C-85EB-CEFC-719D-AE97B3E65D90}"/>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1" name="Group 20">
                    <a:extLst>
                      <a:ext uri="{FF2B5EF4-FFF2-40B4-BE49-F238E27FC236}">
                        <a16:creationId xmlns:a16="http://schemas.microsoft.com/office/drawing/2014/main" id="{32112265-F8AB-25DD-78A9-2EFCB71DA201}"/>
                      </a:ext>
                    </a:extLst>
                  </p:cNvPr>
                  <p:cNvGrpSpPr/>
                  <p:nvPr/>
                </p:nvGrpSpPr>
                <p:grpSpPr>
                  <a:xfrm>
                    <a:off x="7100180" y="2404281"/>
                    <a:ext cx="1719621" cy="1700874"/>
                    <a:chOff x="5198251" y="1335215"/>
                    <a:chExt cx="1719621" cy="1700874"/>
                  </a:xfrm>
                </p:grpSpPr>
                <p:sp>
                  <p:nvSpPr>
                    <p:cNvPr id="66" name="Cube 65">
                      <a:extLst>
                        <a:ext uri="{FF2B5EF4-FFF2-40B4-BE49-F238E27FC236}">
                          <a16:creationId xmlns:a16="http://schemas.microsoft.com/office/drawing/2014/main" id="{37CD5ADA-5B20-E466-C7B3-CAE075F477F5}"/>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7" name="Straight Connector 66">
                      <a:extLst>
                        <a:ext uri="{FF2B5EF4-FFF2-40B4-BE49-F238E27FC236}">
                          <a16:creationId xmlns:a16="http://schemas.microsoft.com/office/drawing/2014/main" id="{7A975DB5-86B7-727C-EE9B-7922BF6F3621}"/>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89355B73-B22D-70FC-88DE-FBE28B18CBE2}"/>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9" name="Straight Connector 68">
                      <a:extLst>
                        <a:ext uri="{FF2B5EF4-FFF2-40B4-BE49-F238E27FC236}">
                          <a16:creationId xmlns:a16="http://schemas.microsoft.com/office/drawing/2014/main" id="{42CE5766-2111-F826-D9DF-CE5EE62A269F}"/>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9A94D2F4-94E0-77F3-B1F6-536F6E557BEA}"/>
                      </a:ext>
                    </a:extLst>
                  </p:cNvPr>
                  <p:cNvGrpSpPr/>
                  <p:nvPr/>
                </p:nvGrpSpPr>
                <p:grpSpPr>
                  <a:xfrm>
                    <a:off x="8816475" y="1986348"/>
                    <a:ext cx="1719621" cy="1700874"/>
                    <a:chOff x="5198251" y="1335215"/>
                    <a:chExt cx="1719621" cy="1700874"/>
                  </a:xfrm>
                </p:grpSpPr>
                <p:sp>
                  <p:nvSpPr>
                    <p:cNvPr id="62" name="Cube 61">
                      <a:extLst>
                        <a:ext uri="{FF2B5EF4-FFF2-40B4-BE49-F238E27FC236}">
                          <a16:creationId xmlns:a16="http://schemas.microsoft.com/office/drawing/2014/main" id="{DED7C9E3-4924-4F2C-E82B-6205972B3B72}"/>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3" name="Straight Connector 62">
                      <a:extLst>
                        <a:ext uri="{FF2B5EF4-FFF2-40B4-BE49-F238E27FC236}">
                          <a16:creationId xmlns:a16="http://schemas.microsoft.com/office/drawing/2014/main" id="{7FB9AC68-B841-5D51-3519-55FDB5C52679}"/>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0B459E82-11A0-290E-1F18-8D256D09760F}"/>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C26D7E4D-FDFA-6AF0-5EA6-8B6C6B32A60C}"/>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426E90E7-27D5-2EA5-3AFC-C87CD4A02E64}"/>
                      </a:ext>
                    </a:extLst>
                  </p:cNvPr>
                  <p:cNvGrpSpPr/>
                  <p:nvPr/>
                </p:nvGrpSpPr>
                <p:grpSpPr>
                  <a:xfrm>
                    <a:off x="8399112" y="2402679"/>
                    <a:ext cx="1719621" cy="1700874"/>
                    <a:chOff x="5198251" y="1335215"/>
                    <a:chExt cx="1719621" cy="1700874"/>
                  </a:xfrm>
                </p:grpSpPr>
                <p:sp>
                  <p:nvSpPr>
                    <p:cNvPr id="58" name="Cube 57">
                      <a:extLst>
                        <a:ext uri="{FF2B5EF4-FFF2-40B4-BE49-F238E27FC236}">
                          <a16:creationId xmlns:a16="http://schemas.microsoft.com/office/drawing/2014/main" id="{524D6663-3959-6883-F310-464D8DF3A021}"/>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9" name="Straight Connector 58">
                      <a:extLst>
                        <a:ext uri="{FF2B5EF4-FFF2-40B4-BE49-F238E27FC236}">
                          <a16:creationId xmlns:a16="http://schemas.microsoft.com/office/drawing/2014/main" id="{25559341-FB59-EB54-F5F5-1CC1A900B3CC}"/>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743CC0C-C47F-5D20-4D40-2D1A1B566A5A}"/>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A7D74EF2-B85A-D677-B1A7-453B4994D92E}"/>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62BC5079-76A3-BAAA-6A99-4FCB66CE36A8}"/>
                      </a:ext>
                    </a:extLst>
                  </p:cNvPr>
                  <p:cNvGrpSpPr/>
                  <p:nvPr/>
                </p:nvGrpSpPr>
                <p:grpSpPr>
                  <a:xfrm>
                    <a:off x="7515889" y="3260063"/>
                    <a:ext cx="1719621" cy="1700874"/>
                    <a:chOff x="5198251" y="1335215"/>
                    <a:chExt cx="1719621" cy="1700874"/>
                  </a:xfrm>
                </p:grpSpPr>
                <p:sp>
                  <p:nvSpPr>
                    <p:cNvPr id="54" name="Cube 53">
                      <a:extLst>
                        <a:ext uri="{FF2B5EF4-FFF2-40B4-BE49-F238E27FC236}">
                          <a16:creationId xmlns:a16="http://schemas.microsoft.com/office/drawing/2014/main" id="{9BBB9E71-22D2-140C-3D6F-93260D3D9BCA}"/>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5" name="Straight Connector 54">
                      <a:extLst>
                        <a:ext uri="{FF2B5EF4-FFF2-40B4-BE49-F238E27FC236}">
                          <a16:creationId xmlns:a16="http://schemas.microsoft.com/office/drawing/2014/main" id="{3EBDB264-B7E4-1E08-B289-C310900473CE}"/>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ABEB7F24-3028-28C6-2A95-77415AE6A8BC}"/>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8E3281C8-A7A3-10ED-42D7-DEFFA88429EA}"/>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150DD99B-FB38-7B21-7233-80D77E5CF79A}"/>
                      </a:ext>
                    </a:extLst>
                  </p:cNvPr>
                  <p:cNvGrpSpPr/>
                  <p:nvPr/>
                </p:nvGrpSpPr>
                <p:grpSpPr>
                  <a:xfrm>
                    <a:off x="7098526" y="3676394"/>
                    <a:ext cx="1719621" cy="1700874"/>
                    <a:chOff x="5198251" y="1335215"/>
                    <a:chExt cx="1719621" cy="1700874"/>
                  </a:xfrm>
                </p:grpSpPr>
                <p:sp>
                  <p:nvSpPr>
                    <p:cNvPr id="50" name="Cube 49">
                      <a:extLst>
                        <a:ext uri="{FF2B5EF4-FFF2-40B4-BE49-F238E27FC236}">
                          <a16:creationId xmlns:a16="http://schemas.microsoft.com/office/drawing/2014/main" id="{1B48D57F-EE79-8AF2-7BCE-D8D5B7C725DF}"/>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1" name="Straight Connector 50">
                      <a:extLst>
                        <a:ext uri="{FF2B5EF4-FFF2-40B4-BE49-F238E27FC236}">
                          <a16:creationId xmlns:a16="http://schemas.microsoft.com/office/drawing/2014/main" id="{E64E5140-6E52-D27B-E208-0B95921CE095}"/>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EE36A658-E564-9456-BC78-56308F0B451F}"/>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DF1ECB2E-602A-64A0-1C5F-E56EC778C331}"/>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6" name="Group 25">
                    <a:extLst>
                      <a:ext uri="{FF2B5EF4-FFF2-40B4-BE49-F238E27FC236}">
                        <a16:creationId xmlns:a16="http://schemas.microsoft.com/office/drawing/2014/main" id="{0547C843-79CF-077C-C795-A5503E953582}"/>
                      </a:ext>
                    </a:extLst>
                  </p:cNvPr>
                  <p:cNvGrpSpPr/>
                  <p:nvPr/>
                </p:nvGrpSpPr>
                <p:grpSpPr>
                  <a:xfrm>
                    <a:off x="8814821" y="3258461"/>
                    <a:ext cx="1719621" cy="1700874"/>
                    <a:chOff x="5198251" y="1335215"/>
                    <a:chExt cx="1719621" cy="1700874"/>
                  </a:xfrm>
                </p:grpSpPr>
                <p:sp>
                  <p:nvSpPr>
                    <p:cNvPr id="46" name="Cube 45">
                      <a:extLst>
                        <a:ext uri="{FF2B5EF4-FFF2-40B4-BE49-F238E27FC236}">
                          <a16:creationId xmlns:a16="http://schemas.microsoft.com/office/drawing/2014/main" id="{CDFF7FE2-8FDE-A6C1-51B1-63D77A39592B}"/>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7" name="Straight Connector 46">
                      <a:extLst>
                        <a:ext uri="{FF2B5EF4-FFF2-40B4-BE49-F238E27FC236}">
                          <a16:creationId xmlns:a16="http://schemas.microsoft.com/office/drawing/2014/main" id="{8469DAF0-CD01-30B2-83A2-1CB86C7FE138}"/>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8EE0D65D-32B6-8E8D-E5EC-F02A9F6F933F}"/>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D8157053-1DB6-A3CA-5017-FE16B32BFD63}"/>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7" name="Group 26">
                    <a:extLst>
                      <a:ext uri="{FF2B5EF4-FFF2-40B4-BE49-F238E27FC236}">
                        <a16:creationId xmlns:a16="http://schemas.microsoft.com/office/drawing/2014/main" id="{EF7849DF-DD8A-8E62-D2C3-DA9F574BEC29}"/>
                      </a:ext>
                    </a:extLst>
                  </p:cNvPr>
                  <p:cNvGrpSpPr/>
                  <p:nvPr/>
                </p:nvGrpSpPr>
                <p:grpSpPr>
                  <a:xfrm>
                    <a:off x="8397458" y="3674792"/>
                    <a:ext cx="1719621" cy="1700874"/>
                    <a:chOff x="5198251" y="1335215"/>
                    <a:chExt cx="1719621" cy="1700874"/>
                  </a:xfrm>
                </p:grpSpPr>
                <p:sp>
                  <p:nvSpPr>
                    <p:cNvPr id="42" name="Cube 41">
                      <a:extLst>
                        <a:ext uri="{FF2B5EF4-FFF2-40B4-BE49-F238E27FC236}">
                          <a16:creationId xmlns:a16="http://schemas.microsoft.com/office/drawing/2014/main" id="{A9BA49F6-04E3-B01A-4828-476943BB894D}"/>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Connector 42">
                      <a:extLst>
                        <a:ext uri="{FF2B5EF4-FFF2-40B4-BE49-F238E27FC236}">
                          <a16:creationId xmlns:a16="http://schemas.microsoft.com/office/drawing/2014/main" id="{88A7056B-8F0C-00F3-0FE9-92312BD0F3F6}"/>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CC07690B-4899-A9EE-B781-4E77EB33E43E}"/>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71C322EC-F482-254B-ECAE-B06B559B9D4F}"/>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8" name="Cube 27">
                    <a:extLst>
                      <a:ext uri="{FF2B5EF4-FFF2-40B4-BE49-F238E27FC236}">
                        <a16:creationId xmlns:a16="http://schemas.microsoft.com/office/drawing/2014/main" id="{ACA5A1C9-2230-86B0-779B-5945FB63EE99}"/>
                      </a:ext>
                    </a:extLst>
                  </p:cNvPr>
                  <p:cNvSpPr/>
                  <p:nvPr/>
                </p:nvSpPr>
                <p:spPr>
                  <a:xfrm>
                    <a:off x="7814099" y="1991674"/>
                    <a:ext cx="2711910" cy="350920"/>
                  </a:xfrm>
                  <a:prstGeom prst="cube">
                    <a:avLst/>
                  </a:prstGeom>
                  <a:solidFill>
                    <a:srgbClr val="FF0000">
                      <a:alpha val="20000"/>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56B44531-76F4-E045-F2A3-547C9E07D9BC}"/>
                      </a:ext>
                    </a:extLst>
                  </p:cNvPr>
                  <p:cNvGrpSpPr/>
                  <p:nvPr/>
                </p:nvGrpSpPr>
                <p:grpSpPr>
                  <a:xfrm>
                    <a:off x="10052861" y="1983582"/>
                    <a:ext cx="475384" cy="350921"/>
                    <a:chOff x="443049" y="354140"/>
                    <a:chExt cx="1338126" cy="1304925"/>
                  </a:xfrm>
                  <a:solidFill>
                    <a:srgbClr val="FF0000"/>
                  </a:solidFill>
                </p:grpSpPr>
                <p:sp>
                  <p:nvSpPr>
                    <p:cNvPr id="38" name="Cube 37">
                      <a:extLst>
                        <a:ext uri="{FF2B5EF4-FFF2-40B4-BE49-F238E27FC236}">
                          <a16:creationId xmlns:a16="http://schemas.microsoft.com/office/drawing/2014/main" id="{4BA19F4A-0ECC-7FDB-F5A2-0C10A167B49B}"/>
                        </a:ext>
                      </a:extLst>
                    </p:cNvPr>
                    <p:cNvSpPr/>
                    <p:nvPr/>
                  </p:nvSpPr>
                  <p:spPr>
                    <a:xfrm>
                      <a:off x="443049" y="354140"/>
                      <a:ext cx="1333500" cy="1304925"/>
                    </a:xfrm>
                    <a:prstGeom prst="cube">
                      <a:avLst/>
                    </a:prstGeom>
                    <a:grp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9" name="Straight Connector 38">
                      <a:extLst>
                        <a:ext uri="{FF2B5EF4-FFF2-40B4-BE49-F238E27FC236}">
                          <a16:creationId xmlns:a16="http://schemas.microsoft.com/office/drawing/2014/main" id="{F56D298D-EC94-8AEE-849A-E77702AD1F03}"/>
                        </a:ext>
                      </a:extLst>
                    </p:cNvPr>
                    <p:cNvCxnSpPr/>
                    <p:nvPr/>
                  </p:nvCxnSpPr>
                  <p:spPr>
                    <a:xfrm flipH="1">
                      <a:off x="766899" y="1325690"/>
                      <a:ext cx="1014276" cy="0"/>
                    </a:xfrm>
                    <a:prstGeom prst="line">
                      <a:avLst/>
                    </a:prstGeom>
                    <a:grpFill/>
                    <a:ln w="3175"/>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B2BF394A-C9EF-493A-4092-1611D2461610}"/>
                        </a:ext>
                      </a:extLst>
                    </p:cNvPr>
                    <p:cNvCxnSpPr/>
                    <p:nvPr/>
                  </p:nvCxnSpPr>
                  <p:spPr>
                    <a:xfrm flipH="1">
                      <a:off x="447675" y="1325690"/>
                      <a:ext cx="319224" cy="333375"/>
                    </a:xfrm>
                    <a:prstGeom prst="line">
                      <a:avLst/>
                    </a:prstGeom>
                    <a:grpFill/>
                    <a:ln w="3175"/>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A974F637-0ACE-ECB2-FF0C-D62B14122ECA}"/>
                        </a:ext>
                      </a:extLst>
                    </p:cNvPr>
                    <p:cNvCxnSpPr/>
                    <p:nvPr/>
                  </p:nvCxnSpPr>
                  <p:spPr>
                    <a:xfrm>
                      <a:off x="757374" y="354140"/>
                      <a:ext cx="0" cy="971550"/>
                    </a:xfrm>
                    <a:prstGeom prst="line">
                      <a:avLst/>
                    </a:prstGeom>
                    <a:grpFill/>
                    <a:ln w="3175"/>
                  </p:spPr>
                  <p:style>
                    <a:lnRef idx="2">
                      <a:schemeClr val="accent1"/>
                    </a:lnRef>
                    <a:fillRef idx="0">
                      <a:schemeClr val="accent1"/>
                    </a:fillRef>
                    <a:effectRef idx="1">
                      <a:schemeClr val="accent1"/>
                    </a:effectRef>
                    <a:fontRef idx="minor">
                      <a:schemeClr val="tx1"/>
                    </a:fontRef>
                  </p:style>
                </p:cxnSp>
              </p:grpSp>
              <p:sp>
                <p:nvSpPr>
                  <p:cNvPr id="30" name="TextBox 29">
                    <a:extLst>
                      <a:ext uri="{FF2B5EF4-FFF2-40B4-BE49-F238E27FC236}">
                        <a16:creationId xmlns:a16="http://schemas.microsoft.com/office/drawing/2014/main" id="{1A0CF3A1-8DC0-7282-48F2-12AC6583AC11}"/>
                      </a:ext>
                    </a:extLst>
                  </p:cNvPr>
                  <p:cNvSpPr txBox="1"/>
                  <p:nvPr/>
                </p:nvSpPr>
                <p:spPr>
                  <a:xfrm>
                    <a:off x="6241960" y="5381998"/>
                    <a:ext cx="959493" cy="307777"/>
                  </a:xfrm>
                  <a:prstGeom prst="rect">
                    <a:avLst/>
                  </a:prstGeom>
                  <a:noFill/>
                </p:spPr>
                <p:txBody>
                  <a:bodyPr wrap="none" rtlCol="0">
                    <a:spAutoFit/>
                  </a:bodyPr>
                  <a:lstStyle/>
                  <a:p>
                    <a:r>
                      <a:rPr lang="en-US" sz="1400" i="1" dirty="0"/>
                      <a:t>Zero Point</a:t>
                    </a:r>
                  </a:p>
                </p:txBody>
              </p:sp>
              <p:sp>
                <p:nvSpPr>
                  <p:cNvPr id="31" name="TextBox 30">
                    <a:extLst>
                      <a:ext uri="{FF2B5EF4-FFF2-40B4-BE49-F238E27FC236}">
                        <a16:creationId xmlns:a16="http://schemas.microsoft.com/office/drawing/2014/main" id="{976C68C3-9C8E-01BE-7368-8A7F2F204E65}"/>
                      </a:ext>
                    </a:extLst>
                  </p:cNvPr>
                  <p:cNvSpPr txBox="1"/>
                  <p:nvPr/>
                </p:nvSpPr>
                <p:spPr>
                  <a:xfrm>
                    <a:off x="7526876" y="5588496"/>
                    <a:ext cx="1800173" cy="307777"/>
                  </a:xfrm>
                  <a:prstGeom prst="rect">
                    <a:avLst/>
                  </a:prstGeom>
                  <a:noFill/>
                </p:spPr>
                <p:txBody>
                  <a:bodyPr wrap="none" rtlCol="0">
                    <a:spAutoFit/>
                  </a:bodyPr>
                  <a:lstStyle>
                    <a:defPPr>
                      <a:defRPr lang="en-US"/>
                    </a:defPPr>
                    <a:lvl1pPr>
                      <a:defRPr sz="1400" i="1"/>
                    </a:lvl1pPr>
                  </a:lstStyle>
                  <a:p>
                    <a:r>
                      <a:rPr lang="en-US" dirty="0"/>
                      <a:t>Normative Point (NP)</a:t>
                    </a:r>
                  </a:p>
                </p:txBody>
              </p:sp>
              <p:sp>
                <p:nvSpPr>
                  <p:cNvPr id="32" name="Freeform: Shape 31">
                    <a:extLst>
                      <a:ext uri="{FF2B5EF4-FFF2-40B4-BE49-F238E27FC236}">
                        <a16:creationId xmlns:a16="http://schemas.microsoft.com/office/drawing/2014/main" id="{96B11230-74F6-A5D5-5C66-8B9254B56091}"/>
                      </a:ext>
                    </a:extLst>
                  </p:cNvPr>
                  <p:cNvSpPr/>
                  <p:nvPr/>
                </p:nvSpPr>
                <p:spPr>
                  <a:xfrm>
                    <a:off x="8033869" y="3674791"/>
                    <a:ext cx="793565" cy="1915523"/>
                  </a:xfrm>
                  <a:custGeom>
                    <a:avLst/>
                    <a:gdLst>
                      <a:gd name="connsiteX0" fmla="*/ 574490 w 793565"/>
                      <a:gd name="connsiteY0" fmla="*/ 2000250 h 2000250"/>
                      <a:gd name="connsiteX1" fmla="*/ 2990 w 793565"/>
                      <a:gd name="connsiteY1" fmla="*/ 628650 h 2000250"/>
                      <a:gd name="connsiteX2" fmla="*/ 793565 w 793565"/>
                      <a:gd name="connsiteY2" fmla="*/ 0 h 2000250"/>
                    </a:gdLst>
                    <a:ahLst/>
                    <a:cxnLst>
                      <a:cxn ang="0">
                        <a:pos x="connsiteX0" y="connsiteY0"/>
                      </a:cxn>
                      <a:cxn ang="0">
                        <a:pos x="connsiteX1" y="connsiteY1"/>
                      </a:cxn>
                      <a:cxn ang="0">
                        <a:pos x="connsiteX2" y="connsiteY2"/>
                      </a:cxn>
                    </a:cxnLst>
                    <a:rect l="l" t="t" r="r" b="b"/>
                    <a:pathLst>
                      <a:path w="793565" h="2000250">
                        <a:moveTo>
                          <a:pt x="574490" y="2000250"/>
                        </a:moveTo>
                        <a:cubicBezTo>
                          <a:pt x="270484" y="1481137"/>
                          <a:pt x="-33522" y="962025"/>
                          <a:pt x="2990" y="628650"/>
                        </a:cubicBezTo>
                        <a:cubicBezTo>
                          <a:pt x="39502" y="295275"/>
                          <a:pt x="660215" y="103188"/>
                          <a:pt x="793565" y="0"/>
                        </a:cubicBezTo>
                      </a:path>
                    </a:pathLst>
                  </a:custGeom>
                  <a:noFill/>
                  <a:ln>
                    <a:solidFill>
                      <a:srgbClr val="0070C0"/>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TextBox 32">
                    <a:extLst>
                      <a:ext uri="{FF2B5EF4-FFF2-40B4-BE49-F238E27FC236}">
                        <a16:creationId xmlns:a16="http://schemas.microsoft.com/office/drawing/2014/main" id="{74E98CEE-D1E7-CD0A-0706-E47B7B13B61B}"/>
                      </a:ext>
                    </a:extLst>
                  </p:cNvPr>
                  <p:cNvSpPr txBox="1"/>
                  <p:nvPr/>
                </p:nvSpPr>
                <p:spPr>
                  <a:xfrm>
                    <a:off x="9469038" y="5537629"/>
                    <a:ext cx="1825116" cy="307777"/>
                  </a:xfrm>
                  <a:prstGeom prst="rect">
                    <a:avLst/>
                  </a:prstGeom>
                  <a:noFill/>
                </p:spPr>
                <p:txBody>
                  <a:bodyPr wrap="none" rtlCol="0">
                    <a:spAutoFit/>
                  </a:bodyPr>
                  <a:lstStyle>
                    <a:defPPr>
                      <a:defRPr lang="en-US"/>
                    </a:defPPr>
                    <a:lvl1pPr>
                      <a:defRPr sz="1400" i="1"/>
                    </a:lvl1pPr>
                  </a:lstStyle>
                  <a:p>
                    <a:r>
                      <a:rPr lang="en-US" dirty="0"/>
                      <a:t>Extremism Point (EP) </a:t>
                    </a:r>
                  </a:p>
                </p:txBody>
              </p:sp>
              <p:sp>
                <p:nvSpPr>
                  <p:cNvPr id="34" name="Freeform: Shape 33">
                    <a:extLst>
                      <a:ext uri="{FF2B5EF4-FFF2-40B4-BE49-F238E27FC236}">
                        <a16:creationId xmlns:a16="http://schemas.microsoft.com/office/drawing/2014/main" id="{697919F7-6CA4-75FC-9A9A-719C02C5C78D}"/>
                      </a:ext>
                    </a:extLst>
                  </p:cNvPr>
                  <p:cNvSpPr/>
                  <p:nvPr/>
                </p:nvSpPr>
                <p:spPr>
                  <a:xfrm>
                    <a:off x="9589914" y="2334502"/>
                    <a:ext cx="643067" cy="3253463"/>
                  </a:xfrm>
                  <a:custGeom>
                    <a:avLst/>
                    <a:gdLst>
                      <a:gd name="connsiteX0" fmla="*/ 668304 w 668304"/>
                      <a:gd name="connsiteY0" fmla="*/ 2381250 h 2381250"/>
                      <a:gd name="connsiteX1" fmla="*/ 1554 w 668304"/>
                      <a:gd name="connsiteY1" fmla="*/ 628650 h 2381250"/>
                      <a:gd name="connsiteX2" fmla="*/ 487329 w 668304"/>
                      <a:gd name="connsiteY2" fmla="*/ 0 h 2381250"/>
                    </a:gdLst>
                    <a:ahLst/>
                    <a:cxnLst>
                      <a:cxn ang="0">
                        <a:pos x="connsiteX0" y="connsiteY0"/>
                      </a:cxn>
                      <a:cxn ang="0">
                        <a:pos x="connsiteX1" y="connsiteY1"/>
                      </a:cxn>
                      <a:cxn ang="0">
                        <a:pos x="connsiteX2" y="connsiteY2"/>
                      </a:cxn>
                    </a:cxnLst>
                    <a:rect l="l" t="t" r="r" b="b"/>
                    <a:pathLst>
                      <a:path w="668304" h="2381250">
                        <a:moveTo>
                          <a:pt x="668304" y="2381250"/>
                        </a:moveTo>
                        <a:cubicBezTo>
                          <a:pt x="350010" y="1703387"/>
                          <a:pt x="31716" y="1025525"/>
                          <a:pt x="1554" y="628650"/>
                        </a:cubicBezTo>
                        <a:cubicBezTo>
                          <a:pt x="-28608" y="231775"/>
                          <a:pt x="388904" y="74612"/>
                          <a:pt x="487329" y="0"/>
                        </a:cubicBezTo>
                      </a:path>
                    </a:pathLst>
                  </a:custGeom>
                  <a:noFill/>
                  <a:ln>
                    <a:solidFill>
                      <a:srgbClr val="0070C0"/>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5" name="Straight Arrow Connector 34">
                    <a:extLst>
                      <a:ext uri="{FF2B5EF4-FFF2-40B4-BE49-F238E27FC236}">
                        <a16:creationId xmlns:a16="http://schemas.microsoft.com/office/drawing/2014/main" id="{EB869175-1909-0C5C-E6C1-DF5C9180EA87}"/>
                      </a:ext>
                    </a:extLst>
                  </p:cNvPr>
                  <p:cNvCxnSpPr>
                    <a:cxnSpLocks/>
                  </p:cNvCxnSpPr>
                  <p:nvPr/>
                </p:nvCxnSpPr>
                <p:spPr>
                  <a:xfrm>
                    <a:off x="10040444" y="1645859"/>
                    <a:ext cx="263147" cy="4872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7E985B74-DD32-E47C-88C6-7E48519DF64A}"/>
                      </a:ext>
                    </a:extLst>
                  </p:cNvPr>
                  <p:cNvSpPr txBox="1"/>
                  <p:nvPr/>
                </p:nvSpPr>
                <p:spPr>
                  <a:xfrm>
                    <a:off x="7846038" y="1498411"/>
                    <a:ext cx="1598707" cy="307777"/>
                  </a:xfrm>
                  <a:prstGeom prst="rect">
                    <a:avLst/>
                  </a:prstGeom>
                  <a:noFill/>
                </p:spPr>
                <p:txBody>
                  <a:bodyPr wrap="none" rtlCol="0">
                    <a:spAutoFit/>
                  </a:bodyPr>
                  <a:lstStyle>
                    <a:defPPr>
                      <a:defRPr lang="en-US"/>
                    </a:defPPr>
                    <a:lvl1pPr>
                      <a:defRPr sz="1050">
                        <a:solidFill>
                          <a:srgbClr val="FF0000"/>
                        </a:solidFill>
                      </a:defRPr>
                    </a:lvl1pPr>
                  </a:lstStyle>
                  <a:p>
                    <a:r>
                      <a:rPr lang="en-US" sz="1400" dirty="0"/>
                      <a:t>Extremism Rank-2</a:t>
                    </a:r>
                  </a:p>
                </p:txBody>
              </p:sp>
              <p:cxnSp>
                <p:nvCxnSpPr>
                  <p:cNvPr id="37" name="Straight Arrow Connector 36">
                    <a:extLst>
                      <a:ext uri="{FF2B5EF4-FFF2-40B4-BE49-F238E27FC236}">
                        <a16:creationId xmlns:a16="http://schemas.microsoft.com/office/drawing/2014/main" id="{DC590EDD-7262-ACF7-DAE9-378040E86887}"/>
                      </a:ext>
                    </a:extLst>
                  </p:cNvPr>
                  <p:cNvCxnSpPr>
                    <a:cxnSpLocks/>
                  </p:cNvCxnSpPr>
                  <p:nvPr/>
                </p:nvCxnSpPr>
                <p:spPr>
                  <a:xfrm>
                    <a:off x="8170106" y="1726651"/>
                    <a:ext cx="504398" cy="4872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sp>
            <p:nvSpPr>
              <p:cNvPr id="13" name="TextBox 12">
                <a:extLst>
                  <a:ext uri="{FF2B5EF4-FFF2-40B4-BE49-F238E27FC236}">
                    <a16:creationId xmlns:a16="http://schemas.microsoft.com/office/drawing/2014/main" id="{AE712087-C566-9260-6976-722F04A4B141}"/>
                  </a:ext>
                </a:extLst>
              </p:cNvPr>
              <p:cNvSpPr txBox="1"/>
              <p:nvPr/>
            </p:nvSpPr>
            <p:spPr>
              <a:xfrm>
                <a:off x="7886637" y="4922700"/>
                <a:ext cx="913905" cy="307777"/>
              </a:xfrm>
              <a:prstGeom prst="rect">
                <a:avLst/>
              </a:prstGeom>
              <a:noFill/>
            </p:spPr>
            <p:txBody>
              <a:bodyPr wrap="none" rtlCol="0">
                <a:spAutoFit/>
              </a:bodyPr>
              <a:lstStyle/>
              <a:p>
                <a:r>
                  <a:rPr lang="en-US" sz="1400" dirty="0">
                    <a:solidFill>
                      <a:schemeClr val="tx1">
                        <a:lumMod val="50000"/>
                        <a:lumOff val="50000"/>
                      </a:schemeClr>
                    </a:solidFill>
                  </a:rPr>
                  <a:t>Cognitive</a:t>
                </a:r>
              </a:p>
            </p:txBody>
          </p:sp>
          <p:sp>
            <p:nvSpPr>
              <p:cNvPr id="14" name="TextBox 13">
                <a:extLst>
                  <a:ext uri="{FF2B5EF4-FFF2-40B4-BE49-F238E27FC236}">
                    <a16:creationId xmlns:a16="http://schemas.microsoft.com/office/drawing/2014/main" id="{73C22BD6-E938-1EE8-7A2D-F6C2FF7A751D}"/>
                  </a:ext>
                </a:extLst>
              </p:cNvPr>
              <p:cNvSpPr txBox="1"/>
              <p:nvPr/>
            </p:nvSpPr>
            <p:spPr>
              <a:xfrm rot="18972983">
                <a:off x="7531635" y="4796107"/>
                <a:ext cx="665567" cy="307777"/>
              </a:xfrm>
              <a:prstGeom prst="rect">
                <a:avLst/>
              </a:prstGeom>
              <a:noFill/>
            </p:spPr>
            <p:txBody>
              <a:bodyPr wrap="none" rtlCol="0">
                <a:spAutoFit/>
              </a:bodyPr>
              <a:lstStyle/>
              <a:p>
                <a:r>
                  <a:rPr lang="en-US" sz="1400" dirty="0">
                    <a:solidFill>
                      <a:schemeClr val="tx1">
                        <a:lumMod val="50000"/>
                        <a:lumOff val="50000"/>
                      </a:schemeClr>
                    </a:solidFill>
                  </a:rPr>
                  <a:t>Social</a:t>
                </a:r>
              </a:p>
            </p:txBody>
          </p:sp>
          <p:sp>
            <p:nvSpPr>
              <p:cNvPr id="15" name="TextBox 14">
                <a:extLst>
                  <a:ext uri="{FF2B5EF4-FFF2-40B4-BE49-F238E27FC236}">
                    <a16:creationId xmlns:a16="http://schemas.microsoft.com/office/drawing/2014/main" id="{3DD31E3E-EF90-8D3F-08F0-7A6C95873D0F}"/>
                  </a:ext>
                </a:extLst>
              </p:cNvPr>
              <p:cNvSpPr txBox="1"/>
              <p:nvPr/>
            </p:nvSpPr>
            <p:spPr>
              <a:xfrm rot="16200000">
                <a:off x="7145958" y="4319309"/>
                <a:ext cx="1004699" cy="307777"/>
              </a:xfrm>
              <a:prstGeom prst="rect">
                <a:avLst/>
              </a:prstGeom>
              <a:noFill/>
            </p:spPr>
            <p:txBody>
              <a:bodyPr wrap="none" rtlCol="0">
                <a:spAutoFit/>
              </a:bodyPr>
              <a:lstStyle/>
              <a:p>
                <a:r>
                  <a:rPr lang="en-US" sz="1400" dirty="0">
                    <a:solidFill>
                      <a:schemeClr val="tx1">
                        <a:lumMod val="50000"/>
                        <a:lumOff val="50000"/>
                      </a:schemeClr>
                    </a:solidFill>
                  </a:rPr>
                  <a:t>Behavioral</a:t>
                </a:r>
              </a:p>
            </p:txBody>
          </p:sp>
        </p:grpSp>
        <p:sp>
          <p:nvSpPr>
            <p:cNvPr id="6" name="Cube 5">
              <a:extLst>
                <a:ext uri="{FF2B5EF4-FFF2-40B4-BE49-F238E27FC236}">
                  <a16:creationId xmlns:a16="http://schemas.microsoft.com/office/drawing/2014/main" id="{A0E4D79E-9023-8E32-0BBA-4D2EB03DA742}"/>
                </a:ext>
              </a:extLst>
            </p:cNvPr>
            <p:cNvSpPr/>
            <p:nvPr/>
          </p:nvSpPr>
          <p:spPr>
            <a:xfrm>
              <a:off x="9757231" y="1782870"/>
              <a:ext cx="1205399" cy="3379143"/>
            </a:xfrm>
            <a:prstGeom prst="cube">
              <a:avLst>
                <a:gd name="adj" fmla="val 67772"/>
              </a:avLst>
            </a:prstGeom>
            <a:solidFill>
              <a:srgbClr val="FFFF00">
                <a:alpha val="20000"/>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Cube 6">
              <a:extLst>
                <a:ext uri="{FF2B5EF4-FFF2-40B4-BE49-F238E27FC236}">
                  <a16:creationId xmlns:a16="http://schemas.microsoft.com/office/drawing/2014/main" id="{47A9DA3B-B36F-F279-2DF7-61E6B1761064}"/>
                </a:ext>
              </a:extLst>
            </p:cNvPr>
            <p:cNvSpPr/>
            <p:nvPr/>
          </p:nvSpPr>
          <p:spPr>
            <a:xfrm>
              <a:off x="7530362" y="1784283"/>
              <a:ext cx="3432641" cy="1083928"/>
            </a:xfrm>
            <a:prstGeom prst="cube">
              <a:avLst>
                <a:gd name="adj" fmla="val 76136"/>
              </a:avLst>
            </a:prstGeom>
            <a:solidFill>
              <a:srgbClr val="FFFF00">
                <a:alpha val="20000"/>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ube 7">
              <a:extLst>
                <a:ext uri="{FF2B5EF4-FFF2-40B4-BE49-F238E27FC236}">
                  <a16:creationId xmlns:a16="http://schemas.microsoft.com/office/drawing/2014/main" id="{6D15E931-A4AC-42C6-AA52-F97068E51672}"/>
                </a:ext>
              </a:extLst>
            </p:cNvPr>
            <p:cNvSpPr/>
            <p:nvPr/>
          </p:nvSpPr>
          <p:spPr>
            <a:xfrm>
              <a:off x="8249468" y="1771643"/>
              <a:ext cx="2713161" cy="2654195"/>
            </a:xfrm>
            <a:prstGeom prst="cube">
              <a:avLst>
                <a:gd name="adj" fmla="val 4105"/>
              </a:avLst>
            </a:prstGeom>
            <a:solidFill>
              <a:srgbClr val="FFFF00">
                <a:alpha val="20000"/>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9C38D986-33D6-8E61-DE83-7B9796215FD6}"/>
                </a:ext>
              </a:extLst>
            </p:cNvPr>
            <p:cNvSpPr txBox="1"/>
            <p:nvPr/>
          </p:nvSpPr>
          <p:spPr>
            <a:xfrm>
              <a:off x="9882628" y="1212911"/>
              <a:ext cx="1513619" cy="307777"/>
            </a:xfrm>
            <a:prstGeom prst="rect">
              <a:avLst/>
            </a:prstGeom>
            <a:noFill/>
          </p:spPr>
          <p:txBody>
            <a:bodyPr wrap="none" rtlCol="0">
              <a:spAutoFit/>
            </a:bodyPr>
            <a:lstStyle>
              <a:defPPr>
                <a:defRPr lang="en-US"/>
              </a:defPPr>
              <a:lvl1pPr>
                <a:defRPr sz="1050">
                  <a:solidFill>
                    <a:srgbClr val="FF0000"/>
                  </a:solidFill>
                </a:defRPr>
              </a:lvl1pPr>
            </a:lstStyle>
            <a:p>
              <a:r>
                <a:rPr lang="en-US" sz="1400" dirty="0"/>
                <a:t>Extremism</a:t>
              </a:r>
              <a:r>
                <a:rPr lang="en-US" sz="1200" dirty="0"/>
                <a:t> Rank-3</a:t>
              </a:r>
            </a:p>
          </p:txBody>
        </p:sp>
        <p:sp>
          <p:nvSpPr>
            <p:cNvPr id="10" name="TextBox 9">
              <a:extLst>
                <a:ext uri="{FF2B5EF4-FFF2-40B4-BE49-F238E27FC236}">
                  <a16:creationId xmlns:a16="http://schemas.microsoft.com/office/drawing/2014/main" id="{B1B874E1-99B9-856E-31C1-6D55B710D4C0}"/>
                </a:ext>
              </a:extLst>
            </p:cNvPr>
            <p:cNvSpPr txBox="1"/>
            <p:nvPr/>
          </p:nvSpPr>
          <p:spPr>
            <a:xfrm>
              <a:off x="6747838" y="1467131"/>
              <a:ext cx="1585178" cy="307777"/>
            </a:xfrm>
            <a:prstGeom prst="rect">
              <a:avLst/>
            </a:prstGeom>
            <a:noFill/>
          </p:spPr>
          <p:txBody>
            <a:bodyPr wrap="none" rtlCol="0">
              <a:spAutoFit/>
            </a:bodyPr>
            <a:lstStyle>
              <a:defPPr>
                <a:defRPr lang="en-US"/>
              </a:defPPr>
              <a:lvl1pPr>
                <a:defRPr sz="1050">
                  <a:solidFill>
                    <a:srgbClr val="FF0000"/>
                  </a:solidFill>
                </a:defRPr>
              </a:lvl1pPr>
            </a:lstStyle>
            <a:p>
              <a:r>
                <a:rPr lang="en-US" sz="1400" dirty="0"/>
                <a:t>Extremism Rank-1</a:t>
              </a:r>
            </a:p>
          </p:txBody>
        </p:sp>
        <p:cxnSp>
          <p:nvCxnSpPr>
            <p:cNvPr id="11" name="Straight Arrow Connector 10">
              <a:extLst>
                <a:ext uri="{FF2B5EF4-FFF2-40B4-BE49-F238E27FC236}">
                  <a16:creationId xmlns:a16="http://schemas.microsoft.com/office/drawing/2014/main" id="{2071D541-1DD6-DA78-F5B1-5743009F5E65}"/>
                </a:ext>
              </a:extLst>
            </p:cNvPr>
            <p:cNvCxnSpPr>
              <a:cxnSpLocks/>
            </p:cNvCxnSpPr>
            <p:nvPr/>
          </p:nvCxnSpPr>
          <p:spPr>
            <a:xfrm>
              <a:off x="7753286" y="1740028"/>
              <a:ext cx="682105" cy="6398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3" name="Slide Number Placeholder 2">
            <a:extLst>
              <a:ext uri="{FF2B5EF4-FFF2-40B4-BE49-F238E27FC236}">
                <a16:creationId xmlns:a16="http://schemas.microsoft.com/office/drawing/2014/main" id="{7C2677EC-408B-8702-2992-1ACAA9C678EC}"/>
              </a:ext>
            </a:extLst>
          </p:cNvPr>
          <p:cNvSpPr>
            <a:spLocks noGrp="1"/>
          </p:cNvSpPr>
          <p:nvPr>
            <p:ph type="sldNum" sz="quarter" idx="12"/>
          </p:nvPr>
        </p:nvSpPr>
        <p:spPr/>
        <p:txBody>
          <a:bodyPr/>
          <a:lstStyle/>
          <a:p>
            <a:fld id="{704D49E2-C640-4137-BB2F-153E894575C6}" type="slidenum">
              <a:rPr lang="en-US" smtClean="0"/>
              <a:t>12</a:t>
            </a:fld>
            <a:endParaRPr lang="en-US" dirty="0"/>
          </a:p>
        </p:txBody>
      </p:sp>
      <p:grpSp>
        <p:nvGrpSpPr>
          <p:cNvPr id="80" name="Group 79">
            <a:extLst>
              <a:ext uri="{FF2B5EF4-FFF2-40B4-BE49-F238E27FC236}">
                <a16:creationId xmlns:a16="http://schemas.microsoft.com/office/drawing/2014/main" id="{69BB1BCD-B48D-4B6D-F8E3-8AC46BAE5AAD}"/>
              </a:ext>
            </a:extLst>
          </p:cNvPr>
          <p:cNvGrpSpPr/>
          <p:nvPr/>
        </p:nvGrpSpPr>
        <p:grpSpPr>
          <a:xfrm>
            <a:off x="5650141" y="1140511"/>
            <a:ext cx="6216809" cy="5070753"/>
            <a:chOff x="5650141" y="1140511"/>
            <a:chExt cx="6216809" cy="5070753"/>
          </a:xfrm>
        </p:grpSpPr>
        <p:grpSp>
          <p:nvGrpSpPr>
            <p:cNvPr id="74" name="Group 73">
              <a:extLst>
                <a:ext uri="{FF2B5EF4-FFF2-40B4-BE49-F238E27FC236}">
                  <a16:creationId xmlns:a16="http://schemas.microsoft.com/office/drawing/2014/main" id="{C49A6764-EC62-8F4F-FBCF-21DF4E19DFE7}"/>
                </a:ext>
              </a:extLst>
            </p:cNvPr>
            <p:cNvGrpSpPr/>
            <p:nvPr/>
          </p:nvGrpSpPr>
          <p:grpSpPr>
            <a:xfrm>
              <a:off x="5650141" y="1140511"/>
              <a:ext cx="6216809" cy="5070753"/>
              <a:chOff x="641191" y="1209522"/>
              <a:chExt cx="6216809" cy="5070753"/>
            </a:xfrm>
          </p:grpSpPr>
          <p:pic>
            <p:nvPicPr>
              <p:cNvPr id="75" name="Picture 74">
                <a:extLst>
                  <a:ext uri="{FF2B5EF4-FFF2-40B4-BE49-F238E27FC236}">
                    <a16:creationId xmlns:a16="http://schemas.microsoft.com/office/drawing/2014/main" id="{37BA737A-2032-E8D7-7CD6-40BFC8C060A3}"/>
                  </a:ext>
                </a:extLst>
              </p:cNvPr>
              <p:cNvPicPr>
                <a:picLocks noChangeAspect="1"/>
              </p:cNvPicPr>
              <p:nvPr/>
            </p:nvPicPr>
            <p:blipFill rotWithShape="1">
              <a:blip r:embed="rId3">
                <a:extLst>
                  <a:ext uri="{28A0092B-C50C-407E-A947-70E740481C1C}">
                    <a14:useLocalDpi xmlns:a14="http://schemas.microsoft.com/office/drawing/2010/main" val="0"/>
                  </a:ext>
                </a:extLst>
              </a:blip>
              <a:srcRect l="5058" t="14047" r="40354"/>
              <a:stretch/>
            </p:blipFill>
            <p:spPr bwMode="auto">
              <a:xfrm>
                <a:off x="641191" y="1209522"/>
                <a:ext cx="5689600" cy="5070753"/>
              </a:xfrm>
              <a:prstGeom prst="rect">
                <a:avLst/>
              </a:prstGeom>
              <a:noFill/>
              <a:ln>
                <a:noFill/>
              </a:ln>
            </p:spPr>
          </p:pic>
          <p:pic>
            <p:nvPicPr>
              <p:cNvPr id="76" name="Picture 75">
                <a:extLst>
                  <a:ext uri="{FF2B5EF4-FFF2-40B4-BE49-F238E27FC236}">
                    <a16:creationId xmlns:a16="http://schemas.microsoft.com/office/drawing/2014/main" id="{3D182B05-F6CA-8D98-7A62-C792CE79E0E1}"/>
                  </a:ext>
                </a:extLst>
              </p:cNvPr>
              <p:cNvPicPr>
                <a:picLocks noChangeAspect="1"/>
              </p:cNvPicPr>
              <p:nvPr/>
            </p:nvPicPr>
            <p:blipFill rotWithShape="1">
              <a:blip r:embed="rId3">
                <a:extLst>
                  <a:ext uri="{28A0092B-C50C-407E-A947-70E740481C1C}">
                    <a14:useLocalDpi xmlns:a14="http://schemas.microsoft.com/office/drawing/2010/main" val="0"/>
                  </a:ext>
                </a:extLst>
              </a:blip>
              <a:srcRect l="91085"/>
              <a:stretch/>
            </p:blipFill>
            <p:spPr bwMode="auto">
              <a:xfrm>
                <a:off x="6096000" y="1209522"/>
                <a:ext cx="762000" cy="4837855"/>
              </a:xfrm>
              <a:prstGeom prst="rect">
                <a:avLst/>
              </a:prstGeom>
              <a:noFill/>
              <a:ln>
                <a:noFill/>
              </a:ln>
            </p:spPr>
          </p:pic>
        </p:grpSp>
        <p:sp>
          <p:nvSpPr>
            <p:cNvPr id="77" name="TextBox 76">
              <a:extLst>
                <a:ext uri="{FF2B5EF4-FFF2-40B4-BE49-F238E27FC236}">
                  <a16:creationId xmlns:a16="http://schemas.microsoft.com/office/drawing/2014/main" id="{2A51CEFD-B70F-1D49-7EF1-A36A274D823E}"/>
                </a:ext>
              </a:extLst>
            </p:cNvPr>
            <p:cNvSpPr txBox="1"/>
            <p:nvPr/>
          </p:nvSpPr>
          <p:spPr>
            <a:xfrm rot="17449735">
              <a:off x="10394963" y="5075264"/>
              <a:ext cx="1118576" cy="369332"/>
            </a:xfrm>
            <a:prstGeom prst="rect">
              <a:avLst/>
            </a:prstGeom>
            <a:solidFill>
              <a:schemeClr val="bg1"/>
            </a:solidFill>
          </p:spPr>
          <p:txBody>
            <a:bodyPr wrap="none" rtlCol="0">
              <a:spAutoFit/>
            </a:bodyPr>
            <a:lstStyle/>
            <a:p>
              <a:r>
                <a:rPr lang="en-US" dirty="0">
                  <a:solidFill>
                    <a:schemeClr val="bg2">
                      <a:lumMod val="50000"/>
                    </a:schemeClr>
                  </a:solidFill>
                </a:rPr>
                <a:t>Cognitive</a:t>
              </a:r>
            </a:p>
          </p:txBody>
        </p:sp>
        <p:sp>
          <p:nvSpPr>
            <p:cNvPr id="78" name="TextBox 77">
              <a:extLst>
                <a:ext uri="{FF2B5EF4-FFF2-40B4-BE49-F238E27FC236}">
                  <a16:creationId xmlns:a16="http://schemas.microsoft.com/office/drawing/2014/main" id="{4DE6E537-75CA-C49C-622F-5F13C6DF7139}"/>
                </a:ext>
              </a:extLst>
            </p:cNvPr>
            <p:cNvSpPr txBox="1"/>
            <p:nvPr/>
          </p:nvSpPr>
          <p:spPr>
            <a:xfrm rot="691684">
              <a:off x="7263248" y="5605303"/>
              <a:ext cx="800219" cy="369332"/>
            </a:xfrm>
            <a:prstGeom prst="rect">
              <a:avLst/>
            </a:prstGeom>
            <a:solidFill>
              <a:schemeClr val="bg1"/>
            </a:solidFill>
          </p:spPr>
          <p:txBody>
            <a:bodyPr wrap="none" rtlCol="0">
              <a:spAutoFit/>
            </a:bodyPr>
            <a:lstStyle/>
            <a:p>
              <a:r>
                <a:rPr lang="en-US" dirty="0">
                  <a:solidFill>
                    <a:schemeClr val="bg2">
                      <a:lumMod val="50000"/>
                    </a:schemeClr>
                  </a:solidFill>
                </a:rPr>
                <a:t>Social</a:t>
              </a:r>
            </a:p>
          </p:txBody>
        </p:sp>
        <p:sp>
          <p:nvSpPr>
            <p:cNvPr id="79" name="TextBox 78">
              <a:extLst>
                <a:ext uri="{FF2B5EF4-FFF2-40B4-BE49-F238E27FC236}">
                  <a16:creationId xmlns:a16="http://schemas.microsoft.com/office/drawing/2014/main" id="{666457F6-74A7-621A-EAE0-674B8D60116A}"/>
                </a:ext>
              </a:extLst>
            </p:cNvPr>
            <p:cNvSpPr txBox="1"/>
            <p:nvPr/>
          </p:nvSpPr>
          <p:spPr>
            <a:xfrm rot="15997832">
              <a:off x="5359550" y="3341913"/>
              <a:ext cx="1233928" cy="369332"/>
            </a:xfrm>
            <a:prstGeom prst="rect">
              <a:avLst/>
            </a:prstGeom>
            <a:solidFill>
              <a:schemeClr val="bg1"/>
            </a:solidFill>
          </p:spPr>
          <p:txBody>
            <a:bodyPr wrap="none" rtlCol="0">
              <a:spAutoFit/>
            </a:bodyPr>
            <a:lstStyle/>
            <a:p>
              <a:r>
                <a:rPr lang="en-US" dirty="0">
                  <a:solidFill>
                    <a:schemeClr val="bg2">
                      <a:lumMod val="50000"/>
                    </a:schemeClr>
                  </a:solidFill>
                </a:rPr>
                <a:t>Behavioral</a:t>
              </a:r>
            </a:p>
          </p:txBody>
        </p:sp>
      </p:grpSp>
    </p:spTree>
    <p:extLst>
      <p:ext uri="{BB962C8B-B14F-4D97-AF65-F5344CB8AC3E}">
        <p14:creationId xmlns:p14="http://schemas.microsoft.com/office/powerpoint/2010/main" val="2539468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fade">
                                      <p:cBhvr>
                                        <p:cTn id="7"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5D1C6E5-8A35-6772-9797-5075473D4754}"/>
              </a:ext>
            </a:extLst>
          </p:cNvPr>
          <p:cNvPicPr>
            <a:picLocks noChangeAspect="1"/>
          </p:cNvPicPr>
          <p:nvPr/>
        </p:nvPicPr>
        <p:blipFill>
          <a:blip r:embed="rId3"/>
          <a:stretch>
            <a:fillRect/>
          </a:stretch>
        </p:blipFill>
        <p:spPr>
          <a:xfrm>
            <a:off x="5357758" y="1838228"/>
            <a:ext cx="6347381" cy="3314272"/>
          </a:xfrm>
          <a:prstGeom prst="rect">
            <a:avLst/>
          </a:prstGeom>
        </p:spPr>
      </p:pic>
      <p:sp>
        <p:nvSpPr>
          <p:cNvPr id="2" name="Title 1">
            <a:extLst>
              <a:ext uri="{FF2B5EF4-FFF2-40B4-BE49-F238E27FC236}">
                <a16:creationId xmlns:a16="http://schemas.microsoft.com/office/drawing/2014/main" id="{1673361C-71B1-E798-076C-6551D64C4251}"/>
              </a:ext>
            </a:extLst>
          </p:cNvPr>
          <p:cNvSpPr>
            <a:spLocks noGrp="1"/>
          </p:cNvSpPr>
          <p:nvPr>
            <p:ph type="title"/>
          </p:nvPr>
        </p:nvSpPr>
        <p:spPr/>
        <p:txBody>
          <a:bodyPr/>
          <a:lstStyle/>
          <a:p>
            <a:r>
              <a:rPr lang="en-US" dirty="0"/>
              <a:t>Gauge Indices</a:t>
            </a:r>
          </a:p>
        </p:txBody>
      </p:sp>
      <p:sp>
        <p:nvSpPr>
          <p:cNvPr id="5" name="Content Placeholder 4">
            <a:extLst>
              <a:ext uri="{FF2B5EF4-FFF2-40B4-BE49-F238E27FC236}">
                <a16:creationId xmlns:a16="http://schemas.microsoft.com/office/drawing/2014/main" id="{AD147CAF-E941-89C0-881E-6A512B4D7F76}"/>
              </a:ext>
            </a:extLst>
          </p:cNvPr>
          <p:cNvSpPr>
            <a:spLocks noGrp="1"/>
          </p:cNvSpPr>
          <p:nvPr>
            <p:ph idx="1"/>
          </p:nvPr>
        </p:nvSpPr>
        <p:spPr>
          <a:xfrm>
            <a:off x="838200" y="849744"/>
            <a:ext cx="4509052" cy="5541819"/>
          </a:xfrm>
        </p:spPr>
        <p:txBody>
          <a:bodyPr>
            <a:normAutofit/>
          </a:bodyPr>
          <a:lstStyle/>
          <a:p>
            <a:r>
              <a:rPr lang="en-US" b="1" dirty="0"/>
              <a:t>Absolute Indices</a:t>
            </a:r>
          </a:p>
          <a:p>
            <a:pPr lvl="1"/>
            <a:r>
              <a:rPr lang="en-US" dirty="0"/>
              <a:t>Normative Points (NP)</a:t>
            </a:r>
          </a:p>
          <a:p>
            <a:pPr lvl="1"/>
            <a:r>
              <a:rPr lang="en-US" dirty="0"/>
              <a:t>Extremism Points (EP) </a:t>
            </a:r>
          </a:p>
          <a:p>
            <a:pPr lvl="1"/>
            <a:r>
              <a:rPr lang="en-US" dirty="0"/>
              <a:t>Extremism Intensity (EIN)</a:t>
            </a:r>
          </a:p>
          <a:p>
            <a:r>
              <a:rPr lang="en-US" b="1" dirty="0"/>
              <a:t>Relative Indices</a:t>
            </a:r>
          </a:p>
          <a:p>
            <a:pPr lvl="1"/>
            <a:r>
              <a:rPr lang="en-US" dirty="0"/>
              <a:t>Extremism level (EL)</a:t>
            </a:r>
          </a:p>
          <a:p>
            <a:pPr lvl="1"/>
            <a:r>
              <a:rPr lang="en-US" dirty="0"/>
              <a:t>Extremism Ranking (ER1, ER2, ER3)</a:t>
            </a:r>
          </a:p>
          <a:p>
            <a:pPr lvl="1"/>
            <a:endParaRPr lang="en-US" dirty="0"/>
          </a:p>
          <a:p>
            <a:r>
              <a:rPr lang="en-US" dirty="0"/>
              <a:t>NP, EP, EL, EIN: per dimension</a:t>
            </a:r>
          </a:p>
          <a:p>
            <a:r>
              <a:rPr lang="en-US" dirty="0"/>
              <a:t>i_EL, i_ER: per respondent</a:t>
            </a:r>
          </a:p>
          <a:p>
            <a:r>
              <a:rPr lang="en-US" dirty="0"/>
              <a:t> Populations, Communities</a:t>
            </a:r>
          </a:p>
          <a:p>
            <a:r>
              <a:rPr lang="en-US" dirty="0"/>
              <a:t>Additional “Advanced” indices</a:t>
            </a:r>
          </a:p>
          <a:p>
            <a:endParaRPr lang="en-US" dirty="0"/>
          </a:p>
        </p:txBody>
      </p:sp>
      <p:sp>
        <p:nvSpPr>
          <p:cNvPr id="3" name="Slide Number Placeholder 2">
            <a:extLst>
              <a:ext uri="{FF2B5EF4-FFF2-40B4-BE49-F238E27FC236}">
                <a16:creationId xmlns:a16="http://schemas.microsoft.com/office/drawing/2014/main" id="{3C38512F-8F02-135C-894D-877C57156CCF}"/>
              </a:ext>
            </a:extLst>
          </p:cNvPr>
          <p:cNvSpPr>
            <a:spLocks noGrp="1"/>
          </p:cNvSpPr>
          <p:nvPr>
            <p:ph type="sldNum" sz="quarter" idx="12"/>
          </p:nvPr>
        </p:nvSpPr>
        <p:spPr/>
        <p:txBody>
          <a:bodyPr/>
          <a:lstStyle/>
          <a:p>
            <a:fld id="{704D49E2-C640-4137-BB2F-153E894575C6}" type="slidenum">
              <a:rPr lang="en-US" smtClean="0"/>
              <a:pPr/>
              <a:t>13</a:t>
            </a:fld>
            <a:endParaRPr lang="en-US" dirty="0"/>
          </a:p>
        </p:txBody>
      </p:sp>
      <p:cxnSp>
        <p:nvCxnSpPr>
          <p:cNvPr id="7" name="Straight Connector 6">
            <a:extLst>
              <a:ext uri="{FF2B5EF4-FFF2-40B4-BE49-F238E27FC236}">
                <a16:creationId xmlns:a16="http://schemas.microsoft.com/office/drawing/2014/main" id="{52B99CD3-4958-53A3-A3EA-7745D36C2950}"/>
              </a:ext>
            </a:extLst>
          </p:cNvPr>
          <p:cNvCxnSpPr>
            <a:cxnSpLocks/>
          </p:cNvCxnSpPr>
          <p:nvPr/>
        </p:nvCxnSpPr>
        <p:spPr>
          <a:xfrm>
            <a:off x="7196592" y="2608290"/>
            <a:ext cx="0" cy="1370967"/>
          </a:xfrm>
          <a:prstGeom prst="line">
            <a:avLst/>
          </a:prstGeom>
          <a:ln w="38100">
            <a:solidFill>
              <a:srgbClr val="6CCA9E"/>
            </a:solidFill>
            <a:prstDash val="dash"/>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3040693-891D-8584-4794-D27F77AE800A}"/>
              </a:ext>
            </a:extLst>
          </p:cNvPr>
          <p:cNvCxnSpPr>
            <a:cxnSpLocks/>
          </p:cNvCxnSpPr>
          <p:nvPr/>
        </p:nvCxnSpPr>
        <p:spPr>
          <a:xfrm>
            <a:off x="8958703" y="3648173"/>
            <a:ext cx="0" cy="331083"/>
          </a:xfrm>
          <a:prstGeom prst="line">
            <a:avLst/>
          </a:prstGeom>
          <a:ln w="38100">
            <a:solidFill>
              <a:srgbClr val="6CCA9E"/>
            </a:solidFill>
            <a:prstDash val="dash"/>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DD78A22-2EF6-89B0-1BB2-063154B16155}"/>
              </a:ext>
            </a:extLst>
          </p:cNvPr>
          <p:cNvCxnSpPr/>
          <p:nvPr/>
        </p:nvCxnSpPr>
        <p:spPr>
          <a:xfrm>
            <a:off x="6972035" y="4082954"/>
            <a:ext cx="232013" cy="0"/>
          </a:xfrm>
          <a:prstGeom prst="straightConnector1">
            <a:avLst/>
          </a:prstGeom>
          <a:ln w="38100">
            <a:solidFill>
              <a:srgbClr val="6CCA9E"/>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91084FB4-9502-F85E-939C-17554AE36B3F}"/>
              </a:ext>
            </a:extLst>
          </p:cNvPr>
          <p:cNvCxnSpPr/>
          <p:nvPr/>
        </p:nvCxnSpPr>
        <p:spPr>
          <a:xfrm>
            <a:off x="8726690" y="4082954"/>
            <a:ext cx="232013" cy="0"/>
          </a:xfrm>
          <a:prstGeom prst="straightConnector1">
            <a:avLst/>
          </a:prstGeom>
          <a:ln w="38100">
            <a:solidFill>
              <a:srgbClr val="6CCA9E"/>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0364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90DE8-30DD-B8BF-C914-0CD38C8C041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C209AF6-E8E1-2B71-4330-5CBC0348558A}"/>
              </a:ext>
            </a:extLst>
          </p:cNvPr>
          <p:cNvSpPr>
            <a:spLocks noGrp="1"/>
          </p:cNvSpPr>
          <p:nvPr>
            <p:ph type="title"/>
          </p:nvPr>
        </p:nvSpPr>
        <p:spPr/>
        <p:txBody>
          <a:bodyPr/>
          <a:lstStyle/>
          <a:p>
            <a:r>
              <a:rPr lang="en-US" dirty="0"/>
              <a:t>Methodology</a:t>
            </a:r>
          </a:p>
        </p:txBody>
      </p:sp>
      <p:sp>
        <p:nvSpPr>
          <p:cNvPr id="8" name="Content Placeholder 7">
            <a:extLst>
              <a:ext uri="{FF2B5EF4-FFF2-40B4-BE49-F238E27FC236}">
                <a16:creationId xmlns:a16="http://schemas.microsoft.com/office/drawing/2014/main" id="{6D75C0D2-4D80-5E41-157C-03F1FBFA014E}"/>
              </a:ext>
            </a:extLst>
          </p:cNvPr>
          <p:cNvSpPr>
            <a:spLocks noGrp="1"/>
          </p:cNvSpPr>
          <p:nvPr>
            <p:ph idx="1"/>
          </p:nvPr>
        </p:nvSpPr>
        <p:spPr/>
        <p:txBody>
          <a:bodyPr/>
          <a:lstStyle/>
          <a:p>
            <a:r>
              <a:rPr lang="en-US" dirty="0"/>
              <a:t>Israeli Political Extremism Survey dataset, collected as part of an ongoing research by Prof. Hirsch-Hoefler (Reichman University), Dr. Elad-Strenger (Bar Ilan University), and Prof. Ben Shitrit (New York University). Funded by the Konrad-Adenauer Foundation. </a:t>
            </a:r>
          </a:p>
          <a:p>
            <a:pPr marL="0" indent="0">
              <a:buNone/>
            </a:pPr>
            <a:endParaRPr lang="en-US" dirty="0"/>
          </a:p>
        </p:txBody>
      </p:sp>
      <p:sp>
        <p:nvSpPr>
          <p:cNvPr id="3" name="Slide Number Placeholder 2">
            <a:extLst>
              <a:ext uri="{FF2B5EF4-FFF2-40B4-BE49-F238E27FC236}">
                <a16:creationId xmlns:a16="http://schemas.microsoft.com/office/drawing/2014/main" id="{DAB4B291-9092-8C3E-DD5E-D84FBE53D695}"/>
              </a:ext>
            </a:extLst>
          </p:cNvPr>
          <p:cNvSpPr>
            <a:spLocks noGrp="1"/>
          </p:cNvSpPr>
          <p:nvPr>
            <p:ph type="sldNum" sz="quarter" idx="12"/>
          </p:nvPr>
        </p:nvSpPr>
        <p:spPr/>
        <p:txBody>
          <a:bodyPr/>
          <a:lstStyle/>
          <a:p>
            <a:fld id="{704D49E2-C640-4137-BB2F-153E894575C6}" type="slidenum">
              <a:rPr lang="en-US" smtClean="0"/>
              <a:pPr/>
              <a:t>14</a:t>
            </a:fld>
            <a:endParaRPr lang="en-US" dirty="0"/>
          </a:p>
        </p:txBody>
      </p:sp>
      <p:grpSp>
        <p:nvGrpSpPr>
          <p:cNvPr id="6" name="Group 5">
            <a:extLst>
              <a:ext uri="{FF2B5EF4-FFF2-40B4-BE49-F238E27FC236}">
                <a16:creationId xmlns:a16="http://schemas.microsoft.com/office/drawing/2014/main" id="{74DB0306-8266-19E1-5871-324AE805B9F8}"/>
              </a:ext>
            </a:extLst>
          </p:cNvPr>
          <p:cNvGrpSpPr/>
          <p:nvPr/>
        </p:nvGrpSpPr>
        <p:grpSpPr>
          <a:xfrm>
            <a:off x="853632" y="2961564"/>
            <a:ext cx="10484736" cy="1934349"/>
            <a:chOff x="853632" y="2961564"/>
            <a:chExt cx="10484736" cy="1934349"/>
          </a:xfrm>
        </p:grpSpPr>
        <p:grpSp>
          <p:nvGrpSpPr>
            <p:cNvPr id="4" name="Group 3">
              <a:extLst>
                <a:ext uri="{FF2B5EF4-FFF2-40B4-BE49-F238E27FC236}">
                  <a16:creationId xmlns:a16="http://schemas.microsoft.com/office/drawing/2014/main" id="{685F34FF-0F95-6105-5DB3-49D8489A69C4}"/>
                </a:ext>
              </a:extLst>
            </p:cNvPr>
            <p:cNvGrpSpPr/>
            <p:nvPr/>
          </p:nvGrpSpPr>
          <p:grpSpPr>
            <a:xfrm>
              <a:off x="853632" y="2961564"/>
              <a:ext cx="10484736" cy="1934349"/>
              <a:chOff x="853632" y="2961564"/>
              <a:chExt cx="10484736" cy="1934349"/>
            </a:xfrm>
          </p:grpSpPr>
          <p:pic>
            <p:nvPicPr>
              <p:cNvPr id="36" name="Picture 35">
                <a:extLst>
                  <a:ext uri="{FF2B5EF4-FFF2-40B4-BE49-F238E27FC236}">
                    <a16:creationId xmlns:a16="http://schemas.microsoft.com/office/drawing/2014/main" id="{151B42B5-B98A-92CB-7D18-6F9D41855800}"/>
                  </a:ext>
                </a:extLst>
              </p:cNvPr>
              <p:cNvPicPr>
                <a:picLocks noChangeAspect="1"/>
              </p:cNvPicPr>
              <p:nvPr/>
            </p:nvPicPr>
            <p:blipFill>
              <a:blip r:embed="rId3"/>
              <a:stretch>
                <a:fillRect/>
              </a:stretch>
            </p:blipFill>
            <p:spPr>
              <a:xfrm>
                <a:off x="853632" y="2961564"/>
                <a:ext cx="10484736" cy="1934349"/>
              </a:xfrm>
              <a:prstGeom prst="rect">
                <a:avLst/>
              </a:prstGeom>
            </p:spPr>
          </p:pic>
          <p:sp>
            <p:nvSpPr>
              <p:cNvPr id="2" name="TextBox 1">
                <a:extLst>
                  <a:ext uri="{FF2B5EF4-FFF2-40B4-BE49-F238E27FC236}">
                    <a16:creationId xmlns:a16="http://schemas.microsoft.com/office/drawing/2014/main" id="{E88E4723-02B2-2C93-1716-6F87D8D397B9}"/>
                  </a:ext>
                </a:extLst>
              </p:cNvPr>
              <p:cNvSpPr txBox="1"/>
              <p:nvPr/>
            </p:nvSpPr>
            <p:spPr>
              <a:xfrm>
                <a:off x="1980519" y="3911329"/>
                <a:ext cx="1081130" cy="200055"/>
              </a:xfrm>
              <a:prstGeom prst="rect">
                <a:avLst/>
              </a:prstGeom>
              <a:solidFill>
                <a:schemeClr val="bg1"/>
              </a:solidFill>
            </p:spPr>
            <p:txBody>
              <a:bodyPr wrap="none" tIns="0" bIns="0" rtlCol="0">
                <a:spAutoFit/>
              </a:bodyPr>
              <a:lstStyle/>
              <a:p>
                <a:r>
                  <a:rPr lang="en-US" sz="1300" dirty="0">
                    <a:solidFill>
                      <a:schemeClr val="bg1">
                        <a:lumMod val="50000"/>
                      </a:schemeClr>
                    </a:solidFill>
                  </a:rPr>
                  <a:t>Inland Terror</a:t>
                </a:r>
              </a:p>
            </p:txBody>
          </p:sp>
        </p:grpSp>
        <p:sp>
          <p:nvSpPr>
            <p:cNvPr id="5" name="TextBox 4">
              <a:extLst>
                <a:ext uri="{FF2B5EF4-FFF2-40B4-BE49-F238E27FC236}">
                  <a16:creationId xmlns:a16="http://schemas.microsoft.com/office/drawing/2014/main" id="{368A2C80-403E-1D91-9080-C554BF3392D8}"/>
                </a:ext>
              </a:extLst>
            </p:cNvPr>
            <p:cNvSpPr txBox="1"/>
            <p:nvPr/>
          </p:nvSpPr>
          <p:spPr>
            <a:xfrm>
              <a:off x="3633154" y="3928738"/>
              <a:ext cx="1401602" cy="200055"/>
            </a:xfrm>
            <a:prstGeom prst="rect">
              <a:avLst/>
            </a:prstGeom>
            <a:solidFill>
              <a:schemeClr val="bg1"/>
            </a:solidFill>
          </p:spPr>
          <p:txBody>
            <a:bodyPr wrap="none" tIns="0" bIns="0" rtlCol="0">
              <a:spAutoFit/>
            </a:bodyPr>
            <a:lstStyle/>
            <a:p>
              <a:r>
                <a:rPr lang="en-US" sz="1300" dirty="0">
                  <a:solidFill>
                    <a:schemeClr val="bg1">
                      <a:lumMod val="50000"/>
                    </a:schemeClr>
                  </a:solidFill>
                </a:rPr>
                <a:t>Bennett Gov. Fall</a:t>
              </a:r>
            </a:p>
          </p:txBody>
        </p:sp>
      </p:grpSp>
    </p:spTree>
    <p:extLst>
      <p:ext uri="{BB962C8B-B14F-4D97-AF65-F5344CB8AC3E}">
        <p14:creationId xmlns:p14="http://schemas.microsoft.com/office/powerpoint/2010/main" val="3582988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B95E8B5-98C2-0907-A0DB-2581D805FBA9}"/>
              </a:ext>
            </a:extLst>
          </p:cNvPr>
          <p:cNvSpPr>
            <a:spLocks noGrp="1"/>
          </p:cNvSpPr>
          <p:nvPr>
            <p:ph type="title"/>
          </p:nvPr>
        </p:nvSpPr>
        <p:spPr/>
        <p:txBody>
          <a:bodyPr/>
          <a:lstStyle/>
          <a:p>
            <a:r>
              <a:rPr lang="en-US" dirty="0"/>
              <a:t>Pairwise Regression – Overall Extremism </a:t>
            </a:r>
          </a:p>
        </p:txBody>
      </p:sp>
      <p:sp>
        <p:nvSpPr>
          <p:cNvPr id="4" name="Slide Number Placeholder 3">
            <a:extLst>
              <a:ext uri="{FF2B5EF4-FFF2-40B4-BE49-F238E27FC236}">
                <a16:creationId xmlns:a16="http://schemas.microsoft.com/office/drawing/2014/main" id="{564DB160-FC29-4FE0-69C9-DDACD41D45B3}"/>
              </a:ext>
            </a:extLst>
          </p:cNvPr>
          <p:cNvSpPr>
            <a:spLocks noGrp="1"/>
          </p:cNvSpPr>
          <p:nvPr>
            <p:ph type="sldNum" sz="quarter" idx="12"/>
          </p:nvPr>
        </p:nvSpPr>
        <p:spPr/>
        <p:txBody>
          <a:bodyPr/>
          <a:lstStyle/>
          <a:p>
            <a:fld id="{704D49E2-C640-4137-BB2F-153E894575C6}" type="slidenum">
              <a:rPr lang="en-US" smtClean="0"/>
              <a:t>15</a:t>
            </a:fld>
            <a:endParaRPr lang="en-US" dirty="0"/>
          </a:p>
        </p:txBody>
      </p:sp>
      <p:pic>
        <p:nvPicPr>
          <p:cNvPr id="2" name="Picture 4">
            <a:extLst>
              <a:ext uri="{FF2B5EF4-FFF2-40B4-BE49-F238E27FC236}">
                <a16:creationId xmlns:a16="http://schemas.microsoft.com/office/drawing/2014/main" id="{6541656D-232E-2D79-0797-53D00C9340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87600"/>
            <a:ext cx="121920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266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802A1-1761-1933-6F8F-7B6F3E3C6ABC}"/>
              </a:ext>
            </a:extLst>
          </p:cNvPr>
          <p:cNvSpPr>
            <a:spLocks noGrp="1"/>
          </p:cNvSpPr>
          <p:nvPr>
            <p:ph type="title"/>
          </p:nvPr>
        </p:nvSpPr>
        <p:spPr>
          <a:xfrm>
            <a:off x="0" y="365126"/>
            <a:ext cx="12192000" cy="394000"/>
          </a:xfrm>
        </p:spPr>
        <p:txBody>
          <a:bodyPr/>
          <a:lstStyle/>
          <a:p>
            <a:r>
              <a:rPr lang="en-US" dirty="0"/>
              <a:t>Overall (Combined dimensions) Normative Points</a:t>
            </a:r>
          </a:p>
        </p:txBody>
      </p:sp>
      <p:sp>
        <p:nvSpPr>
          <p:cNvPr id="4" name="Slide Number Placeholder 3">
            <a:extLst>
              <a:ext uri="{FF2B5EF4-FFF2-40B4-BE49-F238E27FC236}">
                <a16:creationId xmlns:a16="http://schemas.microsoft.com/office/drawing/2014/main" id="{B0AAB797-6271-7B45-2C51-BC35279A8059}"/>
              </a:ext>
            </a:extLst>
          </p:cNvPr>
          <p:cNvSpPr>
            <a:spLocks noGrp="1"/>
          </p:cNvSpPr>
          <p:nvPr>
            <p:ph type="sldNum" sz="quarter" idx="12"/>
          </p:nvPr>
        </p:nvSpPr>
        <p:spPr>
          <a:xfrm>
            <a:off x="8986982" y="6492874"/>
            <a:ext cx="2743200" cy="228601"/>
          </a:xfrm>
        </p:spPr>
        <p:txBody>
          <a:bodyPr/>
          <a:lstStyle/>
          <a:p>
            <a:fld id="{704D49E2-C640-4137-BB2F-153E894575C6}" type="slidenum">
              <a:rPr lang="en-US" smtClean="0"/>
              <a:pPr/>
              <a:t>16</a:t>
            </a:fld>
            <a:endParaRPr lang="en-US" dirty="0"/>
          </a:p>
        </p:txBody>
      </p:sp>
      <p:pic>
        <p:nvPicPr>
          <p:cNvPr id="7" name="Picture 4">
            <a:extLst>
              <a:ext uri="{FF2B5EF4-FFF2-40B4-BE49-F238E27FC236}">
                <a16:creationId xmlns:a16="http://schemas.microsoft.com/office/drawing/2014/main" id="{A9CFE9A6-8653-9F6E-5218-623AF73E21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6440" y="767270"/>
            <a:ext cx="8342142" cy="5839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194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F927A-1245-FE7A-0FF4-60D6B375251B}"/>
              </a:ext>
            </a:extLst>
          </p:cNvPr>
          <p:cNvSpPr>
            <a:spLocks noGrp="1"/>
          </p:cNvSpPr>
          <p:nvPr>
            <p:ph type="title"/>
          </p:nvPr>
        </p:nvSpPr>
        <p:spPr>
          <a:xfrm>
            <a:off x="0" y="365126"/>
            <a:ext cx="12192000" cy="394000"/>
          </a:xfrm>
        </p:spPr>
        <p:txBody>
          <a:bodyPr/>
          <a:lstStyle/>
          <a:p>
            <a:r>
              <a:rPr lang="en-US" dirty="0"/>
              <a:t>Academic Contribution</a:t>
            </a:r>
          </a:p>
        </p:txBody>
      </p:sp>
      <p:sp>
        <p:nvSpPr>
          <p:cNvPr id="3" name="Content Placeholder 2">
            <a:extLst>
              <a:ext uri="{FF2B5EF4-FFF2-40B4-BE49-F238E27FC236}">
                <a16:creationId xmlns:a16="http://schemas.microsoft.com/office/drawing/2014/main" id="{F98E0C73-0F7F-D31A-75FC-F6B3EE3B7D5D}"/>
              </a:ext>
            </a:extLst>
          </p:cNvPr>
          <p:cNvSpPr>
            <a:spLocks noGrp="1"/>
          </p:cNvSpPr>
          <p:nvPr>
            <p:ph idx="1"/>
          </p:nvPr>
        </p:nvSpPr>
        <p:spPr>
          <a:xfrm>
            <a:off x="838200" y="849744"/>
            <a:ext cx="10891982" cy="5541819"/>
          </a:xfrm>
        </p:spPr>
        <p:txBody>
          <a:bodyPr/>
          <a:lstStyle/>
          <a:p>
            <a:r>
              <a:rPr lang="en-US" dirty="0"/>
              <a:t>The novel approach of assessing socio-political extremism holds significant potential for predicting it and constructing more effective interventions to reduce the ground on which political instability and violence can grow.</a:t>
            </a:r>
          </a:p>
          <a:p>
            <a:r>
              <a:rPr lang="en-US" dirty="0"/>
              <a:t>By understanding how extremism develops, governments as well as relevant institutions will be better equipped to mitigate it while still addressing the legitimate concerns that people experience in times of growing new threats. </a:t>
            </a:r>
          </a:p>
          <a:p>
            <a:r>
              <a:rPr lang="en-US" dirty="0"/>
              <a:t>Beyond its theoretical contributions, the research provides practical tools for analyzing one of the most pressing challenges of modern democracy. </a:t>
            </a:r>
          </a:p>
          <a:p>
            <a:endParaRPr lang="en-US" dirty="0"/>
          </a:p>
        </p:txBody>
      </p:sp>
      <p:sp>
        <p:nvSpPr>
          <p:cNvPr id="4" name="Slide Number Placeholder 3">
            <a:extLst>
              <a:ext uri="{FF2B5EF4-FFF2-40B4-BE49-F238E27FC236}">
                <a16:creationId xmlns:a16="http://schemas.microsoft.com/office/drawing/2014/main" id="{17988031-D3A6-004F-5D89-AB048FB01ACD}"/>
              </a:ext>
            </a:extLst>
          </p:cNvPr>
          <p:cNvSpPr>
            <a:spLocks noGrp="1"/>
          </p:cNvSpPr>
          <p:nvPr>
            <p:ph type="sldNum" sz="quarter" idx="12"/>
          </p:nvPr>
        </p:nvSpPr>
        <p:spPr>
          <a:xfrm>
            <a:off x="8986982" y="6492874"/>
            <a:ext cx="2743200" cy="228601"/>
          </a:xfrm>
        </p:spPr>
        <p:txBody>
          <a:bodyPr/>
          <a:lstStyle/>
          <a:p>
            <a:fld id="{704D49E2-C640-4137-BB2F-153E894575C6}" type="slidenum">
              <a:rPr lang="en-US" smtClean="0"/>
              <a:pPr/>
              <a:t>17</a:t>
            </a:fld>
            <a:endParaRPr lang="en-US" dirty="0"/>
          </a:p>
        </p:txBody>
      </p:sp>
    </p:spTree>
    <p:extLst>
      <p:ext uri="{BB962C8B-B14F-4D97-AF65-F5344CB8AC3E}">
        <p14:creationId xmlns:p14="http://schemas.microsoft.com/office/powerpoint/2010/main" val="2155950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y be an image of tree">
            <a:extLst>
              <a:ext uri="{FF2B5EF4-FFF2-40B4-BE49-F238E27FC236}">
                <a16:creationId xmlns:a16="http://schemas.microsoft.com/office/drawing/2014/main" id="{3C98A8EB-C449-4ECE-67B3-EDE888413C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2" y="0"/>
            <a:ext cx="12180888"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04CFF6C-1ADB-8823-BCB1-4378735C9B5D}"/>
              </a:ext>
            </a:extLst>
          </p:cNvPr>
          <p:cNvSpPr>
            <a:spLocks noGrp="1"/>
          </p:cNvSpPr>
          <p:nvPr>
            <p:ph type="title"/>
          </p:nvPr>
        </p:nvSpPr>
        <p:spPr>
          <a:xfrm>
            <a:off x="11112" y="394746"/>
            <a:ext cx="12180888" cy="1483340"/>
          </a:xfrm>
        </p:spPr>
        <p:txBody>
          <a:bodyPr vert="horz" lIns="91440" tIns="45720" rIns="91440" bIns="45720" rtlCol="0" anchor="ctr">
            <a:noAutofit/>
          </a:bodyPr>
          <a:lstStyle/>
          <a:p>
            <a:r>
              <a:rPr lang="en-US" sz="4800" dirty="0">
                <a:solidFill>
                  <a:schemeClr val="bg1"/>
                </a:solidFill>
                <a:cs typeface="David" panose="020E0502060401010101" pitchFamily="34" charset="-79"/>
              </a:rPr>
              <a:t>  Shaped by the winds we failed to read!</a:t>
            </a:r>
          </a:p>
        </p:txBody>
      </p:sp>
      <p:sp>
        <p:nvSpPr>
          <p:cNvPr id="5" name="TextBox 4">
            <a:extLst>
              <a:ext uri="{FF2B5EF4-FFF2-40B4-BE49-F238E27FC236}">
                <a16:creationId xmlns:a16="http://schemas.microsoft.com/office/drawing/2014/main" id="{2E1C658E-FF05-62F5-54CF-614E9C19DA52}"/>
              </a:ext>
            </a:extLst>
          </p:cNvPr>
          <p:cNvSpPr txBox="1"/>
          <p:nvPr/>
        </p:nvSpPr>
        <p:spPr>
          <a:xfrm>
            <a:off x="168110" y="6123355"/>
            <a:ext cx="2713482" cy="523220"/>
          </a:xfrm>
          <a:prstGeom prst="rect">
            <a:avLst/>
          </a:prstGeom>
          <a:noFill/>
        </p:spPr>
        <p:txBody>
          <a:bodyPr wrap="square">
            <a:spAutoFit/>
          </a:bodyPr>
          <a:lstStyle/>
          <a:p>
            <a:r>
              <a:rPr lang="en-US" sz="1400" dirty="0">
                <a:solidFill>
                  <a:schemeClr val="bg1"/>
                </a:solidFill>
              </a:rPr>
              <a:t>Oak tree, edge of Mount Ebal</a:t>
            </a:r>
          </a:p>
          <a:p>
            <a:r>
              <a:rPr lang="en-US" sz="1400" dirty="0">
                <a:solidFill>
                  <a:schemeClr val="bg1"/>
                </a:solidFill>
              </a:rPr>
              <a:t>Itay Cohen, August 2024</a:t>
            </a:r>
          </a:p>
        </p:txBody>
      </p:sp>
      <p:sp>
        <p:nvSpPr>
          <p:cNvPr id="6" name="TextBox 5">
            <a:extLst>
              <a:ext uri="{FF2B5EF4-FFF2-40B4-BE49-F238E27FC236}">
                <a16:creationId xmlns:a16="http://schemas.microsoft.com/office/drawing/2014/main" id="{A3F3E82E-0E97-8C93-E94D-C21692490B07}"/>
              </a:ext>
            </a:extLst>
          </p:cNvPr>
          <p:cNvSpPr txBox="1"/>
          <p:nvPr/>
        </p:nvSpPr>
        <p:spPr>
          <a:xfrm>
            <a:off x="11112" y="5239512"/>
            <a:ext cx="12180888" cy="775597"/>
          </a:xfrm>
          <a:prstGeom prst="rect">
            <a:avLst/>
          </a:prstGeom>
        </p:spPr>
        <p:txBody>
          <a:bodyPr vert="horz" lIns="91440" tIns="45720" rIns="91440" bIns="45720" rtlCol="0" anchor="ctr">
            <a:noAutofit/>
          </a:bodyPr>
          <a:lstStyle>
            <a:lvl1pPr>
              <a:lnSpc>
                <a:spcPct val="90000"/>
              </a:lnSpc>
              <a:spcBef>
                <a:spcPct val="0"/>
              </a:spcBef>
              <a:buNone/>
              <a:defRPr sz="4800">
                <a:solidFill>
                  <a:schemeClr val="bg1"/>
                </a:solidFill>
                <a:latin typeface="David" panose="020E0502060401010101" pitchFamily="34" charset="-79"/>
                <a:ea typeface="+mj-ea"/>
                <a:cs typeface="David" panose="020E0502060401010101" pitchFamily="34" charset="-79"/>
              </a:defRPr>
            </a:lvl1pPr>
          </a:lstStyle>
          <a:p>
            <a:pPr algn="ctr"/>
            <a:r>
              <a:rPr lang="en-US" dirty="0">
                <a:latin typeface="+mj-lt"/>
              </a:rPr>
              <a:t>Thank You</a:t>
            </a:r>
          </a:p>
        </p:txBody>
      </p:sp>
      <p:sp>
        <p:nvSpPr>
          <p:cNvPr id="3" name="Slide Number Placeholder 2">
            <a:extLst>
              <a:ext uri="{FF2B5EF4-FFF2-40B4-BE49-F238E27FC236}">
                <a16:creationId xmlns:a16="http://schemas.microsoft.com/office/drawing/2014/main" id="{FFE6AC48-4129-E762-513C-0FECAE45370A}"/>
              </a:ext>
            </a:extLst>
          </p:cNvPr>
          <p:cNvSpPr>
            <a:spLocks noGrp="1"/>
          </p:cNvSpPr>
          <p:nvPr>
            <p:ph type="sldNum" sz="quarter" idx="12"/>
          </p:nvPr>
        </p:nvSpPr>
        <p:spPr/>
        <p:txBody>
          <a:bodyPr/>
          <a:lstStyle/>
          <a:p>
            <a:fld id="{704D49E2-C640-4137-BB2F-153E894575C6}" type="slidenum">
              <a:rPr lang="en-US" smtClean="0"/>
              <a:t>18</a:t>
            </a:fld>
            <a:endParaRPr lang="en-US" dirty="0"/>
          </a:p>
        </p:txBody>
      </p:sp>
    </p:spTree>
    <p:extLst>
      <p:ext uri="{BB962C8B-B14F-4D97-AF65-F5344CB8AC3E}">
        <p14:creationId xmlns:p14="http://schemas.microsoft.com/office/powerpoint/2010/main" val="3704590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C1D165-A38A-630E-FB69-B33A0ABE6E25}"/>
              </a:ext>
            </a:extLst>
          </p:cNvPr>
          <p:cNvSpPr>
            <a:spLocks noGrp="1"/>
          </p:cNvSpPr>
          <p:nvPr>
            <p:ph type="title"/>
          </p:nvPr>
        </p:nvSpPr>
        <p:spPr/>
        <p:txBody>
          <a:bodyPr/>
          <a:lstStyle/>
          <a:p>
            <a:r>
              <a:rPr lang="en-US" dirty="0"/>
              <a:t>Additional Material</a:t>
            </a:r>
          </a:p>
        </p:txBody>
      </p:sp>
      <p:sp>
        <p:nvSpPr>
          <p:cNvPr id="5" name="Text Placeholder 4">
            <a:extLst>
              <a:ext uri="{FF2B5EF4-FFF2-40B4-BE49-F238E27FC236}">
                <a16:creationId xmlns:a16="http://schemas.microsoft.com/office/drawing/2014/main" id="{3A5A514A-7A58-CD8F-A479-BB77A86EAC28}"/>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1E5559DF-05D3-79A8-0174-DFE8E56B144F}"/>
              </a:ext>
            </a:extLst>
          </p:cNvPr>
          <p:cNvSpPr>
            <a:spLocks noGrp="1"/>
          </p:cNvSpPr>
          <p:nvPr>
            <p:ph type="sldNum" sz="quarter" idx="12"/>
          </p:nvPr>
        </p:nvSpPr>
        <p:spPr/>
        <p:txBody>
          <a:bodyPr/>
          <a:lstStyle/>
          <a:p>
            <a:fld id="{704D49E2-C640-4137-BB2F-153E894575C6}" type="slidenum">
              <a:rPr lang="en-US" smtClean="0"/>
              <a:t>19</a:t>
            </a:fld>
            <a:endParaRPr lang="en-US" dirty="0"/>
          </a:p>
        </p:txBody>
      </p:sp>
    </p:spTree>
    <p:extLst>
      <p:ext uri="{BB962C8B-B14F-4D97-AF65-F5344CB8AC3E}">
        <p14:creationId xmlns:p14="http://schemas.microsoft.com/office/powerpoint/2010/main" val="1455915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F3DF77-B774-AC15-DF48-118D61E31AA0}"/>
              </a:ext>
            </a:extLst>
          </p:cNvPr>
          <p:cNvSpPr>
            <a:spLocks noGrp="1"/>
          </p:cNvSpPr>
          <p:nvPr>
            <p:ph type="title"/>
          </p:nvPr>
        </p:nvSpPr>
        <p:spPr/>
        <p:txBody>
          <a:bodyPr>
            <a:normAutofit fontScale="90000"/>
          </a:bodyPr>
          <a:lstStyle/>
          <a:p>
            <a:r>
              <a:rPr lang="en-US" dirty="0"/>
              <a:t>Context-Independent Indices (Wide version for Article)</a:t>
            </a:r>
          </a:p>
        </p:txBody>
      </p:sp>
      <p:cxnSp>
        <p:nvCxnSpPr>
          <p:cNvPr id="8" name="Straight Connector 7">
            <a:extLst>
              <a:ext uri="{FF2B5EF4-FFF2-40B4-BE49-F238E27FC236}">
                <a16:creationId xmlns:a16="http://schemas.microsoft.com/office/drawing/2014/main" id="{B9A9CAC5-8523-8994-B080-A544B182A752}"/>
              </a:ext>
            </a:extLst>
          </p:cNvPr>
          <p:cNvCxnSpPr>
            <a:cxnSpLocks/>
            <a:endCxn id="9" idx="4"/>
          </p:cNvCxnSpPr>
          <p:nvPr/>
        </p:nvCxnSpPr>
        <p:spPr>
          <a:xfrm>
            <a:off x="1155104" y="4775435"/>
            <a:ext cx="8857504" cy="4769"/>
          </a:xfrm>
          <a:prstGeom prst="line">
            <a:avLst/>
          </a:prstGeom>
        </p:spPr>
        <p:style>
          <a:lnRef idx="2">
            <a:schemeClr val="dk1"/>
          </a:lnRef>
          <a:fillRef idx="0">
            <a:schemeClr val="dk1"/>
          </a:fillRef>
          <a:effectRef idx="1">
            <a:schemeClr val="dk1"/>
          </a:effectRef>
          <a:fontRef idx="minor">
            <a:schemeClr val="tx1"/>
          </a:fontRef>
        </p:style>
      </p:cxnSp>
      <p:sp>
        <p:nvSpPr>
          <p:cNvPr id="9" name="Freeform: Shape 8">
            <a:extLst>
              <a:ext uri="{FF2B5EF4-FFF2-40B4-BE49-F238E27FC236}">
                <a16:creationId xmlns:a16="http://schemas.microsoft.com/office/drawing/2014/main" id="{804DE31F-5CE5-B2B7-B22B-156ADFCDCBED}"/>
              </a:ext>
            </a:extLst>
          </p:cNvPr>
          <p:cNvSpPr/>
          <p:nvPr/>
        </p:nvSpPr>
        <p:spPr>
          <a:xfrm>
            <a:off x="1155104" y="2331996"/>
            <a:ext cx="8857504" cy="2448208"/>
          </a:xfrm>
          <a:custGeom>
            <a:avLst/>
            <a:gdLst>
              <a:gd name="connsiteX0" fmla="*/ 0 w 6848856"/>
              <a:gd name="connsiteY0" fmla="*/ 1290080 h 1344944"/>
              <a:gd name="connsiteX1" fmla="*/ 1307592 w 6848856"/>
              <a:gd name="connsiteY1" fmla="*/ 9920 h 1344944"/>
              <a:gd name="connsiteX2" fmla="*/ 2624328 w 6848856"/>
              <a:gd name="connsiteY2" fmla="*/ 723152 h 1344944"/>
              <a:gd name="connsiteX3" fmla="*/ 4745736 w 6848856"/>
              <a:gd name="connsiteY3" fmla="*/ 1216928 h 1344944"/>
              <a:gd name="connsiteX4" fmla="*/ 6848856 w 6848856"/>
              <a:gd name="connsiteY4" fmla="*/ 1344944 h 1344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48856" h="1344944">
                <a:moveTo>
                  <a:pt x="0" y="1290080"/>
                </a:moveTo>
                <a:cubicBezTo>
                  <a:pt x="435102" y="697244"/>
                  <a:pt x="870204" y="104408"/>
                  <a:pt x="1307592" y="9920"/>
                </a:cubicBezTo>
                <a:cubicBezTo>
                  <a:pt x="1744980" y="-84568"/>
                  <a:pt x="2051304" y="521984"/>
                  <a:pt x="2624328" y="723152"/>
                </a:cubicBezTo>
                <a:cubicBezTo>
                  <a:pt x="3197352" y="924320"/>
                  <a:pt x="4041648" y="1113296"/>
                  <a:pt x="4745736" y="1216928"/>
                </a:cubicBezTo>
                <a:cubicBezTo>
                  <a:pt x="5449824" y="1320560"/>
                  <a:pt x="6484620" y="1329704"/>
                  <a:pt x="6848856" y="1344944"/>
                </a:cubicBezTo>
              </a:path>
            </a:pathLst>
          </a:custGeom>
          <a:noFill/>
          <a:ln>
            <a:solidFill>
              <a:srgbClr val="C249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mj-lt"/>
            </a:endParaRPr>
          </a:p>
        </p:txBody>
      </p:sp>
      <p:cxnSp>
        <p:nvCxnSpPr>
          <p:cNvPr id="11" name="Straight Connector 10">
            <a:extLst>
              <a:ext uri="{FF2B5EF4-FFF2-40B4-BE49-F238E27FC236}">
                <a16:creationId xmlns:a16="http://schemas.microsoft.com/office/drawing/2014/main" id="{50974377-4A16-9D38-0569-B84310917947}"/>
              </a:ext>
            </a:extLst>
          </p:cNvPr>
          <p:cNvCxnSpPr>
            <a:cxnSpLocks/>
          </p:cNvCxnSpPr>
          <p:nvPr/>
        </p:nvCxnSpPr>
        <p:spPr>
          <a:xfrm>
            <a:off x="3329350" y="2501919"/>
            <a:ext cx="0" cy="2273516"/>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DA88224B-9BAE-5EC9-5BE3-491956D0FE4A}"/>
              </a:ext>
            </a:extLst>
          </p:cNvPr>
          <p:cNvSpPr txBox="1"/>
          <p:nvPr/>
        </p:nvSpPr>
        <p:spPr>
          <a:xfrm>
            <a:off x="3178522" y="2158064"/>
            <a:ext cx="2542556" cy="369332"/>
          </a:xfrm>
          <a:prstGeom prst="rect">
            <a:avLst/>
          </a:prstGeom>
          <a:noFill/>
        </p:spPr>
        <p:txBody>
          <a:bodyPr wrap="none" rtlCol="0">
            <a:spAutoFit/>
          </a:bodyPr>
          <a:lstStyle>
            <a:defPPr>
              <a:defRPr lang="en-US"/>
            </a:defPPr>
            <a:lvl1pPr>
              <a:defRPr sz="2400" i="0">
                <a:latin typeface="Times New Roman" panose="02020603050405020304" pitchFamily="18" charset="0"/>
                <a:cs typeface="Times New Roman" panose="02020603050405020304" pitchFamily="18" charset="0"/>
              </a:defRPr>
            </a:lvl1pPr>
          </a:lstStyle>
          <a:p>
            <a:r>
              <a:rPr lang="en-US" sz="1800" dirty="0">
                <a:latin typeface="+mj-lt"/>
              </a:rPr>
              <a:t>Normative Point (Median)</a:t>
            </a:r>
          </a:p>
        </p:txBody>
      </p:sp>
      <p:cxnSp>
        <p:nvCxnSpPr>
          <p:cNvPr id="14" name="Straight Connector 13">
            <a:extLst>
              <a:ext uri="{FF2B5EF4-FFF2-40B4-BE49-F238E27FC236}">
                <a16:creationId xmlns:a16="http://schemas.microsoft.com/office/drawing/2014/main" id="{5DDAEE7E-92D5-566D-DB30-A5504E3FBB5C}"/>
              </a:ext>
            </a:extLst>
          </p:cNvPr>
          <p:cNvCxnSpPr>
            <a:cxnSpLocks/>
          </p:cNvCxnSpPr>
          <p:nvPr/>
        </p:nvCxnSpPr>
        <p:spPr>
          <a:xfrm>
            <a:off x="6005610" y="4242062"/>
            <a:ext cx="0" cy="533373"/>
          </a:xfrm>
          <a:prstGeom prst="line">
            <a:avLst/>
          </a:prstGeom>
          <a:ln>
            <a:prstDash val="dash"/>
          </a:ln>
        </p:spPr>
        <p:style>
          <a:lnRef idx="2">
            <a:schemeClr val="dk1"/>
          </a:lnRef>
          <a:fillRef idx="0">
            <a:schemeClr val="dk1"/>
          </a:fillRef>
          <a:effectRef idx="1">
            <a:schemeClr val="dk1"/>
          </a:effectRef>
          <a:fontRef idx="minor">
            <a:schemeClr val="tx1"/>
          </a:fontRef>
        </p:style>
      </p:cxnSp>
      <p:sp>
        <p:nvSpPr>
          <p:cNvPr id="29" name="TextBox 28">
            <a:extLst>
              <a:ext uri="{FF2B5EF4-FFF2-40B4-BE49-F238E27FC236}">
                <a16:creationId xmlns:a16="http://schemas.microsoft.com/office/drawing/2014/main" id="{7600251A-2A78-70C1-EA84-20B0AD9A9C4B}"/>
              </a:ext>
            </a:extLst>
          </p:cNvPr>
          <p:cNvSpPr txBox="1"/>
          <p:nvPr/>
        </p:nvSpPr>
        <p:spPr>
          <a:xfrm>
            <a:off x="5884282" y="3517289"/>
            <a:ext cx="2165978" cy="646331"/>
          </a:xfrm>
          <a:prstGeom prst="rect">
            <a:avLst/>
          </a:prstGeom>
          <a:noFill/>
        </p:spPr>
        <p:txBody>
          <a:bodyPr wrap="none" rtlCol="0">
            <a:spAutoFit/>
          </a:bodyPr>
          <a:lstStyle>
            <a:defPPr>
              <a:defRPr lang="en-US"/>
            </a:defPPr>
            <a:lvl1pPr>
              <a:defRPr sz="2400" i="1"/>
            </a:lvl1pPr>
          </a:lstStyle>
          <a:p>
            <a:r>
              <a:rPr lang="en-US" sz="1800" i="0" dirty="0">
                <a:latin typeface="+mj-lt"/>
                <a:cs typeface="Times New Roman" panose="02020603050405020304" pitchFamily="18" charset="0"/>
              </a:rPr>
              <a:t>Extremism Point </a:t>
            </a:r>
          </a:p>
          <a:p>
            <a:r>
              <a:rPr lang="en-US" sz="1800" i="0" dirty="0">
                <a:latin typeface="+mj-lt"/>
                <a:cs typeface="Times New Roman" panose="02020603050405020304" pitchFamily="18" charset="0"/>
              </a:rPr>
              <a:t>(Median + 1.5 x MAD)</a:t>
            </a:r>
          </a:p>
        </p:txBody>
      </p:sp>
      <p:grpSp>
        <p:nvGrpSpPr>
          <p:cNvPr id="25" name="Group 24">
            <a:extLst>
              <a:ext uri="{FF2B5EF4-FFF2-40B4-BE49-F238E27FC236}">
                <a16:creationId xmlns:a16="http://schemas.microsoft.com/office/drawing/2014/main" id="{248A12E2-5D3D-BF85-7530-4F0C6D56F604}"/>
              </a:ext>
            </a:extLst>
          </p:cNvPr>
          <p:cNvGrpSpPr/>
          <p:nvPr/>
        </p:nvGrpSpPr>
        <p:grpSpPr>
          <a:xfrm>
            <a:off x="7888643" y="5256915"/>
            <a:ext cx="2125903" cy="444373"/>
            <a:chOff x="13732299" y="5016751"/>
            <a:chExt cx="2125903" cy="444373"/>
          </a:xfrm>
        </p:grpSpPr>
        <p:sp>
          <p:nvSpPr>
            <p:cNvPr id="32" name="Left Brace 31">
              <a:extLst>
                <a:ext uri="{FF2B5EF4-FFF2-40B4-BE49-F238E27FC236}">
                  <a16:creationId xmlns:a16="http://schemas.microsoft.com/office/drawing/2014/main" id="{2200251B-B67A-2B5A-7BB7-78BCD11EE55E}"/>
                </a:ext>
              </a:extLst>
            </p:cNvPr>
            <p:cNvSpPr/>
            <p:nvPr/>
          </p:nvSpPr>
          <p:spPr>
            <a:xfrm rot="16200000">
              <a:off x="14713120" y="4035930"/>
              <a:ext cx="164261" cy="2125903"/>
            </a:xfrm>
            <a:prstGeom prst="leftBrace">
              <a:avLst/>
            </a:prstGeom>
            <a:ln w="190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solidFill>
                  <a:srgbClr val="FF8F8F"/>
                </a:solidFill>
                <a:latin typeface="+mj-lt"/>
              </a:endParaRPr>
            </a:p>
          </p:txBody>
        </p:sp>
        <p:sp>
          <p:nvSpPr>
            <p:cNvPr id="38" name="TextBox 37">
              <a:extLst>
                <a:ext uri="{FF2B5EF4-FFF2-40B4-BE49-F238E27FC236}">
                  <a16:creationId xmlns:a16="http://schemas.microsoft.com/office/drawing/2014/main" id="{795DB345-BBD9-ED42-1D02-F7F3EF49AB9C}"/>
                </a:ext>
              </a:extLst>
            </p:cNvPr>
            <p:cNvSpPr txBox="1"/>
            <p:nvPr/>
          </p:nvSpPr>
          <p:spPr>
            <a:xfrm>
              <a:off x="13844496" y="5122570"/>
              <a:ext cx="1714124" cy="338554"/>
            </a:xfrm>
            <a:prstGeom prst="rect">
              <a:avLst/>
            </a:prstGeom>
            <a:noFill/>
          </p:spPr>
          <p:txBody>
            <a:bodyPr wrap="none" rtlCol="0">
              <a:spAutoFit/>
            </a:bodyPr>
            <a:lstStyle>
              <a:defPPr>
                <a:defRPr lang="en-US"/>
              </a:defPPr>
              <a:lvl1pPr>
                <a:defRPr sz="2000" i="0">
                  <a:latin typeface="Times New Roman" panose="02020603050405020304" pitchFamily="18" charset="0"/>
                  <a:cs typeface="Times New Roman" panose="02020603050405020304" pitchFamily="18" charset="0"/>
                </a:defRPr>
              </a:lvl1pPr>
            </a:lstStyle>
            <a:p>
              <a:r>
                <a:rPr lang="en-US" sz="1600" dirty="0">
                  <a:latin typeface="+mj-lt"/>
                </a:rPr>
                <a:t>Extremism Rank-2</a:t>
              </a:r>
            </a:p>
          </p:txBody>
        </p:sp>
      </p:grpSp>
      <p:grpSp>
        <p:nvGrpSpPr>
          <p:cNvPr id="26" name="Group 25">
            <a:extLst>
              <a:ext uri="{FF2B5EF4-FFF2-40B4-BE49-F238E27FC236}">
                <a16:creationId xmlns:a16="http://schemas.microsoft.com/office/drawing/2014/main" id="{F72D06FD-3457-B05C-175B-758EF7165417}"/>
              </a:ext>
            </a:extLst>
          </p:cNvPr>
          <p:cNvGrpSpPr/>
          <p:nvPr/>
        </p:nvGrpSpPr>
        <p:grpSpPr>
          <a:xfrm>
            <a:off x="8404270" y="4809407"/>
            <a:ext cx="1714124" cy="468540"/>
            <a:chOff x="8417316" y="5843809"/>
            <a:chExt cx="1714124" cy="468540"/>
          </a:xfrm>
        </p:grpSpPr>
        <p:sp>
          <p:nvSpPr>
            <p:cNvPr id="35" name="Left Brace 34">
              <a:extLst>
                <a:ext uri="{FF2B5EF4-FFF2-40B4-BE49-F238E27FC236}">
                  <a16:creationId xmlns:a16="http://schemas.microsoft.com/office/drawing/2014/main" id="{8E74A00F-B65A-3783-D5CE-0FB8B45D7A43}"/>
                </a:ext>
              </a:extLst>
            </p:cNvPr>
            <p:cNvSpPr/>
            <p:nvPr/>
          </p:nvSpPr>
          <p:spPr>
            <a:xfrm rot="16200000">
              <a:off x="9280919" y="5305159"/>
              <a:ext cx="193039" cy="1270340"/>
            </a:xfrm>
            <a:prstGeom prst="leftBrace">
              <a:avLst/>
            </a:prstGeom>
            <a:ln w="19050">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solidFill>
                  <a:srgbClr val="C00000"/>
                </a:solidFill>
                <a:latin typeface="+mj-lt"/>
              </a:endParaRPr>
            </a:p>
          </p:txBody>
        </p:sp>
        <p:sp>
          <p:nvSpPr>
            <p:cNvPr id="39" name="TextBox 38">
              <a:extLst>
                <a:ext uri="{FF2B5EF4-FFF2-40B4-BE49-F238E27FC236}">
                  <a16:creationId xmlns:a16="http://schemas.microsoft.com/office/drawing/2014/main" id="{7F65C8B7-D75B-CE8F-D51F-058512BF94CB}"/>
                </a:ext>
              </a:extLst>
            </p:cNvPr>
            <p:cNvSpPr txBox="1"/>
            <p:nvPr/>
          </p:nvSpPr>
          <p:spPr>
            <a:xfrm>
              <a:off x="8417316" y="5973795"/>
              <a:ext cx="1714124" cy="338554"/>
            </a:xfrm>
            <a:prstGeom prst="rect">
              <a:avLst/>
            </a:prstGeom>
            <a:noFill/>
          </p:spPr>
          <p:txBody>
            <a:bodyPr wrap="none" rtlCol="0">
              <a:spAutoFit/>
            </a:bodyPr>
            <a:lstStyle>
              <a:defPPr>
                <a:defRPr lang="en-US"/>
              </a:defPPr>
              <a:lvl1pPr>
                <a:defRPr sz="2000" i="0">
                  <a:latin typeface="Times New Roman" panose="02020603050405020304" pitchFamily="18" charset="0"/>
                  <a:cs typeface="Times New Roman" panose="02020603050405020304" pitchFamily="18" charset="0"/>
                </a:defRPr>
              </a:lvl1pPr>
            </a:lstStyle>
            <a:p>
              <a:r>
                <a:rPr lang="en-US" sz="1600" dirty="0">
                  <a:latin typeface="+mj-lt"/>
                </a:rPr>
                <a:t>Extremism Rank-3</a:t>
              </a:r>
            </a:p>
          </p:txBody>
        </p:sp>
      </p:grpSp>
      <p:grpSp>
        <p:nvGrpSpPr>
          <p:cNvPr id="24" name="Group 23">
            <a:extLst>
              <a:ext uri="{FF2B5EF4-FFF2-40B4-BE49-F238E27FC236}">
                <a16:creationId xmlns:a16="http://schemas.microsoft.com/office/drawing/2014/main" id="{B2E36950-BDCB-5E75-BFA2-27CC07961BC3}"/>
              </a:ext>
            </a:extLst>
          </p:cNvPr>
          <p:cNvGrpSpPr/>
          <p:nvPr/>
        </p:nvGrpSpPr>
        <p:grpSpPr>
          <a:xfrm>
            <a:off x="6096000" y="5635863"/>
            <a:ext cx="3965832" cy="462426"/>
            <a:chOff x="6335549" y="4881686"/>
            <a:chExt cx="3677060" cy="462426"/>
          </a:xfrm>
        </p:grpSpPr>
        <p:sp>
          <p:nvSpPr>
            <p:cNvPr id="5" name="Left Brace 4">
              <a:extLst>
                <a:ext uri="{FF2B5EF4-FFF2-40B4-BE49-F238E27FC236}">
                  <a16:creationId xmlns:a16="http://schemas.microsoft.com/office/drawing/2014/main" id="{20509E51-542C-6AB8-5C95-848315F7B1EC}"/>
                </a:ext>
              </a:extLst>
            </p:cNvPr>
            <p:cNvSpPr/>
            <p:nvPr/>
          </p:nvSpPr>
          <p:spPr>
            <a:xfrm rot="16200000">
              <a:off x="8091949" y="3125286"/>
              <a:ext cx="164259" cy="3677060"/>
            </a:xfrm>
            <a:prstGeom prst="leftBrace">
              <a:avLst/>
            </a:prstGeom>
            <a:ln w="19050">
              <a:solidFill>
                <a:srgbClr val="FF8F8F"/>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solidFill>
                  <a:srgbClr val="FF6D6D"/>
                </a:solidFill>
                <a:latin typeface="+mj-lt"/>
              </a:endParaRPr>
            </a:p>
          </p:txBody>
        </p:sp>
        <p:sp>
          <p:nvSpPr>
            <p:cNvPr id="6" name="TextBox 5">
              <a:extLst>
                <a:ext uri="{FF2B5EF4-FFF2-40B4-BE49-F238E27FC236}">
                  <a16:creationId xmlns:a16="http://schemas.microsoft.com/office/drawing/2014/main" id="{E8C1D45C-72DA-57E2-D9A3-2CAD78A238AD}"/>
                </a:ext>
              </a:extLst>
            </p:cNvPr>
            <p:cNvSpPr txBox="1"/>
            <p:nvPr/>
          </p:nvSpPr>
          <p:spPr>
            <a:xfrm>
              <a:off x="7284544" y="5005558"/>
              <a:ext cx="1698670" cy="338554"/>
            </a:xfrm>
            <a:prstGeom prst="rect">
              <a:avLst/>
            </a:prstGeom>
            <a:noFill/>
          </p:spPr>
          <p:txBody>
            <a:bodyPr wrap="none" rtlCol="0">
              <a:spAutoFit/>
            </a:bodyPr>
            <a:lstStyle>
              <a:defPPr>
                <a:defRPr lang="en-US"/>
              </a:defPPr>
              <a:lvl1pPr>
                <a:defRPr sz="2400" i="0">
                  <a:latin typeface="Times New Roman" panose="02020603050405020304" pitchFamily="18" charset="0"/>
                  <a:cs typeface="Times New Roman" panose="02020603050405020304" pitchFamily="18" charset="0"/>
                </a:defRPr>
              </a:lvl1pPr>
            </a:lstStyle>
            <a:p>
              <a:r>
                <a:rPr lang="en-US" sz="1600" dirty="0">
                  <a:latin typeface="+mj-lt"/>
                </a:rPr>
                <a:t>Extremism Rank-1</a:t>
              </a:r>
            </a:p>
          </p:txBody>
        </p:sp>
      </p:grpSp>
      <p:sp>
        <p:nvSpPr>
          <p:cNvPr id="10" name="Freeform: Shape 9">
            <a:extLst>
              <a:ext uri="{FF2B5EF4-FFF2-40B4-BE49-F238E27FC236}">
                <a16:creationId xmlns:a16="http://schemas.microsoft.com/office/drawing/2014/main" id="{50E6B747-CC7A-34BE-7FBE-DEE8FB49F54F}"/>
              </a:ext>
            </a:extLst>
          </p:cNvPr>
          <p:cNvSpPr/>
          <p:nvPr/>
        </p:nvSpPr>
        <p:spPr>
          <a:xfrm>
            <a:off x="6005610" y="4192844"/>
            <a:ext cx="3073432" cy="584081"/>
          </a:xfrm>
          <a:custGeom>
            <a:avLst/>
            <a:gdLst>
              <a:gd name="connsiteX0" fmla="*/ 0 w 4280704"/>
              <a:gd name="connsiteY0" fmla="*/ 0 h 1167713"/>
              <a:gd name="connsiteX1" fmla="*/ 100584 w 4280704"/>
              <a:gd name="connsiteY1" fmla="*/ 73152 h 1167713"/>
              <a:gd name="connsiteX2" fmla="*/ 118872 w 4280704"/>
              <a:gd name="connsiteY2" fmla="*/ 100584 h 1167713"/>
              <a:gd name="connsiteX3" fmla="*/ 192024 w 4280704"/>
              <a:gd name="connsiteY3" fmla="*/ 164592 h 1167713"/>
              <a:gd name="connsiteX4" fmla="*/ 228600 w 4280704"/>
              <a:gd name="connsiteY4" fmla="*/ 201168 h 1167713"/>
              <a:gd name="connsiteX5" fmla="*/ 256032 w 4280704"/>
              <a:gd name="connsiteY5" fmla="*/ 210312 h 1167713"/>
              <a:gd name="connsiteX6" fmla="*/ 292608 w 4280704"/>
              <a:gd name="connsiteY6" fmla="*/ 228600 h 1167713"/>
              <a:gd name="connsiteX7" fmla="*/ 329184 w 4280704"/>
              <a:gd name="connsiteY7" fmla="*/ 256032 h 1167713"/>
              <a:gd name="connsiteX8" fmla="*/ 374904 w 4280704"/>
              <a:gd name="connsiteY8" fmla="*/ 283464 h 1167713"/>
              <a:gd name="connsiteX9" fmla="*/ 402336 w 4280704"/>
              <a:gd name="connsiteY9" fmla="*/ 310896 h 1167713"/>
              <a:gd name="connsiteX10" fmla="*/ 493776 w 4280704"/>
              <a:gd name="connsiteY10" fmla="*/ 356616 h 1167713"/>
              <a:gd name="connsiteX11" fmla="*/ 566928 w 4280704"/>
              <a:gd name="connsiteY11" fmla="*/ 402336 h 1167713"/>
              <a:gd name="connsiteX12" fmla="*/ 612648 w 4280704"/>
              <a:gd name="connsiteY12" fmla="*/ 411480 h 1167713"/>
              <a:gd name="connsiteX13" fmla="*/ 694944 w 4280704"/>
              <a:gd name="connsiteY13" fmla="*/ 448056 h 1167713"/>
              <a:gd name="connsiteX14" fmla="*/ 758952 w 4280704"/>
              <a:gd name="connsiteY14" fmla="*/ 475488 h 1167713"/>
              <a:gd name="connsiteX15" fmla="*/ 795528 w 4280704"/>
              <a:gd name="connsiteY15" fmla="*/ 502920 h 1167713"/>
              <a:gd name="connsiteX16" fmla="*/ 841248 w 4280704"/>
              <a:gd name="connsiteY16" fmla="*/ 512064 h 1167713"/>
              <a:gd name="connsiteX17" fmla="*/ 950976 w 4280704"/>
              <a:gd name="connsiteY17" fmla="*/ 539496 h 1167713"/>
              <a:gd name="connsiteX18" fmla="*/ 987552 w 4280704"/>
              <a:gd name="connsiteY18" fmla="*/ 548640 h 1167713"/>
              <a:gd name="connsiteX19" fmla="*/ 1024128 w 4280704"/>
              <a:gd name="connsiteY19" fmla="*/ 557784 h 1167713"/>
              <a:gd name="connsiteX20" fmla="*/ 1078992 w 4280704"/>
              <a:gd name="connsiteY20" fmla="*/ 576072 h 1167713"/>
              <a:gd name="connsiteX21" fmla="*/ 1197864 w 4280704"/>
              <a:gd name="connsiteY21" fmla="*/ 603504 h 1167713"/>
              <a:gd name="connsiteX22" fmla="*/ 1325880 w 4280704"/>
              <a:gd name="connsiteY22" fmla="*/ 658368 h 1167713"/>
              <a:gd name="connsiteX23" fmla="*/ 1380744 w 4280704"/>
              <a:gd name="connsiteY23" fmla="*/ 667512 h 1167713"/>
              <a:gd name="connsiteX24" fmla="*/ 1453896 w 4280704"/>
              <a:gd name="connsiteY24" fmla="*/ 694944 h 1167713"/>
              <a:gd name="connsiteX25" fmla="*/ 1490472 w 4280704"/>
              <a:gd name="connsiteY25" fmla="*/ 713232 h 1167713"/>
              <a:gd name="connsiteX26" fmla="*/ 1600200 w 4280704"/>
              <a:gd name="connsiteY26" fmla="*/ 731520 h 1167713"/>
              <a:gd name="connsiteX27" fmla="*/ 1682496 w 4280704"/>
              <a:gd name="connsiteY27" fmla="*/ 758952 h 1167713"/>
              <a:gd name="connsiteX28" fmla="*/ 1737360 w 4280704"/>
              <a:gd name="connsiteY28" fmla="*/ 777240 h 1167713"/>
              <a:gd name="connsiteX29" fmla="*/ 1783080 w 4280704"/>
              <a:gd name="connsiteY29" fmla="*/ 786384 h 1167713"/>
              <a:gd name="connsiteX30" fmla="*/ 1819656 w 4280704"/>
              <a:gd name="connsiteY30" fmla="*/ 795528 h 1167713"/>
              <a:gd name="connsiteX31" fmla="*/ 1883664 w 4280704"/>
              <a:gd name="connsiteY31" fmla="*/ 804672 h 1167713"/>
              <a:gd name="connsiteX32" fmla="*/ 1965960 w 4280704"/>
              <a:gd name="connsiteY32" fmla="*/ 832104 h 1167713"/>
              <a:gd name="connsiteX33" fmla="*/ 2148840 w 4280704"/>
              <a:gd name="connsiteY33" fmla="*/ 850392 h 1167713"/>
              <a:gd name="connsiteX34" fmla="*/ 2240280 w 4280704"/>
              <a:gd name="connsiteY34" fmla="*/ 868680 h 1167713"/>
              <a:gd name="connsiteX35" fmla="*/ 2340864 w 4280704"/>
              <a:gd name="connsiteY35" fmla="*/ 896112 h 1167713"/>
              <a:gd name="connsiteX36" fmla="*/ 2441448 w 4280704"/>
              <a:gd name="connsiteY36" fmla="*/ 914400 h 1167713"/>
              <a:gd name="connsiteX37" fmla="*/ 2478024 w 4280704"/>
              <a:gd name="connsiteY37" fmla="*/ 923544 h 1167713"/>
              <a:gd name="connsiteX38" fmla="*/ 2606040 w 4280704"/>
              <a:gd name="connsiteY38" fmla="*/ 941832 h 1167713"/>
              <a:gd name="connsiteX39" fmla="*/ 2642616 w 4280704"/>
              <a:gd name="connsiteY39" fmla="*/ 950976 h 1167713"/>
              <a:gd name="connsiteX40" fmla="*/ 2670048 w 4280704"/>
              <a:gd name="connsiteY40" fmla="*/ 960120 h 1167713"/>
              <a:gd name="connsiteX41" fmla="*/ 2798064 w 4280704"/>
              <a:gd name="connsiteY41" fmla="*/ 978408 h 1167713"/>
              <a:gd name="connsiteX42" fmla="*/ 2926080 w 4280704"/>
              <a:gd name="connsiteY42" fmla="*/ 996696 h 1167713"/>
              <a:gd name="connsiteX43" fmla="*/ 2980944 w 4280704"/>
              <a:gd name="connsiteY43" fmla="*/ 1014984 h 1167713"/>
              <a:gd name="connsiteX44" fmla="*/ 3026664 w 4280704"/>
              <a:gd name="connsiteY44" fmla="*/ 1024128 h 1167713"/>
              <a:gd name="connsiteX45" fmla="*/ 3529584 w 4280704"/>
              <a:gd name="connsiteY45" fmla="*/ 1042416 h 1167713"/>
              <a:gd name="connsiteX46" fmla="*/ 3639312 w 4280704"/>
              <a:gd name="connsiteY46" fmla="*/ 1069848 h 1167713"/>
              <a:gd name="connsiteX47" fmla="*/ 3995928 w 4280704"/>
              <a:gd name="connsiteY47" fmla="*/ 1088136 h 1167713"/>
              <a:gd name="connsiteX48" fmla="*/ 4114800 w 4280704"/>
              <a:gd name="connsiteY48" fmla="*/ 1097280 h 1167713"/>
              <a:gd name="connsiteX49" fmla="*/ 4270248 w 4280704"/>
              <a:gd name="connsiteY49" fmla="*/ 1088136 h 1167713"/>
              <a:gd name="connsiteX50" fmla="*/ 4032504 w 4280704"/>
              <a:gd name="connsiteY50" fmla="*/ 1097280 h 1167713"/>
              <a:gd name="connsiteX51" fmla="*/ 3959352 w 4280704"/>
              <a:gd name="connsiteY51" fmla="*/ 1106424 h 1167713"/>
              <a:gd name="connsiteX52" fmla="*/ 3337560 w 4280704"/>
              <a:gd name="connsiteY52" fmla="*/ 1115568 h 1167713"/>
              <a:gd name="connsiteX53" fmla="*/ 2542032 w 4280704"/>
              <a:gd name="connsiteY53" fmla="*/ 1124712 h 1167713"/>
              <a:gd name="connsiteX54" fmla="*/ 2286000 w 4280704"/>
              <a:gd name="connsiteY54" fmla="*/ 1133856 h 1167713"/>
              <a:gd name="connsiteX55" fmla="*/ 2240280 w 4280704"/>
              <a:gd name="connsiteY55" fmla="*/ 1143000 h 1167713"/>
              <a:gd name="connsiteX56" fmla="*/ 2203704 w 4280704"/>
              <a:gd name="connsiteY56" fmla="*/ 1152144 h 1167713"/>
              <a:gd name="connsiteX57" fmla="*/ 1435608 w 4280704"/>
              <a:gd name="connsiteY57" fmla="*/ 1143000 h 1167713"/>
              <a:gd name="connsiteX58" fmla="*/ 1344168 w 4280704"/>
              <a:gd name="connsiteY58" fmla="*/ 1133856 h 1167713"/>
              <a:gd name="connsiteX59" fmla="*/ 1252728 w 4280704"/>
              <a:gd name="connsiteY59" fmla="*/ 1115568 h 1167713"/>
              <a:gd name="connsiteX60" fmla="*/ 1188720 w 4280704"/>
              <a:gd name="connsiteY60" fmla="*/ 1106424 h 1167713"/>
              <a:gd name="connsiteX61" fmla="*/ 1152144 w 4280704"/>
              <a:gd name="connsiteY61" fmla="*/ 1088136 h 1167713"/>
              <a:gd name="connsiteX62" fmla="*/ 448056 w 4280704"/>
              <a:gd name="connsiteY62" fmla="*/ 1124712 h 1167713"/>
              <a:gd name="connsiteX63" fmla="*/ 54864 w 4280704"/>
              <a:gd name="connsiteY63" fmla="*/ 1106424 h 1167713"/>
              <a:gd name="connsiteX64" fmla="*/ 45720 w 4280704"/>
              <a:gd name="connsiteY64" fmla="*/ 1060704 h 1167713"/>
              <a:gd name="connsiteX65" fmla="*/ 64008 w 4280704"/>
              <a:gd name="connsiteY65" fmla="*/ 859536 h 1167713"/>
              <a:gd name="connsiteX66" fmla="*/ 91440 w 4280704"/>
              <a:gd name="connsiteY66" fmla="*/ 649224 h 1167713"/>
              <a:gd name="connsiteX67" fmla="*/ 82296 w 4280704"/>
              <a:gd name="connsiteY67" fmla="*/ 420624 h 1167713"/>
              <a:gd name="connsiteX68" fmla="*/ 73152 w 4280704"/>
              <a:gd name="connsiteY68" fmla="*/ 374904 h 1167713"/>
              <a:gd name="connsiteX69" fmla="*/ 45720 w 4280704"/>
              <a:gd name="connsiteY69" fmla="*/ 301752 h 1167713"/>
              <a:gd name="connsiteX70" fmla="*/ 54864 w 4280704"/>
              <a:gd name="connsiteY70" fmla="*/ 45720 h 116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4280704" h="1167713">
                <a:moveTo>
                  <a:pt x="0" y="0"/>
                </a:moveTo>
                <a:cubicBezTo>
                  <a:pt x="44819" y="26892"/>
                  <a:pt x="60616" y="33184"/>
                  <a:pt x="100584" y="73152"/>
                </a:cubicBezTo>
                <a:cubicBezTo>
                  <a:pt x="108355" y="80923"/>
                  <a:pt x="111837" y="92141"/>
                  <a:pt x="118872" y="100584"/>
                </a:cubicBezTo>
                <a:cubicBezTo>
                  <a:pt x="144165" y="130935"/>
                  <a:pt x="160263" y="136360"/>
                  <a:pt x="192024" y="164592"/>
                </a:cubicBezTo>
                <a:cubicBezTo>
                  <a:pt x="204911" y="176047"/>
                  <a:pt x="214570" y="191146"/>
                  <a:pt x="228600" y="201168"/>
                </a:cubicBezTo>
                <a:cubicBezTo>
                  <a:pt x="236443" y="206770"/>
                  <a:pt x="247173" y="206515"/>
                  <a:pt x="256032" y="210312"/>
                </a:cubicBezTo>
                <a:cubicBezTo>
                  <a:pt x="268561" y="215682"/>
                  <a:pt x="281049" y="221376"/>
                  <a:pt x="292608" y="228600"/>
                </a:cubicBezTo>
                <a:cubicBezTo>
                  <a:pt x="305531" y="236677"/>
                  <a:pt x="316504" y="247578"/>
                  <a:pt x="329184" y="256032"/>
                </a:cubicBezTo>
                <a:cubicBezTo>
                  <a:pt x="343972" y="265891"/>
                  <a:pt x="360686" y="272800"/>
                  <a:pt x="374904" y="283464"/>
                </a:cubicBezTo>
                <a:cubicBezTo>
                  <a:pt x="385249" y="291223"/>
                  <a:pt x="391991" y="303137"/>
                  <a:pt x="402336" y="310896"/>
                </a:cubicBezTo>
                <a:cubicBezTo>
                  <a:pt x="463829" y="357016"/>
                  <a:pt x="429986" y="322268"/>
                  <a:pt x="493776" y="356616"/>
                </a:cubicBezTo>
                <a:cubicBezTo>
                  <a:pt x="519094" y="370249"/>
                  <a:pt x="538732" y="396697"/>
                  <a:pt x="566928" y="402336"/>
                </a:cubicBezTo>
                <a:cubicBezTo>
                  <a:pt x="582168" y="405384"/>
                  <a:pt x="597762" y="407014"/>
                  <a:pt x="612648" y="411480"/>
                </a:cubicBezTo>
                <a:cubicBezTo>
                  <a:pt x="659910" y="425659"/>
                  <a:pt x="652916" y="430044"/>
                  <a:pt x="694944" y="448056"/>
                </a:cubicBezTo>
                <a:cubicBezTo>
                  <a:pt x="734540" y="465026"/>
                  <a:pt x="714840" y="447918"/>
                  <a:pt x="758952" y="475488"/>
                </a:cubicBezTo>
                <a:cubicBezTo>
                  <a:pt x="771875" y="483565"/>
                  <a:pt x="781602" y="496730"/>
                  <a:pt x="795528" y="502920"/>
                </a:cubicBezTo>
                <a:cubicBezTo>
                  <a:pt x="809730" y="509232"/>
                  <a:pt x="826119" y="508504"/>
                  <a:pt x="841248" y="512064"/>
                </a:cubicBezTo>
                <a:cubicBezTo>
                  <a:pt x="877947" y="520699"/>
                  <a:pt x="914400" y="530352"/>
                  <a:pt x="950976" y="539496"/>
                </a:cubicBezTo>
                <a:lnTo>
                  <a:pt x="987552" y="548640"/>
                </a:lnTo>
                <a:cubicBezTo>
                  <a:pt x="999744" y="551688"/>
                  <a:pt x="1012206" y="553810"/>
                  <a:pt x="1024128" y="557784"/>
                </a:cubicBezTo>
                <a:cubicBezTo>
                  <a:pt x="1042416" y="563880"/>
                  <a:pt x="1060456" y="570776"/>
                  <a:pt x="1078992" y="576072"/>
                </a:cubicBezTo>
                <a:cubicBezTo>
                  <a:pt x="1130459" y="590777"/>
                  <a:pt x="1150230" y="593977"/>
                  <a:pt x="1197864" y="603504"/>
                </a:cubicBezTo>
                <a:cubicBezTo>
                  <a:pt x="1245827" y="627485"/>
                  <a:pt x="1272040" y="642985"/>
                  <a:pt x="1325880" y="658368"/>
                </a:cubicBezTo>
                <a:cubicBezTo>
                  <a:pt x="1343707" y="663461"/>
                  <a:pt x="1362456" y="664464"/>
                  <a:pt x="1380744" y="667512"/>
                </a:cubicBezTo>
                <a:cubicBezTo>
                  <a:pt x="1482576" y="718428"/>
                  <a:pt x="1354296" y="657594"/>
                  <a:pt x="1453896" y="694944"/>
                </a:cubicBezTo>
                <a:cubicBezTo>
                  <a:pt x="1466659" y="699730"/>
                  <a:pt x="1477709" y="708446"/>
                  <a:pt x="1490472" y="713232"/>
                </a:cubicBezTo>
                <a:cubicBezTo>
                  <a:pt x="1520680" y="724560"/>
                  <a:pt x="1573646" y="728201"/>
                  <a:pt x="1600200" y="731520"/>
                </a:cubicBezTo>
                <a:cubicBezTo>
                  <a:pt x="1691873" y="768189"/>
                  <a:pt x="1603746" y="735327"/>
                  <a:pt x="1682496" y="758952"/>
                </a:cubicBezTo>
                <a:cubicBezTo>
                  <a:pt x="1700960" y="764491"/>
                  <a:pt x="1718457" y="773459"/>
                  <a:pt x="1737360" y="777240"/>
                </a:cubicBezTo>
                <a:cubicBezTo>
                  <a:pt x="1752600" y="780288"/>
                  <a:pt x="1767908" y="783013"/>
                  <a:pt x="1783080" y="786384"/>
                </a:cubicBezTo>
                <a:cubicBezTo>
                  <a:pt x="1795348" y="789110"/>
                  <a:pt x="1807291" y="793280"/>
                  <a:pt x="1819656" y="795528"/>
                </a:cubicBezTo>
                <a:cubicBezTo>
                  <a:pt x="1840861" y="799383"/>
                  <a:pt x="1862328" y="801624"/>
                  <a:pt x="1883664" y="804672"/>
                </a:cubicBezTo>
                <a:cubicBezTo>
                  <a:pt x="1923231" y="824456"/>
                  <a:pt x="1919313" y="826506"/>
                  <a:pt x="1965960" y="832104"/>
                </a:cubicBezTo>
                <a:cubicBezTo>
                  <a:pt x="2026788" y="839403"/>
                  <a:pt x="2148840" y="850392"/>
                  <a:pt x="2148840" y="850392"/>
                </a:cubicBezTo>
                <a:cubicBezTo>
                  <a:pt x="2220213" y="874183"/>
                  <a:pt x="2114195" y="840661"/>
                  <a:pt x="2240280" y="868680"/>
                </a:cubicBezTo>
                <a:cubicBezTo>
                  <a:pt x="2274205" y="876219"/>
                  <a:pt x="2307149" y="887683"/>
                  <a:pt x="2340864" y="896112"/>
                </a:cubicBezTo>
                <a:cubicBezTo>
                  <a:pt x="2380092" y="905919"/>
                  <a:pt x="2400686" y="906248"/>
                  <a:pt x="2441448" y="914400"/>
                </a:cubicBezTo>
                <a:cubicBezTo>
                  <a:pt x="2453771" y="916865"/>
                  <a:pt x="2465628" y="921478"/>
                  <a:pt x="2478024" y="923544"/>
                </a:cubicBezTo>
                <a:cubicBezTo>
                  <a:pt x="2520543" y="930630"/>
                  <a:pt x="2564222" y="931377"/>
                  <a:pt x="2606040" y="941832"/>
                </a:cubicBezTo>
                <a:cubicBezTo>
                  <a:pt x="2618232" y="944880"/>
                  <a:pt x="2630532" y="947524"/>
                  <a:pt x="2642616" y="950976"/>
                </a:cubicBezTo>
                <a:cubicBezTo>
                  <a:pt x="2651884" y="953624"/>
                  <a:pt x="2660639" y="958029"/>
                  <a:pt x="2670048" y="960120"/>
                </a:cubicBezTo>
                <a:cubicBezTo>
                  <a:pt x="2709320" y="968847"/>
                  <a:pt x="2759308" y="972871"/>
                  <a:pt x="2798064" y="978408"/>
                </a:cubicBezTo>
                <a:cubicBezTo>
                  <a:pt x="2982639" y="1004776"/>
                  <a:pt x="2694737" y="967778"/>
                  <a:pt x="2926080" y="996696"/>
                </a:cubicBezTo>
                <a:cubicBezTo>
                  <a:pt x="2944368" y="1002792"/>
                  <a:pt x="2962346" y="1009912"/>
                  <a:pt x="2980944" y="1014984"/>
                </a:cubicBezTo>
                <a:cubicBezTo>
                  <a:pt x="2995938" y="1019073"/>
                  <a:pt x="3011142" y="1023352"/>
                  <a:pt x="3026664" y="1024128"/>
                </a:cubicBezTo>
                <a:cubicBezTo>
                  <a:pt x="3194206" y="1032505"/>
                  <a:pt x="3361944" y="1036320"/>
                  <a:pt x="3529584" y="1042416"/>
                </a:cubicBezTo>
                <a:cubicBezTo>
                  <a:pt x="3566160" y="1051560"/>
                  <a:pt x="3601694" y="1067340"/>
                  <a:pt x="3639312" y="1069848"/>
                </a:cubicBezTo>
                <a:cubicBezTo>
                  <a:pt x="4012559" y="1094731"/>
                  <a:pt x="3470189" y="1059718"/>
                  <a:pt x="3995928" y="1088136"/>
                </a:cubicBezTo>
                <a:cubicBezTo>
                  <a:pt x="4035611" y="1090281"/>
                  <a:pt x="4075176" y="1094232"/>
                  <a:pt x="4114800" y="1097280"/>
                </a:cubicBezTo>
                <a:cubicBezTo>
                  <a:pt x="4166616" y="1094232"/>
                  <a:pt x="4322154" y="1088136"/>
                  <a:pt x="4270248" y="1088136"/>
                </a:cubicBezTo>
                <a:cubicBezTo>
                  <a:pt x="4190941" y="1088136"/>
                  <a:pt x="4111674" y="1092623"/>
                  <a:pt x="4032504" y="1097280"/>
                </a:cubicBezTo>
                <a:cubicBezTo>
                  <a:pt x="4007973" y="1098723"/>
                  <a:pt x="3983917" y="1105778"/>
                  <a:pt x="3959352" y="1106424"/>
                </a:cubicBezTo>
                <a:cubicBezTo>
                  <a:pt x="3752137" y="1111877"/>
                  <a:pt x="3544824" y="1112520"/>
                  <a:pt x="3337560" y="1115568"/>
                </a:cubicBezTo>
                <a:cubicBezTo>
                  <a:pt x="3058229" y="1227300"/>
                  <a:pt x="3331613" y="1124712"/>
                  <a:pt x="2542032" y="1124712"/>
                </a:cubicBezTo>
                <a:cubicBezTo>
                  <a:pt x="2456634" y="1124712"/>
                  <a:pt x="2371344" y="1130808"/>
                  <a:pt x="2286000" y="1133856"/>
                </a:cubicBezTo>
                <a:cubicBezTo>
                  <a:pt x="2270760" y="1136904"/>
                  <a:pt x="2255452" y="1139629"/>
                  <a:pt x="2240280" y="1143000"/>
                </a:cubicBezTo>
                <a:cubicBezTo>
                  <a:pt x="2228012" y="1145726"/>
                  <a:pt x="2216271" y="1152144"/>
                  <a:pt x="2203704" y="1152144"/>
                </a:cubicBezTo>
                <a:cubicBezTo>
                  <a:pt x="1947654" y="1152144"/>
                  <a:pt x="1691640" y="1146048"/>
                  <a:pt x="1435608" y="1143000"/>
                </a:cubicBezTo>
                <a:cubicBezTo>
                  <a:pt x="1405128" y="1139952"/>
                  <a:pt x="1374461" y="1138400"/>
                  <a:pt x="1344168" y="1133856"/>
                </a:cubicBezTo>
                <a:cubicBezTo>
                  <a:pt x="1313428" y="1129245"/>
                  <a:pt x="1283499" y="1119964"/>
                  <a:pt x="1252728" y="1115568"/>
                </a:cubicBezTo>
                <a:lnTo>
                  <a:pt x="1188720" y="1106424"/>
                </a:lnTo>
                <a:cubicBezTo>
                  <a:pt x="1176528" y="1100328"/>
                  <a:pt x="1165775" y="1088136"/>
                  <a:pt x="1152144" y="1088136"/>
                </a:cubicBezTo>
                <a:cubicBezTo>
                  <a:pt x="572149" y="1088136"/>
                  <a:pt x="716240" y="1057666"/>
                  <a:pt x="448056" y="1124712"/>
                </a:cubicBezTo>
                <a:cubicBezTo>
                  <a:pt x="316992" y="1118616"/>
                  <a:pt x="184440" y="1127038"/>
                  <a:pt x="54864" y="1106424"/>
                </a:cubicBezTo>
                <a:cubicBezTo>
                  <a:pt x="39515" y="1103982"/>
                  <a:pt x="45145" y="1076235"/>
                  <a:pt x="45720" y="1060704"/>
                </a:cubicBezTo>
                <a:cubicBezTo>
                  <a:pt x="48212" y="993418"/>
                  <a:pt x="56959" y="926499"/>
                  <a:pt x="64008" y="859536"/>
                </a:cubicBezTo>
                <a:cubicBezTo>
                  <a:pt x="72393" y="779883"/>
                  <a:pt x="80861" y="723279"/>
                  <a:pt x="91440" y="649224"/>
                </a:cubicBezTo>
                <a:cubicBezTo>
                  <a:pt x="88392" y="573024"/>
                  <a:pt x="87369" y="496716"/>
                  <a:pt x="82296" y="420624"/>
                </a:cubicBezTo>
                <a:cubicBezTo>
                  <a:pt x="81262" y="405117"/>
                  <a:pt x="76921" y="389982"/>
                  <a:pt x="73152" y="374904"/>
                </a:cubicBezTo>
                <a:cubicBezTo>
                  <a:pt x="68374" y="355791"/>
                  <a:pt x="51314" y="315736"/>
                  <a:pt x="45720" y="301752"/>
                </a:cubicBezTo>
                <a:cubicBezTo>
                  <a:pt x="56082" y="94518"/>
                  <a:pt x="54864" y="179908"/>
                  <a:pt x="54864" y="45720"/>
                </a:cubicBezTo>
              </a:path>
            </a:pathLst>
          </a:custGeom>
          <a:pattFill prst="diagBrick">
            <a:fgClr>
              <a:schemeClr val="bg1">
                <a:lumMod val="75000"/>
              </a:schemeClr>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mj-lt"/>
            </a:endParaRPr>
          </a:p>
        </p:txBody>
      </p:sp>
      <p:grpSp>
        <p:nvGrpSpPr>
          <p:cNvPr id="27" name="Group 26">
            <a:extLst>
              <a:ext uri="{FF2B5EF4-FFF2-40B4-BE49-F238E27FC236}">
                <a16:creationId xmlns:a16="http://schemas.microsoft.com/office/drawing/2014/main" id="{EFA6B2B5-5BD3-D406-641D-C7F8CDCFBD41}"/>
              </a:ext>
            </a:extLst>
          </p:cNvPr>
          <p:cNvGrpSpPr/>
          <p:nvPr/>
        </p:nvGrpSpPr>
        <p:grpSpPr>
          <a:xfrm>
            <a:off x="6619313" y="3455948"/>
            <a:ext cx="3812651" cy="1169647"/>
            <a:chOff x="6963373" y="3429353"/>
            <a:chExt cx="3812651" cy="1169647"/>
          </a:xfrm>
        </p:grpSpPr>
        <p:sp>
          <p:nvSpPr>
            <p:cNvPr id="15" name="TextBox 14">
              <a:extLst>
                <a:ext uri="{FF2B5EF4-FFF2-40B4-BE49-F238E27FC236}">
                  <a16:creationId xmlns:a16="http://schemas.microsoft.com/office/drawing/2014/main" id="{F3EDF932-4955-E4CA-CCF8-C6EDD24BEBF9}"/>
                </a:ext>
              </a:extLst>
            </p:cNvPr>
            <p:cNvSpPr txBox="1"/>
            <p:nvPr/>
          </p:nvSpPr>
          <p:spPr>
            <a:xfrm>
              <a:off x="8700712" y="3429353"/>
              <a:ext cx="2075312" cy="1077218"/>
            </a:xfrm>
            <a:prstGeom prst="rect">
              <a:avLst/>
            </a:prstGeom>
            <a:noFill/>
          </p:spPr>
          <p:txBody>
            <a:bodyPr wrap="none" rtlCol="0">
              <a:spAutoFit/>
            </a:bodyPr>
            <a:lstStyle>
              <a:defPPr>
                <a:defRPr lang="en-US"/>
              </a:defPPr>
              <a:lvl1pPr>
                <a:defRPr sz="2400" i="0">
                  <a:latin typeface="Times New Roman" panose="02020603050405020304" pitchFamily="18" charset="0"/>
                  <a:cs typeface="Times New Roman" panose="02020603050405020304" pitchFamily="18" charset="0"/>
                </a:defRPr>
              </a:lvl1pPr>
            </a:lstStyle>
            <a:p>
              <a:r>
                <a:rPr lang="en-US" sz="1800" dirty="0">
                  <a:latin typeface="+mj-lt"/>
                </a:rPr>
                <a:t>Extremism Level </a:t>
              </a:r>
            </a:p>
            <a:p>
              <a:r>
                <a:rPr lang="en-US" sz="1400" dirty="0">
                  <a:latin typeface="+mj-lt"/>
                </a:rPr>
                <a:t>(% of population)</a:t>
              </a:r>
            </a:p>
            <a:p>
              <a:r>
                <a:rPr lang="en-US" sz="1800" dirty="0">
                  <a:latin typeface="+mj-lt"/>
                </a:rPr>
                <a:t>Extremism Intensity </a:t>
              </a:r>
            </a:p>
            <a:p>
              <a:r>
                <a:rPr lang="en-US" sz="1400" dirty="0">
                  <a:latin typeface="+mj-lt"/>
                </a:rPr>
                <a:t>(Mean score)</a:t>
              </a:r>
            </a:p>
          </p:txBody>
        </p:sp>
        <p:cxnSp>
          <p:nvCxnSpPr>
            <p:cNvPr id="17" name="Straight Arrow Connector 16">
              <a:extLst>
                <a:ext uri="{FF2B5EF4-FFF2-40B4-BE49-F238E27FC236}">
                  <a16:creationId xmlns:a16="http://schemas.microsoft.com/office/drawing/2014/main" id="{D5FE167C-0ED7-410C-95F2-818D71D69A26}"/>
                </a:ext>
              </a:extLst>
            </p:cNvPr>
            <p:cNvCxnSpPr>
              <a:cxnSpLocks/>
              <a:stCxn id="15" idx="1"/>
            </p:cNvCxnSpPr>
            <p:nvPr/>
          </p:nvCxnSpPr>
          <p:spPr>
            <a:xfrm flipH="1">
              <a:off x="6963373" y="3967962"/>
              <a:ext cx="1737339" cy="63103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2976572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802A1-1761-1933-6F8F-7B6F3E3C6ABC}"/>
              </a:ext>
            </a:extLst>
          </p:cNvPr>
          <p:cNvSpPr>
            <a:spLocks noGrp="1"/>
          </p:cNvSpPr>
          <p:nvPr>
            <p:ph type="title"/>
          </p:nvPr>
        </p:nvSpPr>
        <p:spPr/>
        <p:txBody>
          <a:bodyPr/>
          <a:lstStyle/>
          <a:p>
            <a:r>
              <a:rPr lang="en-US" dirty="0"/>
              <a:t>Extremism Levels and Extremism Ranks</a:t>
            </a:r>
            <a:br>
              <a:rPr lang="en-US" b="0" dirty="0"/>
            </a:br>
            <a:endParaRPr lang="en-US" b="0" dirty="0"/>
          </a:p>
        </p:txBody>
      </p:sp>
      <p:sp>
        <p:nvSpPr>
          <p:cNvPr id="4" name="Slide Number Placeholder 3">
            <a:extLst>
              <a:ext uri="{FF2B5EF4-FFF2-40B4-BE49-F238E27FC236}">
                <a16:creationId xmlns:a16="http://schemas.microsoft.com/office/drawing/2014/main" id="{B0AAB797-6271-7B45-2C51-BC35279A8059}"/>
              </a:ext>
            </a:extLst>
          </p:cNvPr>
          <p:cNvSpPr>
            <a:spLocks noGrp="1"/>
          </p:cNvSpPr>
          <p:nvPr>
            <p:ph type="sldNum" sz="quarter" idx="12"/>
          </p:nvPr>
        </p:nvSpPr>
        <p:spPr/>
        <p:txBody>
          <a:bodyPr/>
          <a:lstStyle/>
          <a:p>
            <a:fld id="{704D49E2-C640-4137-BB2F-153E894575C6}" type="slidenum">
              <a:rPr lang="en-US" smtClean="0"/>
              <a:t>21</a:t>
            </a:fld>
            <a:endParaRPr lang="en-US" dirty="0"/>
          </a:p>
        </p:txBody>
      </p:sp>
      <p:pic>
        <p:nvPicPr>
          <p:cNvPr id="1028" name="Picture 4">
            <a:extLst>
              <a:ext uri="{FF2B5EF4-FFF2-40B4-BE49-F238E27FC236}">
                <a16:creationId xmlns:a16="http://schemas.microsoft.com/office/drawing/2014/main" id="{1A7D88C7-F5EA-8360-901A-2335E57AB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6372" y="620668"/>
            <a:ext cx="8283987" cy="331359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5980AB50-9641-0E9C-CD3C-7B565D83EA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372" y="3429000"/>
            <a:ext cx="7759256" cy="31037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6562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500"/>
                                        <p:tgtEl>
                                          <p:spTgt spid="1028"/>
                                        </p:tgtEl>
                                      </p:cBhvr>
                                    </p:animEffect>
                                  </p:childTnLst>
                                </p:cTn>
                              </p:par>
                              <p:par>
                                <p:cTn id="8" presetID="10" presetClass="entr" presetSubtype="0"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fade">
                                      <p:cBhvr>
                                        <p:cTn id="10"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14377-E1AB-D43E-6969-0FD06082C985}"/>
              </a:ext>
            </a:extLst>
          </p:cNvPr>
          <p:cNvSpPr>
            <a:spLocks noGrp="1"/>
          </p:cNvSpPr>
          <p:nvPr>
            <p:ph type="title"/>
          </p:nvPr>
        </p:nvSpPr>
        <p:spPr/>
        <p:txBody>
          <a:bodyPr/>
          <a:lstStyle/>
          <a:p>
            <a:r>
              <a:rPr lang="en-US" dirty="0"/>
              <a:t>A Trick of the Tail</a:t>
            </a:r>
          </a:p>
        </p:txBody>
      </p:sp>
      <p:sp>
        <p:nvSpPr>
          <p:cNvPr id="5" name="Content Placeholder 4">
            <a:extLst>
              <a:ext uri="{FF2B5EF4-FFF2-40B4-BE49-F238E27FC236}">
                <a16:creationId xmlns:a16="http://schemas.microsoft.com/office/drawing/2014/main" id="{B49D5FCC-BACE-49B6-240F-CA6C75E930A0}"/>
              </a:ext>
            </a:extLst>
          </p:cNvPr>
          <p:cNvSpPr>
            <a:spLocks noGrp="1"/>
          </p:cNvSpPr>
          <p:nvPr>
            <p:ph idx="1"/>
          </p:nvPr>
        </p:nvSpPr>
        <p:spPr>
          <a:xfrm>
            <a:off x="838199" y="849744"/>
            <a:ext cx="6777825" cy="5541819"/>
          </a:xfrm>
        </p:spPr>
        <p:txBody>
          <a:bodyPr>
            <a:normAutofit fontScale="92500" lnSpcReduction="10000"/>
          </a:bodyPr>
          <a:lstStyle/>
          <a:p>
            <a:r>
              <a:rPr lang="en-US" dirty="0"/>
              <a:t>Identifying the extremist part of the distribution tail of political extremism.</a:t>
            </a:r>
          </a:p>
          <a:p>
            <a:pPr lvl="1"/>
            <a:r>
              <a:rPr lang="en-US" dirty="0"/>
              <a:t>Include enough samples for statistical analysis </a:t>
            </a:r>
          </a:p>
          <a:p>
            <a:pPr lvl="1"/>
            <a:r>
              <a:rPr lang="en-US" dirty="0"/>
              <a:t>Have enough resolution (number of unique values) to differentiate the samples’ levels of extremism. </a:t>
            </a:r>
          </a:p>
          <a:p>
            <a:r>
              <a:rPr lang="en-US" dirty="0"/>
              <a:t>Compare three methods: </a:t>
            </a:r>
          </a:p>
          <a:p>
            <a:pPr lvl="1"/>
            <a:r>
              <a:rPr lang="en-US" dirty="0"/>
              <a:t>Median + MAD (Median Absolute Deviation)</a:t>
            </a:r>
          </a:p>
          <a:p>
            <a:pPr lvl="1"/>
            <a:r>
              <a:rPr lang="en-US" dirty="0"/>
              <a:t>Quantile</a:t>
            </a:r>
          </a:p>
          <a:p>
            <a:pPr lvl="1"/>
            <a:r>
              <a:rPr lang="en-US" dirty="0"/>
              <a:t>Composite Z-Score (number of standard deviations from the mean)</a:t>
            </a:r>
          </a:p>
          <a:p>
            <a:r>
              <a:rPr lang="en-US" dirty="0"/>
              <a:t>We selected the Median + Mad Approach</a:t>
            </a:r>
          </a:p>
          <a:p>
            <a:pPr lvl="1"/>
            <a:r>
              <a:rPr lang="en-US" dirty="0"/>
              <a:t>Robust to outliers (uses the median instead of the mean)</a:t>
            </a:r>
          </a:p>
          <a:p>
            <a:pPr lvl="1"/>
            <a:r>
              <a:rPr lang="en-US" dirty="0"/>
              <a:t>Accounts for the spread of the data</a:t>
            </a:r>
          </a:p>
          <a:p>
            <a:pPr lvl="1"/>
            <a:r>
              <a:rPr lang="en-US" dirty="0"/>
              <a:t>Works well for non-normal distributions</a:t>
            </a:r>
          </a:p>
          <a:p>
            <a:pPr lvl="1"/>
            <a:r>
              <a:rPr lang="en-US" dirty="0"/>
              <a:t>Quantile approach doesn’t account for the shape of the distribution and may include non-extreme values in heavily skewed distributions</a:t>
            </a:r>
          </a:p>
          <a:p>
            <a:pPr lvl="1"/>
            <a:r>
              <a:rPr lang="en-US" dirty="0"/>
              <a:t>Composite Z-Score assumes normality and can be influenced by extreme outliers</a:t>
            </a:r>
          </a:p>
          <a:p>
            <a:pPr lvl="1"/>
            <a:endParaRPr lang="en-US" dirty="0"/>
          </a:p>
          <a:p>
            <a:pPr lvl="1"/>
            <a:endParaRPr lang="en-US" dirty="0"/>
          </a:p>
          <a:p>
            <a:pPr lvl="1"/>
            <a:endParaRPr lang="en-US" dirty="0"/>
          </a:p>
        </p:txBody>
      </p:sp>
      <p:sp>
        <p:nvSpPr>
          <p:cNvPr id="4" name="Slide Number Placeholder 3">
            <a:extLst>
              <a:ext uri="{FF2B5EF4-FFF2-40B4-BE49-F238E27FC236}">
                <a16:creationId xmlns:a16="http://schemas.microsoft.com/office/drawing/2014/main" id="{F967FDBD-C812-29B7-57FC-FBFD2CF4B817}"/>
              </a:ext>
            </a:extLst>
          </p:cNvPr>
          <p:cNvSpPr>
            <a:spLocks noGrp="1"/>
          </p:cNvSpPr>
          <p:nvPr>
            <p:ph type="sldNum" sz="quarter" idx="12"/>
          </p:nvPr>
        </p:nvSpPr>
        <p:spPr/>
        <p:txBody>
          <a:bodyPr/>
          <a:lstStyle/>
          <a:p>
            <a:fld id="{704D49E2-C640-4137-BB2F-153E894575C6}" type="slidenum">
              <a:rPr lang="en-US" smtClean="0"/>
              <a:t>22</a:t>
            </a:fld>
            <a:endParaRPr lang="en-US" dirty="0"/>
          </a:p>
        </p:txBody>
      </p:sp>
      <p:grpSp>
        <p:nvGrpSpPr>
          <p:cNvPr id="12" name="Group 11">
            <a:extLst>
              <a:ext uri="{FF2B5EF4-FFF2-40B4-BE49-F238E27FC236}">
                <a16:creationId xmlns:a16="http://schemas.microsoft.com/office/drawing/2014/main" id="{936D1725-4175-D64A-54C3-AC56A0B5131B}"/>
              </a:ext>
            </a:extLst>
          </p:cNvPr>
          <p:cNvGrpSpPr/>
          <p:nvPr/>
        </p:nvGrpSpPr>
        <p:grpSpPr>
          <a:xfrm>
            <a:off x="7644621" y="947718"/>
            <a:ext cx="4319759" cy="2706532"/>
            <a:chOff x="7644620" y="587829"/>
            <a:chExt cx="4319759" cy="2877829"/>
          </a:xfrm>
        </p:grpSpPr>
        <p:pic>
          <p:nvPicPr>
            <p:cNvPr id="7" name="Picture 4">
              <a:extLst>
                <a:ext uri="{FF2B5EF4-FFF2-40B4-BE49-F238E27FC236}">
                  <a16:creationId xmlns:a16="http://schemas.microsoft.com/office/drawing/2014/main" id="{9447F1A1-5444-03E6-5690-B37FC06EB3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44620" y="587829"/>
              <a:ext cx="4319759" cy="284117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127A0A1-AD35-0A09-EACD-B6E083C27F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612" r="10561" b="24707"/>
            <a:stretch>
              <a:fillRect/>
            </a:stretch>
          </p:blipFill>
          <p:spPr bwMode="auto">
            <a:xfrm>
              <a:off x="7794169" y="3262222"/>
              <a:ext cx="4072236" cy="20343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 name="Group 12">
            <a:extLst>
              <a:ext uri="{FF2B5EF4-FFF2-40B4-BE49-F238E27FC236}">
                <a16:creationId xmlns:a16="http://schemas.microsoft.com/office/drawing/2014/main" id="{8B0FCA57-208A-A873-5BDF-98787D997C4C}"/>
              </a:ext>
            </a:extLst>
          </p:cNvPr>
          <p:cNvGrpSpPr/>
          <p:nvPr/>
        </p:nvGrpSpPr>
        <p:grpSpPr>
          <a:xfrm>
            <a:off x="7616024" y="3895202"/>
            <a:ext cx="4348356" cy="2554474"/>
            <a:chOff x="7616024" y="3668514"/>
            <a:chExt cx="4348356" cy="2554474"/>
          </a:xfrm>
        </p:grpSpPr>
        <p:pic>
          <p:nvPicPr>
            <p:cNvPr id="10" name="Picture 9">
              <a:extLst>
                <a:ext uri="{FF2B5EF4-FFF2-40B4-BE49-F238E27FC236}">
                  <a16:creationId xmlns:a16="http://schemas.microsoft.com/office/drawing/2014/main" id="{562E78D9-1A91-E0EA-8719-74E78650660E}"/>
                </a:ext>
              </a:extLst>
            </p:cNvPr>
            <p:cNvPicPr>
              <a:picLocks noChangeAspect="1"/>
            </p:cNvPicPr>
            <p:nvPr/>
          </p:nvPicPr>
          <p:blipFill>
            <a:blip r:embed="rId5"/>
            <a:stretch>
              <a:fillRect/>
            </a:stretch>
          </p:blipFill>
          <p:spPr>
            <a:xfrm>
              <a:off x="7616024" y="3668514"/>
              <a:ext cx="4348356" cy="2488024"/>
            </a:xfrm>
            <a:prstGeom prst="rect">
              <a:avLst/>
            </a:prstGeom>
          </p:spPr>
        </p:pic>
        <p:pic>
          <p:nvPicPr>
            <p:cNvPr id="11" name="Picture 10">
              <a:extLst>
                <a:ext uri="{FF2B5EF4-FFF2-40B4-BE49-F238E27FC236}">
                  <a16:creationId xmlns:a16="http://schemas.microsoft.com/office/drawing/2014/main" id="{2EB95121-610D-876E-41CF-F34151741D7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0612" r="10561" b="24707"/>
            <a:stretch>
              <a:fillRect/>
            </a:stretch>
          </p:blipFill>
          <p:spPr bwMode="auto">
            <a:xfrm>
              <a:off x="7794169" y="6019552"/>
              <a:ext cx="4072236" cy="20343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983258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EF34-2DF7-7752-A4C0-8FF74194DCAB}"/>
              </a:ext>
            </a:extLst>
          </p:cNvPr>
          <p:cNvSpPr>
            <a:spLocks noGrp="1"/>
          </p:cNvSpPr>
          <p:nvPr>
            <p:ph type="title"/>
          </p:nvPr>
        </p:nvSpPr>
        <p:spPr/>
        <p:txBody>
          <a:bodyPr/>
          <a:lstStyle/>
          <a:p>
            <a:r>
              <a:rPr lang="en-US" dirty="0"/>
              <a:t>Demographics &amp; Political Extremism</a:t>
            </a:r>
          </a:p>
        </p:txBody>
      </p:sp>
      <p:sp>
        <p:nvSpPr>
          <p:cNvPr id="3" name="Slide Number Placeholder 2">
            <a:extLst>
              <a:ext uri="{FF2B5EF4-FFF2-40B4-BE49-F238E27FC236}">
                <a16:creationId xmlns:a16="http://schemas.microsoft.com/office/drawing/2014/main" id="{B8746944-328F-0A97-EFB4-F58D7B86EFAF}"/>
              </a:ext>
            </a:extLst>
          </p:cNvPr>
          <p:cNvSpPr>
            <a:spLocks noGrp="1"/>
          </p:cNvSpPr>
          <p:nvPr>
            <p:ph type="sldNum" sz="quarter" idx="12"/>
          </p:nvPr>
        </p:nvSpPr>
        <p:spPr/>
        <p:txBody>
          <a:bodyPr/>
          <a:lstStyle/>
          <a:p>
            <a:fld id="{704D49E2-C640-4137-BB2F-153E894575C6}" type="slidenum">
              <a:rPr lang="en-US" smtClean="0"/>
              <a:t>23</a:t>
            </a:fld>
            <a:endParaRPr lang="en-US" dirty="0"/>
          </a:p>
        </p:txBody>
      </p:sp>
      <p:pic>
        <p:nvPicPr>
          <p:cNvPr id="1028" name="Picture 4">
            <a:extLst>
              <a:ext uri="{FF2B5EF4-FFF2-40B4-BE49-F238E27FC236}">
                <a16:creationId xmlns:a16="http://schemas.microsoft.com/office/drawing/2014/main" id="{16DA07A6-3976-4085-02D9-A1090CFFBF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929640"/>
            <a:ext cx="7665720" cy="306628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B9672A0-6423-EFC3-5921-74D03930C2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655186"/>
            <a:ext cx="7665720" cy="3066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9448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5AEBB7-C5D1-1160-08D9-0FFB70944C5B}"/>
              </a:ext>
            </a:extLst>
          </p:cNvPr>
          <p:cNvSpPr>
            <a:spLocks noGrp="1"/>
          </p:cNvSpPr>
          <p:nvPr>
            <p:ph type="title"/>
          </p:nvPr>
        </p:nvSpPr>
        <p:spPr>
          <a:xfrm>
            <a:off x="0" y="365126"/>
            <a:ext cx="12192000" cy="394000"/>
          </a:xfrm>
        </p:spPr>
        <p:txBody>
          <a:bodyPr/>
          <a:lstStyle/>
          <a:p>
            <a:r>
              <a:rPr lang="en-US" dirty="0"/>
              <a:t>Sample Considerations</a:t>
            </a:r>
          </a:p>
        </p:txBody>
      </p:sp>
      <p:sp>
        <p:nvSpPr>
          <p:cNvPr id="5" name="Content Placeholder 4">
            <a:extLst>
              <a:ext uri="{FF2B5EF4-FFF2-40B4-BE49-F238E27FC236}">
                <a16:creationId xmlns:a16="http://schemas.microsoft.com/office/drawing/2014/main" id="{7FF2ADA2-17A5-FB7F-4A45-D6890C1ABACA}"/>
              </a:ext>
            </a:extLst>
          </p:cNvPr>
          <p:cNvSpPr>
            <a:spLocks noGrp="1"/>
          </p:cNvSpPr>
          <p:nvPr>
            <p:ph idx="1"/>
          </p:nvPr>
        </p:nvSpPr>
        <p:spPr>
          <a:xfrm>
            <a:off x="838200" y="849313"/>
            <a:ext cx="5257800" cy="5541962"/>
          </a:xfrm>
        </p:spPr>
        <p:txBody>
          <a:bodyPr/>
          <a:lstStyle/>
          <a:p>
            <a:r>
              <a:rPr lang="en-US" dirty="0"/>
              <a:t>Use Similarity Score Calculation</a:t>
            </a:r>
          </a:p>
          <a:p>
            <a:pPr lvl="1"/>
            <a:r>
              <a:rPr lang="en-US" dirty="0"/>
              <a:t>Method:  Cramér’s V with Similarity Transformation</a:t>
            </a:r>
          </a:p>
          <a:p>
            <a:pPr lvl="1"/>
            <a:r>
              <a:rPr lang="en-US" dirty="0"/>
              <a:t>Comparison variables: vote, vote2022, political orientation</a:t>
            </a:r>
          </a:p>
          <a:p>
            <a:r>
              <a:rPr lang="en-US" dirty="0"/>
              <a:t>Combine Traditional and Religious Groups</a:t>
            </a:r>
          </a:p>
          <a:p>
            <a:r>
              <a:rPr lang="en-US" dirty="0"/>
              <a:t>Combine ultra-Orthodox &amp; National ultra-Orthodox</a:t>
            </a:r>
          </a:p>
          <a:p>
            <a:pPr lvl="1"/>
            <a:r>
              <a:rPr lang="en-US" dirty="0"/>
              <a:t>National ultra-Orthodox group </a:t>
            </a:r>
          </a:p>
          <a:p>
            <a:r>
              <a:rPr lang="en-US" dirty="0"/>
              <a:t>Remove six respondents with gender = other </a:t>
            </a:r>
          </a:p>
          <a:p>
            <a:pPr lvl="1"/>
            <a:r>
              <a:rPr lang="en-US" dirty="0"/>
              <a:t>Prevent regression convergence problems </a:t>
            </a:r>
          </a:p>
        </p:txBody>
      </p:sp>
      <p:sp>
        <p:nvSpPr>
          <p:cNvPr id="3" name="Slide Number Placeholder 2">
            <a:extLst>
              <a:ext uri="{FF2B5EF4-FFF2-40B4-BE49-F238E27FC236}">
                <a16:creationId xmlns:a16="http://schemas.microsoft.com/office/drawing/2014/main" id="{10AB08CD-BE71-1D0A-762B-2D7B87F35397}"/>
              </a:ext>
            </a:extLst>
          </p:cNvPr>
          <p:cNvSpPr>
            <a:spLocks noGrp="1"/>
          </p:cNvSpPr>
          <p:nvPr>
            <p:ph type="sldNum" sz="quarter" idx="12"/>
          </p:nvPr>
        </p:nvSpPr>
        <p:spPr>
          <a:xfrm>
            <a:off x="8986982" y="6492874"/>
            <a:ext cx="2743200" cy="228601"/>
          </a:xfrm>
        </p:spPr>
        <p:txBody>
          <a:bodyPr/>
          <a:lstStyle/>
          <a:p>
            <a:fld id="{704D49E2-C640-4137-BB2F-153E894575C6}" type="slidenum">
              <a:rPr lang="en-US" smtClean="0"/>
              <a:pPr/>
              <a:t>24</a:t>
            </a:fld>
            <a:endParaRPr lang="en-US" dirty="0"/>
          </a:p>
        </p:txBody>
      </p:sp>
      <p:pic>
        <p:nvPicPr>
          <p:cNvPr id="11" name="Picture 10">
            <a:extLst>
              <a:ext uri="{FF2B5EF4-FFF2-40B4-BE49-F238E27FC236}">
                <a16:creationId xmlns:a16="http://schemas.microsoft.com/office/drawing/2014/main" id="{51B37E62-32D0-C516-232A-1BA115EFFDD2}"/>
              </a:ext>
            </a:extLst>
          </p:cNvPr>
          <p:cNvPicPr>
            <a:picLocks noChangeAspect="1"/>
          </p:cNvPicPr>
          <p:nvPr/>
        </p:nvPicPr>
        <p:blipFill>
          <a:blip r:embed="rId3"/>
          <a:stretch>
            <a:fillRect/>
          </a:stretch>
        </p:blipFill>
        <p:spPr>
          <a:xfrm>
            <a:off x="6307951" y="1386685"/>
            <a:ext cx="5648964" cy="1808357"/>
          </a:xfrm>
          <a:prstGeom prst="rect">
            <a:avLst/>
          </a:prstGeom>
        </p:spPr>
      </p:pic>
      <p:pic>
        <p:nvPicPr>
          <p:cNvPr id="16" name="Picture 15">
            <a:extLst>
              <a:ext uri="{FF2B5EF4-FFF2-40B4-BE49-F238E27FC236}">
                <a16:creationId xmlns:a16="http://schemas.microsoft.com/office/drawing/2014/main" id="{FAD148DA-21D2-F9F9-177E-80C932698D74}"/>
              </a:ext>
            </a:extLst>
          </p:cNvPr>
          <p:cNvPicPr>
            <a:picLocks noChangeAspect="1"/>
          </p:cNvPicPr>
          <p:nvPr/>
        </p:nvPicPr>
        <p:blipFill>
          <a:blip r:embed="rId4"/>
          <a:stretch>
            <a:fillRect/>
          </a:stretch>
        </p:blipFill>
        <p:spPr>
          <a:xfrm>
            <a:off x="6307952" y="3453114"/>
            <a:ext cx="5648964" cy="2411546"/>
          </a:xfrm>
          <a:prstGeom prst="rect">
            <a:avLst/>
          </a:prstGeom>
        </p:spPr>
      </p:pic>
    </p:spTree>
    <p:extLst>
      <p:ext uri="{BB962C8B-B14F-4D97-AF65-F5344CB8AC3E}">
        <p14:creationId xmlns:p14="http://schemas.microsoft.com/office/powerpoint/2010/main" val="2851508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C3B8482-600F-54F4-C222-67F2051330B0}"/>
              </a:ext>
            </a:extLst>
          </p:cNvPr>
          <p:cNvSpPr>
            <a:spLocks noGrp="1"/>
          </p:cNvSpPr>
          <p:nvPr>
            <p:ph type="title"/>
          </p:nvPr>
        </p:nvSpPr>
        <p:spPr/>
        <p:txBody>
          <a:bodyPr/>
          <a:lstStyle/>
          <a:p>
            <a:r>
              <a:rPr lang="en-US" dirty="0"/>
              <a:t>Risk Analysis &amp; Mitigation</a:t>
            </a:r>
          </a:p>
        </p:txBody>
      </p:sp>
      <p:sp>
        <p:nvSpPr>
          <p:cNvPr id="4" name="Slide Number Placeholder 3">
            <a:extLst>
              <a:ext uri="{FF2B5EF4-FFF2-40B4-BE49-F238E27FC236}">
                <a16:creationId xmlns:a16="http://schemas.microsoft.com/office/drawing/2014/main" id="{932E7FAF-27DE-6D80-415A-4E2C2A8D3BC2}"/>
              </a:ext>
            </a:extLst>
          </p:cNvPr>
          <p:cNvSpPr>
            <a:spLocks noGrp="1"/>
          </p:cNvSpPr>
          <p:nvPr>
            <p:ph type="sldNum" sz="quarter" idx="12"/>
          </p:nvPr>
        </p:nvSpPr>
        <p:spPr/>
        <p:txBody>
          <a:bodyPr/>
          <a:lstStyle/>
          <a:p>
            <a:fld id="{704D49E2-C640-4137-BB2F-153E894575C6}" type="slidenum">
              <a:rPr lang="en-US" smtClean="0"/>
              <a:t>25</a:t>
            </a:fld>
            <a:endParaRPr lang="en-US" dirty="0"/>
          </a:p>
        </p:txBody>
      </p:sp>
      <p:graphicFrame>
        <p:nvGraphicFramePr>
          <p:cNvPr id="6" name="Table 5">
            <a:extLst>
              <a:ext uri="{FF2B5EF4-FFF2-40B4-BE49-F238E27FC236}">
                <a16:creationId xmlns:a16="http://schemas.microsoft.com/office/drawing/2014/main" id="{62C2BD2E-1BDA-CA5E-3587-0C08E86EEA5C}"/>
              </a:ext>
            </a:extLst>
          </p:cNvPr>
          <p:cNvGraphicFramePr>
            <a:graphicFrameLocks noGrp="1"/>
          </p:cNvGraphicFramePr>
          <p:nvPr/>
        </p:nvGraphicFramePr>
        <p:xfrm>
          <a:off x="838200" y="906478"/>
          <a:ext cx="10891982" cy="4989306"/>
        </p:xfrm>
        <a:graphic>
          <a:graphicData uri="http://schemas.openxmlformats.org/drawingml/2006/table">
            <a:tbl>
              <a:tblPr firstRow="1" bandRow="1">
                <a:tableStyleId>{7E9639D4-E3E2-4D34-9284-5A2195B3D0D7}</a:tableStyleId>
              </a:tblPr>
              <a:tblGrid>
                <a:gridCol w="5867400">
                  <a:extLst>
                    <a:ext uri="{9D8B030D-6E8A-4147-A177-3AD203B41FA5}">
                      <a16:colId xmlns:a16="http://schemas.microsoft.com/office/drawing/2014/main" val="2413027177"/>
                    </a:ext>
                  </a:extLst>
                </a:gridCol>
                <a:gridCol w="5024582">
                  <a:extLst>
                    <a:ext uri="{9D8B030D-6E8A-4147-A177-3AD203B41FA5}">
                      <a16:colId xmlns:a16="http://schemas.microsoft.com/office/drawing/2014/main" val="4027803728"/>
                    </a:ext>
                  </a:extLst>
                </a:gridCol>
              </a:tblGrid>
              <a:tr h="351410">
                <a:tc>
                  <a:txBody>
                    <a:bodyPr/>
                    <a:lstStyle/>
                    <a:p>
                      <a:r>
                        <a:rPr lang="en-US" b="1" dirty="0"/>
                        <a:t>Research Risks</a:t>
                      </a:r>
                      <a:endParaRPr lang="en-US" dirty="0"/>
                    </a:p>
                  </a:txBody>
                  <a:tcPr anchor="ctr">
                    <a:solidFill>
                      <a:schemeClr val="bg2">
                        <a:lumMod val="75000"/>
                      </a:schemeClr>
                    </a:solidFill>
                  </a:tcPr>
                </a:tc>
                <a:tc>
                  <a:txBody>
                    <a:bodyPr/>
                    <a:lstStyle/>
                    <a:p>
                      <a:r>
                        <a:rPr lang="en-US" b="1" dirty="0"/>
                        <a:t>Mitigation</a:t>
                      </a:r>
                      <a:endParaRPr lang="en-US" dirty="0"/>
                    </a:p>
                  </a:txBody>
                  <a:tcPr anchor="ctr">
                    <a:solidFill>
                      <a:schemeClr val="bg2">
                        <a:lumMod val="75000"/>
                      </a:schemeClr>
                    </a:solidFill>
                  </a:tcPr>
                </a:tc>
                <a:extLst>
                  <a:ext uri="{0D108BD9-81ED-4DB2-BD59-A6C34878D82A}">
                    <a16:rowId xmlns:a16="http://schemas.microsoft.com/office/drawing/2014/main" val="3853369160"/>
                  </a:ext>
                </a:extLst>
              </a:tr>
              <a:tr h="809718">
                <a:tc>
                  <a:txBody>
                    <a:bodyPr/>
                    <a:lstStyle/>
                    <a:p>
                      <a:r>
                        <a:rPr lang="en-US" sz="1600" b="0" dirty="0"/>
                        <a:t>Selecting the ‘elephant trail’ while making a ‘big’ claim</a:t>
                      </a:r>
                    </a:p>
                    <a:p>
                      <a:pPr marL="285750" indent="-285750">
                        <a:buFont typeface="Wingdings" panose="05000000000000000000" pitchFamily="2" charset="2"/>
                        <a:buChar char="Ø"/>
                      </a:pPr>
                      <a:r>
                        <a:rPr lang="en-US" sz="1600" b="0" dirty="0"/>
                        <a:t>Specific cases might require adaptation</a:t>
                      </a:r>
                    </a:p>
                    <a:p>
                      <a:pPr marL="285750" indent="-285750">
                        <a:buFont typeface="Wingdings" panose="05000000000000000000" pitchFamily="2" charset="2"/>
                        <a:buChar char="Ø"/>
                      </a:pPr>
                      <a:r>
                        <a:rPr lang="en-US" sz="1600" b="0" dirty="0"/>
                        <a:t>Opposition from reviewers</a:t>
                      </a:r>
                    </a:p>
                  </a:txBody>
                  <a:tcPr/>
                </a:tc>
                <a:tc>
                  <a:txBody>
                    <a:bodyPr/>
                    <a:lstStyle/>
                    <a:p>
                      <a:pPr marL="285750" indent="-285750">
                        <a:buFont typeface="Wingdings" panose="05000000000000000000" pitchFamily="2" charset="2"/>
                        <a:buChar char="ü"/>
                      </a:pPr>
                      <a:r>
                        <a:rPr lang="en-US" sz="1600" dirty="0"/>
                        <a:t>Reviews, reviews, reviews …</a:t>
                      </a:r>
                    </a:p>
                    <a:p>
                      <a:pPr marL="285750" indent="-285750">
                        <a:buFont typeface="Wingdings" panose="05000000000000000000" pitchFamily="2" charset="2"/>
                        <a:buChar char="ü"/>
                      </a:pPr>
                      <a:r>
                        <a:rPr lang="en-US" sz="1600" dirty="0"/>
                        <a:t>Start with very focused </a:t>
                      </a:r>
                      <a:r>
                        <a:rPr lang="en-US" sz="1600"/>
                        <a:t>research questions</a:t>
                      </a:r>
                      <a:endParaRPr lang="en-US" sz="1600" dirty="0"/>
                    </a:p>
                  </a:txBody>
                  <a:tcPr/>
                </a:tc>
                <a:extLst>
                  <a:ext uri="{0D108BD9-81ED-4DB2-BD59-A6C34878D82A}">
                    <a16:rowId xmlns:a16="http://schemas.microsoft.com/office/drawing/2014/main" val="4090005937"/>
                  </a:ext>
                </a:extLst>
              </a:tr>
              <a:tr h="566804">
                <a:tc>
                  <a:txBody>
                    <a:bodyPr/>
                    <a:lstStyle/>
                    <a:p>
                      <a:r>
                        <a:rPr lang="en-US" sz="1600" b="0" dirty="0"/>
                        <a:t>New Conceptualization &amp; Operationalization</a:t>
                      </a:r>
                    </a:p>
                  </a:txBody>
                  <a:tcPr/>
                </a:tc>
                <a:tc>
                  <a:txBody>
                    <a:bodyPr/>
                    <a:lstStyle/>
                    <a:p>
                      <a:pPr marL="285750" indent="-285750">
                        <a:buFont typeface="Wingdings" panose="05000000000000000000" pitchFamily="2" charset="2"/>
                        <a:buChar char="ü"/>
                      </a:pPr>
                      <a:r>
                        <a:rPr lang="en-US" sz="1600" dirty="0"/>
                        <a:t>Already developed</a:t>
                      </a:r>
                    </a:p>
                    <a:p>
                      <a:pPr marL="285750" indent="-285750">
                        <a:buFont typeface="Wingdings" panose="05000000000000000000" pitchFamily="2" charset="2"/>
                        <a:buChar char="ü"/>
                      </a:pPr>
                      <a:r>
                        <a:rPr lang="en-US" sz="1600" dirty="0"/>
                        <a:t>Preliminary research shows promising results</a:t>
                      </a:r>
                    </a:p>
                  </a:txBody>
                  <a:tcPr/>
                </a:tc>
                <a:extLst>
                  <a:ext uri="{0D108BD9-81ED-4DB2-BD59-A6C34878D82A}">
                    <a16:rowId xmlns:a16="http://schemas.microsoft.com/office/drawing/2014/main" val="675104191"/>
                  </a:ext>
                </a:extLst>
              </a:tr>
              <a:tr h="790673">
                <a:tc>
                  <a:txBody>
                    <a:bodyPr/>
                    <a:lstStyle/>
                    <a:p>
                      <a:r>
                        <a:rPr lang="en-US" sz="1600" b="0" dirty="0"/>
                        <a:t>Research: Global Survey Comparative Research</a:t>
                      </a:r>
                    </a:p>
                    <a:p>
                      <a:pPr marL="285750" indent="-285750">
                        <a:buFont typeface="Wingdings" panose="05000000000000000000" pitchFamily="2" charset="2"/>
                        <a:buChar char="Ø"/>
                      </a:pPr>
                      <a:r>
                        <a:rPr lang="en-US" sz="1600" b="0" dirty="0"/>
                        <a:t>No significant differences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sz="1600" dirty="0"/>
                        <a:t>Using additional dimensions to analyze the data promises more nuanced results and potential new insights</a:t>
                      </a:r>
                    </a:p>
                  </a:txBody>
                  <a:tcPr/>
                </a:tc>
                <a:extLst>
                  <a:ext uri="{0D108BD9-81ED-4DB2-BD59-A6C34878D82A}">
                    <a16:rowId xmlns:a16="http://schemas.microsoft.com/office/drawing/2014/main" val="1014243033"/>
                  </a:ext>
                </a:extLst>
              </a:tr>
              <a:tr h="323888">
                <a:tc>
                  <a:txBody>
                    <a:bodyPr/>
                    <a:lstStyle/>
                    <a:p>
                      <a:r>
                        <a:rPr lang="en-US" sz="1600" b="0" dirty="0"/>
                        <a:t>Research: Destabilizing Events and Political Extremism</a:t>
                      </a:r>
                    </a:p>
                  </a:txBody>
                  <a:tcPr/>
                </a:tc>
                <a:tc>
                  <a:txBody>
                    <a:bodyPr/>
                    <a:lstStyle/>
                    <a:p>
                      <a:pPr marL="285750" indent="-285750">
                        <a:buFont typeface="Wingdings" panose="05000000000000000000" pitchFamily="2" charset="2"/>
                        <a:buChar char="ü"/>
                      </a:pPr>
                      <a:r>
                        <a:rPr lang="en-US" sz="1600" dirty="0"/>
                        <a:t>Preliminary research showed promising results</a:t>
                      </a:r>
                    </a:p>
                  </a:txBody>
                  <a:tcPr/>
                </a:tc>
                <a:extLst>
                  <a:ext uri="{0D108BD9-81ED-4DB2-BD59-A6C34878D82A}">
                    <a16:rowId xmlns:a16="http://schemas.microsoft.com/office/drawing/2014/main" val="2282033727"/>
                  </a:ext>
                </a:extLst>
              </a:tr>
              <a:tr h="1083571">
                <a:tc>
                  <a:txBody>
                    <a:bodyPr/>
                    <a:lstStyle/>
                    <a:p>
                      <a:r>
                        <a:rPr lang="en-US" sz="1600" b="0" dirty="0"/>
                        <a:t>Research: Threat Perceptions and Political Extremism</a:t>
                      </a:r>
                    </a:p>
                    <a:p>
                      <a:pPr marL="285750" indent="-285750">
                        <a:buFont typeface="Wingdings" panose="05000000000000000000" pitchFamily="2" charset="2"/>
                        <a:buChar char="Ø"/>
                      </a:pPr>
                      <a:r>
                        <a:rPr lang="en-US" sz="1600" dirty="0"/>
                        <a:t>Treatment effectiveness considering the daily threatening environment in Israel</a:t>
                      </a:r>
                    </a:p>
                    <a:p>
                      <a:pPr marL="285750" indent="-285750">
                        <a:buFont typeface="Wingdings" panose="05000000000000000000" pitchFamily="2" charset="2"/>
                        <a:buChar char="Ø"/>
                      </a:pPr>
                      <a:r>
                        <a:rPr lang="en-US" sz="1600" dirty="0"/>
                        <a:t>Budget</a:t>
                      </a:r>
                    </a:p>
                  </a:txBody>
                  <a:tcPr/>
                </a:tc>
                <a:tc>
                  <a:txBody>
                    <a:bodyPr/>
                    <a:lstStyle/>
                    <a:p>
                      <a:pPr marL="285750" indent="-285750">
                        <a:buFont typeface="Wingdings" panose="05000000000000000000" pitchFamily="2" charset="2"/>
                        <a:buChar char="ü"/>
                      </a:pPr>
                      <a:r>
                        <a:rPr lang="en-US" sz="1600" dirty="0"/>
                        <a:t>Perform pilot surveys to test the treatments</a:t>
                      </a:r>
                    </a:p>
                    <a:p>
                      <a:pPr marL="285750" indent="-285750">
                        <a:buFont typeface="Wingdings" panose="05000000000000000000" pitchFamily="2" charset="2"/>
                        <a:buChar char="ü"/>
                      </a:pPr>
                      <a:r>
                        <a:rPr lang="en-US" sz="1600" dirty="0"/>
                        <a:t>If no budget, use personal funding</a:t>
                      </a:r>
                    </a:p>
                    <a:p>
                      <a:pPr marL="285750" indent="-285750">
                        <a:buFont typeface="Wingdings" panose="05000000000000000000" pitchFamily="2" charset="2"/>
                        <a:buChar char="ü"/>
                      </a:pPr>
                      <a:r>
                        <a:rPr lang="en-US" sz="1600" dirty="0"/>
                        <a:t>Potential alternatives using other datasets, including the IL Political Extremism survey data</a:t>
                      </a:r>
                    </a:p>
                  </a:txBody>
                  <a:tcPr/>
                </a:tc>
                <a:extLst>
                  <a:ext uri="{0D108BD9-81ED-4DB2-BD59-A6C34878D82A}">
                    <a16:rowId xmlns:a16="http://schemas.microsoft.com/office/drawing/2014/main" val="2080278477"/>
                  </a:ext>
                </a:extLst>
              </a:tr>
              <a:tr h="979655">
                <a:tc>
                  <a:txBody>
                    <a:bodyPr/>
                    <a:lstStyle/>
                    <a:p>
                      <a:pPr marL="0" indent="0" algn="l" defTabSz="914400" rtl="0" eaLnBrk="1" latinLnBrk="0" hangingPunct="1">
                        <a:buFontTx/>
                        <a:buNone/>
                      </a:pPr>
                      <a:r>
                        <a:rPr lang="en-US" sz="1600" b="0" kern="1200" dirty="0">
                          <a:solidFill>
                            <a:schemeClr val="dk1"/>
                          </a:solidFill>
                        </a:rPr>
                        <a:t>Open-source Portal</a:t>
                      </a:r>
                      <a:endParaRPr lang="en-US" sz="1600" b="0" kern="1200" dirty="0">
                        <a:solidFill>
                          <a:schemeClr val="dk1"/>
                        </a:solidFill>
                        <a:latin typeface="+mn-lt"/>
                        <a:ea typeface="+mn-ea"/>
                        <a:cs typeface="+mn-cs"/>
                      </a:endParaRPr>
                    </a:p>
                  </a:txBody>
                  <a:tcPr/>
                </a:tc>
                <a:tc>
                  <a:txBody>
                    <a:bodyPr/>
                    <a:lstStyle/>
                    <a:p>
                      <a:pPr marL="0" indent="-285750" algn="l" defTabSz="914400" rtl="0" eaLnBrk="1" latinLnBrk="0" hangingPunct="1">
                        <a:buFont typeface="Wingdings" panose="05000000000000000000" pitchFamily="2" charset="2"/>
                        <a:buChar char="ü"/>
                      </a:pPr>
                      <a:r>
                        <a:rPr lang="en-US" sz="1600" b="0" kern="1200" dirty="0">
                          <a:solidFill>
                            <a:schemeClr val="dk1"/>
                          </a:solidFill>
                        </a:rPr>
                        <a:t>Implemented in GitHub</a:t>
                      </a:r>
                    </a:p>
                    <a:p>
                      <a:pPr marL="0" indent="-285750" algn="l" defTabSz="914400" rtl="0" eaLnBrk="1" latinLnBrk="0" hangingPunct="1">
                        <a:buFont typeface="Wingdings" panose="05000000000000000000" pitchFamily="2" charset="2"/>
                        <a:buChar char="ü"/>
                      </a:pPr>
                      <a:r>
                        <a:rPr lang="en-US" sz="1600" b="0" kern="1200" dirty="0">
                          <a:solidFill>
                            <a:schemeClr val="dk1"/>
                          </a:solidFill>
                        </a:rPr>
                        <a:t>Similar structure to a CRAN R package</a:t>
                      </a:r>
                    </a:p>
                    <a:p>
                      <a:pPr marL="0" indent="-285750" algn="l" defTabSz="914400" rtl="0" eaLnBrk="1" latinLnBrk="0" hangingPunct="1">
                        <a:buFont typeface="Wingdings" panose="05000000000000000000" pitchFamily="2" charset="2"/>
                        <a:buChar char="ü"/>
                      </a:pPr>
                      <a:r>
                        <a:rPr lang="en-US" sz="1600" b="0" kern="1200" dirty="0">
                          <a:solidFill>
                            <a:schemeClr val="dk1"/>
                          </a:solidFill>
                        </a:rPr>
                        <a:t>Building  the required tools from day 0</a:t>
                      </a:r>
                      <a:endParaRPr lang="en-US" sz="1600" b="0" kern="1200" dirty="0">
                        <a:solidFill>
                          <a:schemeClr val="dk1"/>
                        </a:solidFill>
                        <a:latin typeface="+mn-lt"/>
                        <a:ea typeface="+mn-ea"/>
                        <a:cs typeface="+mn-cs"/>
                      </a:endParaRPr>
                    </a:p>
                  </a:txBody>
                  <a:tcPr/>
                </a:tc>
                <a:extLst>
                  <a:ext uri="{0D108BD9-81ED-4DB2-BD59-A6C34878D82A}">
                    <a16:rowId xmlns:a16="http://schemas.microsoft.com/office/drawing/2014/main" val="4061353519"/>
                  </a:ext>
                </a:extLst>
              </a:tr>
            </a:tbl>
          </a:graphicData>
        </a:graphic>
      </p:graphicFrame>
    </p:spTree>
    <p:extLst>
      <p:ext uri="{BB962C8B-B14F-4D97-AF65-F5344CB8AC3E}">
        <p14:creationId xmlns:p14="http://schemas.microsoft.com/office/powerpoint/2010/main" val="3308821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C89A2-DADF-38F8-2368-32C03173E8DE}"/>
              </a:ext>
            </a:extLst>
          </p:cNvPr>
          <p:cNvSpPr>
            <a:spLocks noGrp="1"/>
          </p:cNvSpPr>
          <p:nvPr>
            <p:ph type="title"/>
          </p:nvPr>
        </p:nvSpPr>
        <p:spPr/>
        <p:txBody>
          <a:bodyPr/>
          <a:lstStyle/>
          <a:p>
            <a:r>
              <a:rPr lang="en-US" dirty="0"/>
              <a:t>Examples of Context Dependency (Bias)</a:t>
            </a:r>
          </a:p>
        </p:txBody>
      </p:sp>
      <p:sp>
        <p:nvSpPr>
          <p:cNvPr id="3" name="Content Placeholder 2">
            <a:extLst>
              <a:ext uri="{FF2B5EF4-FFF2-40B4-BE49-F238E27FC236}">
                <a16:creationId xmlns:a16="http://schemas.microsoft.com/office/drawing/2014/main" id="{14CC5DC7-859F-514E-B9BF-A292775135D9}"/>
              </a:ext>
            </a:extLst>
          </p:cNvPr>
          <p:cNvSpPr>
            <a:spLocks noGrp="1"/>
          </p:cNvSpPr>
          <p:nvPr>
            <p:ph idx="1"/>
          </p:nvPr>
        </p:nvSpPr>
        <p:spPr/>
        <p:txBody>
          <a:bodyPr>
            <a:normAutofit/>
          </a:bodyPr>
          <a:lstStyle/>
          <a:p>
            <a:r>
              <a:rPr lang="en-US" dirty="0"/>
              <a:t>The salience of protracted conflicts influences attitudes toward political aggression (Canetti et al. 2009). Citizens of countries suffering from long-standing, deep-seated conflicts might perceive political violence as less extreme than those in countries with a history of peace and political stability.</a:t>
            </a:r>
          </a:p>
          <a:p>
            <a:r>
              <a:rPr lang="en-US" dirty="0"/>
              <a:t>Female extremist politicians in parliament might soften the perception of political extremism (Ben-Shitrit et al., 2022).</a:t>
            </a:r>
          </a:p>
          <a:p>
            <a:r>
              <a:rPr lang="en-US" dirty="0"/>
              <a:t>In the United States, advocating for a universal, government-funded healthcare system, often called “Medicare for All,” is generally considered an extreme left-wing or far-left position. In contrast, in many Western European countries, it is not considered an extreme position and is typically supported by conservative parties.</a:t>
            </a:r>
          </a:p>
          <a:p>
            <a:r>
              <a:rPr lang="en-US" dirty="0"/>
              <a:t>In 2024, New Hampshire, protests advocating government overthrow and promoting antisemitic rhetoric have been organized by far-left Marxist-oriented organizations rather than by far-right or white supremacist groups (D. Fisher, 2024).</a:t>
            </a:r>
          </a:p>
        </p:txBody>
      </p:sp>
      <p:sp>
        <p:nvSpPr>
          <p:cNvPr id="4" name="Slide Number Placeholder 3">
            <a:extLst>
              <a:ext uri="{FF2B5EF4-FFF2-40B4-BE49-F238E27FC236}">
                <a16:creationId xmlns:a16="http://schemas.microsoft.com/office/drawing/2014/main" id="{FAF908E5-9EBB-2307-E18E-3EEDD422441F}"/>
              </a:ext>
            </a:extLst>
          </p:cNvPr>
          <p:cNvSpPr>
            <a:spLocks noGrp="1"/>
          </p:cNvSpPr>
          <p:nvPr>
            <p:ph type="sldNum" sz="quarter" idx="12"/>
          </p:nvPr>
        </p:nvSpPr>
        <p:spPr/>
        <p:txBody>
          <a:bodyPr/>
          <a:lstStyle/>
          <a:p>
            <a:fld id="{704D49E2-C640-4137-BB2F-153E894575C6}" type="slidenum">
              <a:rPr lang="en-US" smtClean="0"/>
              <a:t>26</a:t>
            </a:fld>
            <a:endParaRPr lang="en-US" dirty="0"/>
          </a:p>
        </p:txBody>
      </p:sp>
    </p:spTree>
    <p:extLst>
      <p:ext uri="{BB962C8B-B14F-4D97-AF65-F5344CB8AC3E}">
        <p14:creationId xmlns:p14="http://schemas.microsoft.com/office/powerpoint/2010/main" val="42365667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02E1F-9EEB-B05D-0C14-646FC1E6F467}"/>
              </a:ext>
            </a:extLst>
          </p:cNvPr>
          <p:cNvSpPr>
            <a:spLocks noGrp="1"/>
          </p:cNvSpPr>
          <p:nvPr>
            <p:ph type="title"/>
          </p:nvPr>
        </p:nvSpPr>
        <p:spPr>
          <a:xfrm>
            <a:off x="838200" y="365126"/>
            <a:ext cx="10515600" cy="394000"/>
          </a:xfrm>
        </p:spPr>
        <p:txBody>
          <a:bodyPr/>
          <a:lstStyle/>
          <a:p>
            <a:r>
              <a:rPr lang="en-US" dirty="0"/>
              <a:t>Political Extremism Measures</a:t>
            </a:r>
          </a:p>
        </p:txBody>
      </p:sp>
      <p:sp>
        <p:nvSpPr>
          <p:cNvPr id="3" name="Content Placeholder 2">
            <a:extLst>
              <a:ext uri="{FF2B5EF4-FFF2-40B4-BE49-F238E27FC236}">
                <a16:creationId xmlns:a16="http://schemas.microsoft.com/office/drawing/2014/main" id="{E6BCAACF-FE3F-6DCF-6B31-CCB2D16928D1}"/>
              </a:ext>
            </a:extLst>
          </p:cNvPr>
          <p:cNvSpPr>
            <a:spLocks noGrp="1"/>
          </p:cNvSpPr>
          <p:nvPr>
            <p:ph idx="1"/>
          </p:nvPr>
        </p:nvSpPr>
        <p:spPr>
          <a:xfrm>
            <a:off x="838200" y="836762"/>
            <a:ext cx="10515600" cy="5572664"/>
          </a:xfrm>
        </p:spPr>
        <p:txBody>
          <a:bodyPr>
            <a:normAutofit fontScale="47500" lnSpcReduction="20000"/>
          </a:bodyPr>
          <a:lstStyle/>
          <a:p>
            <a:r>
              <a:rPr lang="en-US" dirty="0"/>
              <a:t>Cognitive (Ideology)</a:t>
            </a:r>
          </a:p>
          <a:p>
            <a:pPr lvl="1"/>
            <a:r>
              <a:rPr lang="he-IL" dirty="0"/>
              <a:t>מו״מ להסכם קבע -- ישראל צריכה להגיע להסכם שלום של שתי מדינות עם הפלסטינים </a:t>
            </a:r>
            <a:endParaRPr lang="en-US" dirty="0"/>
          </a:p>
          <a:p>
            <a:pPr lvl="1"/>
            <a:r>
              <a:rPr lang="he-IL" dirty="0"/>
              <a:t> סיפוח --  ישראל צריכה לספח את שטחי ההתיישבות ביהודה ושומרון </a:t>
            </a:r>
            <a:endParaRPr lang="en-US" dirty="0"/>
          </a:p>
          <a:p>
            <a:pPr lvl="1"/>
            <a:r>
              <a:rPr lang="he-IL" dirty="0"/>
              <a:t>אני מעדיף/ה את רעיון ארץ ישראל השלמה על פני צביונה הדמוקרטי של המדינה </a:t>
            </a:r>
            <a:endParaRPr lang="en-US" dirty="0"/>
          </a:p>
          <a:p>
            <a:r>
              <a:rPr lang="en-US" dirty="0"/>
              <a:t>Behavioral (Violence)</a:t>
            </a:r>
          </a:p>
          <a:p>
            <a:pPr lvl="1"/>
            <a:r>
              <a:rPr lang="en-US" dirty="0"/>
              <a:t>Against Politicians</a:t>
            </a:r>
          </a:p>
          <a:p>
            <a:pPr lvl="2"/>
            <a:r>
              <a:rPr lang="he-IL" dirty="0"/>
              <a:t>יש מצבים שבהם אין בררה וחייבים להשתמש אפילו בנשק כדי למנוע מהממשלה מלבצע את מדיניותה </a:t>
            </a:r>
            <a:endParaRPr lang="en-US" dirty="0"/>
          </a:p>
          <a:p>
            <a:pPr lvl="2"/>
            <a:r>
              <a:rPr lang="he-IL" dirty="0"/>
              <a:t>כשאסון מדיני עומד בפתח ומוצו כל אמצעי המחאה ללא הועיל, פגיעה פיזית בפוליטיקאים עשויה להיות נסלחת  </a:t>
            </a:r>
            <a:endParaRPr lang="en-US" dirty="0"/>
          </a:p>
          <a:p>
            <a:pPr lvl="2"/>
            <a:r>
              <a:rPr lang="he-IL" dirty="0"/>
              <a:t>במציאות הישראלית, מאבק אלים עשוי לעיתים להיות מוצדק לצורך השגת הישגים פוליטיים (מול השלטון) </a:t>
            </a:r>
            <a:endParaRPr lang="en-US" dirty="0"/>
          </a:p>
          <a:p>
            <a:pPr lvl="2"/>
            <a:r>
              <a:rPr lang="he-IL" dirty="0"/>
              <a:t>שליחת איומים ומכתבי נאצה לאישי ציבור עשויה לעתים להיות הכרחית כדי להביא להפסקת מדיניות מסוכנת </a:t>
            </a:r>
            <a:endParaRPr lang="en-US" dirty="0"/>
          </a:p>
          <a:p>
            <a:pPr lvl="1"/>
            <a:r>
              <a:rPr lang="en-US" dirty="0"/>
              <a:t>Against Institutions</a:t>
            </a:r>
          </a:p>
          <a:p>
            <a:pPr lvl="2"/>
            <a:r>
              <a:rPr lang="he-IL" dirty="0"/>
              <a:t>פגיעה ברכוש וציוד ציבורי של עובדי ציבור או של כוחות הביטחון </a:t>
            </a:r>
            <a:endParaRPr lang="en-US" dirty="0"/>
          </a:p>
          <a:p>
            <a:pPr lvl="2"/>
            <a:r>
              <a:rPr lang="he-IL" dirty="0"/>
              <a:t>שימוש בכוח פיסי כנגד עובדי ציבור או כוחות הביטחון </a:t>
            </a:r>
            <a:endParaRPr lang="en-US" dirty="0"/>
          </a:p>
          <a:p>
            <a:pPr lvl="1"/>
            <a:r>
              <a:rPr lang="en-US" dirty="0"/>
              <a:t>Against Outgroup</a:t>
            </a:r>
          </a:p>
          <a:p>
            <a:pPr lvl="2"/>
            <a:r>
              <a:rPr lang="he-IL" dirty="0"/>
              <a:t>לעיתים אין ברירה מלהשתמש בכוח פיזי נגד ______ כדי למנוע מהם לקדם את האינטרסים שלהם. </a:t>
            </a:r>
            <a:endParaRPr lang="en-US" dirty="0"/>
          </a:p>
          <a:p>
            <a:pPr lvl="2"/>
            <a:r>
              <a:rPr lang="he-IL" dirty="0"/>
              <a:t> עלינו לגרש את _________ בכוח מהמרחב המשותף </a:t>
            </a:r>
            <a:endParaRPr lang="en-US" dirty="0"/>
          </a:p>
          <a:p>
            <a:r>
              <a:rPr lang="en-US" dirty="0"/>
              <a:t>Social (Intolerance)</a:t>
            </a:r>
          </a:p>
          <a:p>
            <a:pPr lvl="1"/>
            <a:r>
              <a:rPr lang="en-US" dirty="0"/>
              <a:t>Political Exclusion</a:t>
            </a:r>
          </a:p>
          <a:p>
            <a:pPr lvl="2"/>
            <a:r>
              <a:rPr lang="he-IL" dirty="0"/>
              <a:t>יש לאסור על ______ללמד באוניברסיטה </a:t>
            </a:r>
            <a:endParaRPr lang="en-US" dirty="0"/>
          </a:p>
          <a:p>
            <a:pPr lvl="2"/>
            <a:r>
              <a:rPr lang="he-IL" dirty="0"/>
              <a:t> יש לשלול את זכותם של ______ לבטא את תפיסת עולמם בפומבי </a:t>
            </a:r>
            <a:endParaRPr lang="en-US" dirty="0"/>
          </a:p>
          <a:p>
            <a:pPr lvl="2"/>
            <a:r>
              <a:rPr lang="he-IL" dirty="0"/>
              <a:t>אסור לאפשר ______ללמד בבתי ספר ציבוריים </a:t>
            </a:r>
            <a:endParaRPr lang="en-US" dirty="0"/>
          </a:p>
          <a:p>
            <a:pPr lvl="2"/>
            <a:r>
              <a:rPr lang="he-IL" dirty="0"/>
              <a:t>יש לשלול את אזרחותם של ______ </a:t>
            </a:r>
            <a:endParaRPr lang="en-US" dirty="0"/>
          </a:p>
          <a:p>
            <a:pPr lvl="2"/>
            <a:r>
              <a:rPr lang="he-IL" dirty="0"/>
              <a:t>יש לאפשר מעקב על מכשירי הטלפון של ______ </a:t>
            </a:r>
            <a:endParaRPr lang="en-US" dirty="0"/>
          </a:p>
          <a:p>
            <a:pPr lvl="2"/>
            <a:r>
              <a:rPr lang="he-IL" dirty="0"/>
              <a:t>אסור לתת ל______ לכהן כחברי כנסת </a:t>
            </a:r>
            <a:endParaRPr lang="en-US" dirty="0"/>
          </a:p>
          <a:p>
            <a:pPr lvl="2"/>
            <a:r>
              <a:rPr lang="he-IL" dirty="0"/>
              <a:t>אסור לתת ל______ לכהן כחברי כנסת </a:t>
            </a:r>
            <a:endParaRPr lang="en-US" dirty="0"/>
          </a:p>
          <a:p>
            <a:pPr lvl="1"/>
            <a:r>
              <a:rPr lang="en-US" dirty="0"/>
              <a:t>Social Distancing</a:t>
            </a:r>
          </a:p>
          <a:p>
            <a:pPr lvl="2"/>
            <a:r>
              <a:rPr lang="he-IL" dirty="0"/>
              <a:t>אני מסכים/ה ש______ יהיה ממונה עלי במקום העבודה </a:t>
            </a:r>
            <a:endParaRPr lang="en-US" dirty="0"/>
          </a:p>
          <a:p>
            <a:pPr lvl="2"/>
            <a:r>
              <a:rPr lang="he-IL" dirty="0"/>
              <a:t>אני מסכים/ה לארח ______בביתי בנסיבות חברתיות </a:t>
            </a:r>
            <a:endParaRPr lang="en-US" dirty="0"/>
          </a:p>
          <a:p>
            <a:pPr lvl="2"/>
            <a:r>
              <a:rPr lang="he-IL" dirty="0"/>
              <a:t>אני מסכים/ה שבן או בת משפחה שלי יקיימו קשר רומנטי עם ______ </a:t>
            </a:r>
            <a:endParaRPr lang="en-US" dirty="0"/>
          </a:p>
          <a:p>
            <a:pPr lvl="2"/>
            <a:r>
              <a:rPr lang="he-IL" dirty="0"/>
              <a:t>אני מסכים/ה ש______ יגורו בשכונה שלי </a:t>
            </a:r>
            <a:endParaRPr lang="en-US" dirty="0"/>
          </a:p>
          <a:p>
            <a:pPr lvl="2"/>
            <a:r>
              <a:rPr lang="he-IL" dirty="0"/>
              <a:t>אני מוכן לקרוא מאמרי דעה של ______ </a:t>
            </a:r>
            <a:endParaRPr lang="en-US" dirty="0"/>
          </a:p>
        </p:txBody>
      </p:sp>
      <p:pic>
        <p:nvPicPr>
          <p:cNvPr id="1026" name="Picture 2">
            <a:extLst>
              <a:ext uri="{FF2B5EF4-FFF2-40B4-BE49-F238E27FC236}">
                <a16:creationId xmlns:a16="http://schemas.microsoft.com/office/drawing/2014/main" id="{1743D15C-DBA5-E176-080A-5B15D3ADDF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4485" y="3493139"/>
            <a:ext cx="4276736" cy="299392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4EC8A05-4D00-3E05-B00C-57A1BB6915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8427" y="2168242"/>
            <a:ext cx="3785157" cy="264979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6724CE04-59F5-E7D4-D455-7E59B733C5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7138" y="906251"/>
            <a:ext cx="2844083" cy="1990996"/>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a:extLst>
              <a:ext uri="{FF2B5EF4-FFF2-40B4-BE49-F238E27FC236}">
                <a16:creationId xmlns:a16="http://schemas.microsoft.com/office/drawing/2014/main" id="{F8C58596-F9E8-DB52-3E98-88FE8D210FC7}"/>
              </a:ext>
            </a:extLst>
          </p:cNvPr>
          <p:cNvSpPr>
            <a:spLocks noGrp="1"/>
          </p:cNvSpPr>
          <p:nvPr>
            <p:ph type="sldNum" sz="quarter" idx="12"/>
          </p:nvPr>
        </p:nvSpPr>
        <p:spPr/>
        <p:txBody>
          <a:bodyPr/>
          <a:lstStyle/>
          <a:p>
            <a:fld id="{9EA0FD28-5B84-410E-9DA4-1F58A7902DAF}" type="slidenum">
              <a:rPr lang="en-US" smtClean="0"/>
              <a:t>27</a:t>
            </a:fld>
            <a:endParaRPr lang="en-US"/>
          </a:p>
        </p:txBody>
      </p:sp>
    </p:spTree>
    <p:extLst>
      <p:ext uri="{BB962C8B-B14F-4D97-AF65-F5344CB8AC3E}">
        <p14:creationId xmlns:p14="http://schemas.microsoft.com/office/powerpoint/2010/main" val="1580952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CA7C3-C1C2-C391-136F-8402560174A8}"/>
              </a:ext>
            </a:extLst>
          </p:cNvPr>
          <p:cNvSpPr>
            <a:spLocks noGrp="1"/>
          </p:cNvSpPr>
          <p:nvPr>
            <p:ph type="title"/>
          </p:nvPr>
        </p:nvSpPr>
        <p:spPr/>
        <p:txBody>
          <a:bodyPr/>
          <a:lstStyle/>
          <a:p>
            <a:r>
              <a:rPr lang="he-IL" dirty="0"/>
              <a:t>טבלת אירועים</a:t>
            </a:r>
            <a:endParaRPr lang="en-US" dirty="0"/>
          </a:p>
        </p:txBody>
      </p:sp>
      <p:sp>
        <p:nvSpPr>
          <p:cNvPr id="4" name="Slide Number Placeholder 3">
            <a:extLst>
              <a:ext uri="{FF2B5EF4-FFF2-40B4-BE49-F238E27FC236}">
                <a16:creationId xmlns:a16="http://schemas.microsoft.com/office/drawing/2014/main" id="{60CF5449-6D24-B5C2-8A3E-E7565BA89671}"/>
              </a:ext>
            </a:extLst>
          </p:cNvPr>
          <p:cNvSpPr>
            <a:spLocks noGrp="1"/>
          </p:cNvSpPr>
          <p:nvPr>
            <p:ph type="sldNum" sz="quarter" idx="12"/>
          </p:nvPr>
        </p:nvSpPr>
        <p:spPr/>
        <p:txBody>
          <a:bodyPr/>
          <a:lstStyle/>
          <a:p>
            <a:fld id="{704D49E2-C640-4137-BB2F-153E894575C6}" type="slidenum">
              <a:rPr lang="en-US" smtClean="0"/>
              <a:t>28</a:t>
            </a:fld>
            <a:endParaRPr lang="en-US" dirty="0"/>
          </a:p>
        </p:txBody>
      </p:sp>
      <p:graphicFrame>
        <p:nvGraphicFramePr>
          <p:cNvPr id="5" name="Table 4">
            <a:extLst>
              <a:ext uri="{FF2B5EF4-FFF2-40B4-BE49-F238E27FC236}">
                <a16:creationId xmlns:a16="http://schemas.microsoft.com/office/drawing/2014/main" id="{B7A8FBBD-A6B7-3BB9-A5DD-DA95765637C8}"/>
              </a:ext>
            </a:extLst>
          </p:cNvPr>
          <p:cNvGraphicFramePr>
            <a:graphicFrameLocks noGrp="1"/>
          </p:cNvGraphicFramePr>
          <p:nvPr>
            <p:extLst>
              <p:ext uri="{D42A27DB-BD31-4B8C-83A1-F6EECF244321}">
                <p14:modId xmlns:p14="http://schemas.microsoft.com/office/powerpoint/2010/main" val="1429114896"/>
              </p:ext>
            </p:extLst>
          </p:nvPr>
        </p:nvGraphicFramePr>
        <p:xfrm>
          <a:off x="2690565" y="903470"/>
          <a:ext cx="8639351" cy="5445059"/>
        </p:xfrm>
        <a:graphic>
          <a:graphicData uri="http://schemas.openxmlformats.org/drawingml/2006/table">
            <a:tbl>
              <a:tblPr rtl="1" firstRow="1" firstCol="1" bandRow="1">
                <a:tableStyleId>{7E9639D4-E3E2-4D34-9284-5A2195B3D0D7}</a:tableStyleId>
              </a:tblPr>
              <a:tblGrid>
                <a:gridCol w="696885">
                  <a:extLst>
                    <a:ext uri="{9D8B030D-6E8A-4147-A177-3AD203B41FA5}">
                      <a16:colId xmlns:a16="http://schemas.microsoft.com/office/drawing/2014/main" val="554719350"/>
                    </a:ext>
                  </a:extLst>
                </a:gridCol>
                <a:gridCol w="1903547">
                  <a:extLst>
                    <a:ext uri="{9D8B030D-6E8A-4147-A177-3AD203B41FA5}">
                      <a16:colId xmlns:a16="http://schemas.microsoft.com/office/drawing/2014/main" val="2397830271"/>
                    </a:ext>
                  </a:extLst>
                </a:gridCol>
                <a:gridCol w="1273887">
                  <a:extLst>
                    <a:ext uri="{9D8B030D-6E8A-4147-A177-3AD203B41FA5}">
                      <a16:colId xmlns:a16="http://schemas.microsoft.com/office/drawing/2014/main" val="2323617577"/>
                    </a:ext>
                  </a:extLst>
                </a:gridCol>
                <a:gridCol w="4765032">
                  <a:extLst>
                    <a:ext uri="{9D8B030D-6E8A-4147-A177-3AD203B41FA5}">
                      <a16:colId xmlns:a16="http://schemas.microsoft.com/office/drawing/2014/main" val="1573877317"/>
                    </a:ext>
                  </a:extLst>
                </a:gridCol>
              </a:tblGrid>
              <a:tr h="848074">
                <a:tc>
                  <a:txBody>
                    <a:bodyPr/>
                    <a:lstStyle/>
                    <a:p>
                      <a:pPr marL="0" marR="0" algn="r" rtl="1">
                        <a:lnSpc>
                          <a:spcPct val="115000"/>
                        </a:lnSpc>
                        <a:spcAft>
                          <a:spcPts val="800"/>
                        </a:spcAft>
                        <a:buNone/>
                      </a:pPr>
                      <a:r>
                        <a:rPr lang="he-IL" sz="1800" kern="100" dirty="0">
                          <a:effectLst/>
                        </a:rPr>
                        <a:t>גלים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2">
                        <a:lumMod val="75000"/>
                      </a:schemeClr>
                    </a:solidFill>
                  </a:tcPr>
                </a:tc>
                <a:tc>
                  <a:txBody>
                    <a:bodyPr/>
                    <a:lstStyle/>
                    <a:p>
                      <a:pPr marL="0" marR="0" algn="r" rtl="1">
                        <a:lnSpc>
                          <a:spcPct val="115000"/>
                        </a:lnSpc>
                        <a:spcAft>
                          <a:spcPts val="800"/>
                        </a:spcAft>
                        <a:buNone/>
                      </a:pPr>
                      <a:r>
                        <a:rPr lang="he-IL" sz="1800" kern="100">
                          <a:effectLst/>
                        </a:rPr>
                        <a:t>סוג האיום  (ביטחון, כלכלי, פוליטי, בריאות)</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2">
                        <a:lumMod val="75000"/>
                      </a:schemeClr>
                    </a:solidFill>
                  </a:tcPr>
                </a:tc>
                <a:tc>
                  <a:txBody>
                    <a:bodyPr/>
                    <a:lstStyle/>
                    <a:p>
                      <a:pPr marL="0" marR="0" algn="r" rtl="1">
                        <a:lnSpc>
                          <a:spcPct val="115000"/>
                        </a:lnSpc>
                        <a:spcAft>
                          <a:spcPts val="800"/>
                        </a:spcAft>
                        <a:buNone/>
                      </a:pPr>
                      <a:r>
                        <a:rPr lang="he-IL" sz="1800" kern="100">
                          <a:effectLst/>
                        </a:rPr>
                        <a:t>הפרש זמן (חודשים)</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2">
                        <a:lumMod val="75000"/>
                      </a:schemeClr>
                    </a:solidFill>
                  </a:tcPr>
                </a:tc>
                <a:tc>
                  <a:txBody>
                    <a:bodyPr/>
                    <a:lstStyle/>
                    <a:p>
                      <a:pPr marL="0" marR="0" algn="r" rtl="1">
                        <a:lnSpc>
                          <a:spcPct val="115000"/>
                        </a:lnSpc>
                        <a:spcAft>
                          <a:spcPts val="800"/>
                        </a:spcAft>
                        <a:buNone/>
                      </a:pPr>
                      <a:r>
                        <a:rPr lang="he-IL" sz="1800" kern="100" dirty="0">
                          <a:effectLst/>
                        </a:rPr>
                        <a:t>הערות</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solidFill>
                      <a:schemeClr val="bg2">
                        <a:lumMod val="75000"/>
                      </a:schemeClr>
                    </a:solidFill>
                  </a:tcPr>
                </a:tc>
                <a:extLst>
                  <a:ext uri="{0D108BD9-81ED-4DB2-BD59-A6C34878D82A}">
                    <a16:rowId xmlns:a16="http://schemas.microsoft.com/office/drawing/2014/main" val="4159802025"/>
                  </a:ext>
                </a:extLst>
              </a:tr>
              <a:tr h="559877">
                <a:tc>
                  <a:txBody>
                    <a:bodyPr/>
                    <a:lstStyle/>
                    <a:p>
                      <a:pPr marL="0" marR="0" algn="r" rtl="1">
                        <a:lnSpc>
                          <a:spcPct val="115000"/>
                        </a:lnSpc>
                        <a:spcAft>
                          <a:spcPts val="800"/>
                        </a:spcAft>
                        <a:buNone/>
                      </a:pPr>
                      <a:r>
                        <a:rPr lang="he-IL" sz="1800" kern="100">
                          <a:effectLst/>
                        </a:rPr>
                        <a:t>1-2</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בטחון (טרור) </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2 </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גל פיגועים רחב בערים במרכז הארץ. מבצע שובר גלים</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757779357"/>
                  </a:ext>
                </a:extLst>
              </a:tr>
              <a:tr h="271680">
                <a:tc>
                  <a:txBody>
                    <a:bodyPr/>
                    <a:lstStyle/>
                    <a:p>
                      <a:pPr marL="0" marR="0" algn="r" rtl="1">
                        <a:lnSpc>
                          <a:spcPct val="115000"/>
                        </a:lnSpc>
                        <a:spcAft>
                          <a:spcPts val="800"/>
                        </a:spcAft>
                        <a:buNone/>
                      </a:pPr>
                      <a:r>
                        <a:rPr lang="he-IL" sz="1800" kern="100">
                          <a:effectLst/>
                        </a:rPr>
                        <a:t> </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בריאות</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5</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חיסון רביעי, זן האומיקרון</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706620976"/>
                  </a:ext>
                </a:extLst>
              </a:tr>
              <a:tr h="848074">
                <a:tc>
                  <a:txBody>
                    <a:bodyPr/>
                    <a:lstStyle/>
                    <a:p>
                      <a:pPr marL="0" marR="0" algn="r" rtl="1">
                        <a:lnSpc>
                          <a:spcPct val="115000"/>
                        </a:lnSpc>
                        <a:spcAft>
                          <a:spcPts val="800"/>
                        </a:spcAft>
                        <a:buNone/>
                      </a:pPr>
                      <a:r>
                        <a:rPr lang="he-IL" sz="1800" kern="100">
                          <a:effectLst/>
                        </a:rPr>
                        <a:t>2-3</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פוליטי (בחירות)</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4</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אושר פיזור מוקדם של הכנסת העשרים וארבע</a:t>
                      </a:r>
                      <a:r>
                        <a:rPr lang="en-US" sz="1800" kern="100">
                          <a:effectLst/>
                        </a:rPr>
                        <a:t> </a:t>
                      </a:r>
                      <a:r>
                        <a:rPr lang="he-IL" sz="1800" kern="100">
                          <a:effectLst/>
                        </a:rPr>
                        <a:t>שהוביל אוטומטית לחילופים</a:t>
                      </a:r>
                      <a:r>
                        <a:rPr lang="en-US" sz="1800" kern="100">
                          <a:effectLst/>
                        </a:rPr>
                        <a:t> </a:t>
                      </a:r>
                      <a:r>
                        <a:rPr lang="he-IL" sz="1800" kern="100">
                          <a:effectLst/>
                        </a:rPr>
                        <a:t>בממשלת ישראל השלושים ושש</a:t>
                      </a:r>
                      <a:r>
                        <a:rPr lang="en-US" sz="1800" kern="100">
                          <a:effectLst/>
                        </a:rPr>
                        <a:t> </a:t>
                      </a:r>
                      <a:r>
                        <a:rPr lang="he-IL" sz="1800" kern="100">
                          <a:effectLst/>
                        </a:rPr>
                        <a:t>בין נפתלי בנט</a:t>
                      </a:r>
                      <a:r>
                        <a:rPr lang="en-US" sz="1800" kern="100">
                          <a:effectLst/>
                        </a:rPr>
                        <a:t> </a:t>
                      </a:r>
                      <a:r>
                        <a:rPr lang="he-IL" sz="1800" kern="100">
                          <a:effectLst/>
                        </a:rPr>
                        <a:t>ליאיר לפיד</a:t>
                      </a:r>
                      <a:r>
                        <a:rPr lang="en-US" sz="1800" kern="100">
                          <a:effectLst/>
                        </a:rPr>
                        <a:t> </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448148760"/>
                  </a:ext>
                </a:extLst>
              </a:tr>
              <a:tr h="271680">
                <a:tc>
                  <a:txBody>
                    <a:bodyPr/>
                    <a:lstStyle/>
                    <a:p>
                      <a:pPr marL="0" marR="0" algn="r" rtl="1">
                        <a:lnSpc>
                          <a:spcPct val="115000"/>
                        </a:lnSpc>
                        <a:spcAft>
                          <a:spcPts val="800"/>
                        </a:spcAft>
                        <a:buNone/>
                      </a:pPr>
                      <a:r>
                        <a:rPr lang="he-IL" sz="1800" kern="100">
                          <a:effectLst/>
                        </a:rPr>
                        <a:t> </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בטחון (טרור)</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0.5</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גל פיגועים רחב בעיקר ביהודה ושומרון </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3938120380"/>
                  </a:ext>
                </a:extLst>
              </a:tr>
              <a:tr h="848074">
                <a:tc>
                  <a:txBody>
                    <a:bodyPr/>
                    <a:lstStyle/>
                    <a:p>
                      <a:pPr marL="0" marR="0" algn="r" rtl="1">
                        <a:lnSpc>
                          <a:spcPct val="115000"/>
                        </a:lnSpc>
                        <a:spcAft>
                          <a:spcPts val="800"/>
                        </a:spcAft>
                        <a:buNone/>
                      </a:pPr>
                      <a:r>
                        <a:rPr lang="he-IL" sz="1800" kern="100">
                          <a:effectLst/>
                        </a:rPr>
                        <a:t>3-4</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פוליטי (בחירות)</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0.5</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השבעת ממשלת ישראל השלושים ושבע</a:t>
                      </a:r>
                      <a:r>
                        <a:rPr lang="en-US" sz="1800" kern="100">
                          <a:effectLst/>
                        </a:rPr>
                        <a:t> </a:t>
                      </a:r>
                      <a:r>
                        <a:rPr lang="he-IL" sz="1800" kern="100">
                          <a:effectLst/>
                        </a:rPr>
                        <a:t>וחזרת בנימין נתניהו</a:t>
                      </a:r>
                      <a:r>
                        <a:rPr lang="en-US" sz="1800" kern="100">
                          <a:effectLst/>
                        </a:rPr>
                        <a:t> </a:t>
                      </a:r>
                      <a:r>
                        <a:rPr lang="he-IL" sz="1800" kern="100">
                          <a:effectLst/>
                        </a:rPr>
                        <a:t>לתפקיד ראש ממשלת ישראל</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396200636"/>
                  </a:ext>
                </a:extLst>
              </a:tr>
              <a:tr h="559877">
                <a:tc>
                  <a:txBody>
                    <a:bodyPr/>
                    <a:lstStyle/>
                    <a:p>
                      <a:pPr marL="0" marR="0" algn="r" rtl="1">
                        <a:lnSpc>
                          <a:spcPct val="115000"/>
                        </a:lnSpc>
                        <a:spcAft>
                          <a:spcPts val="800"/>
                        </a:spcAft>
                        <a:buNone/>
                      </a:pPr>
                      <a:r>
                        <a:rPr lang="he-IL" sz="1800" kern="100">
                          <a:effectLst/>
                        </a:rPr>
                        <a:t> </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פוליטי (מדיניות)</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0.5</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שר המשפטים יריב לוין</a:t>
                      </a:r>
                      <a:r>
                        <a:rPr lang="en-US" sz="1800" kern="100">
                          <a:effectLst/>
                        </a:rPr>
                        <a:t> </a:t>
                      </a:r>
                      <a:r>
                        <a:rPr lang="he-IL" sz="1800" kern="100">
                          <a:effectLst/>
                        </a:rPr>
                        <a:t>מציג את הרפורמה המשפטית</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2900685987"/>
                  </a:ext>
                </a:extLst>
              </a:tr>
              <a:tr h="271680">
                <a:tc>
                  <a:txBody>
                    <a:bodyPr/>
                    <a:lstStyle/>
                    <a:p>
                      <a:pPr marL="0" marR="0" algn="r" rtl="1">
                        <a:lnSpc>
                          <a:spcPct val="115000"/>
                        </a:lnSpc>
                        <a:spcAft>
                          <a:spcPts val="800"/>
                        </a:spcAft>
                        <a:buNone/>
                      </a:pPr>
                      <a:r>
                        <a:rPr lang="he-IL" sz="1800" kern="100">
                          <a:effectLst/>
                        </a:rPr>
                        <a:t>4-5</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פוליטי (מדיניות)</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3</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פיטורי גלנט</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396959333"/>
                  </a:ext>
                </a:extLst>
              </a:tr>
              <a:tr h="271680">
                <a:tc>
                  <a:txBody>
                    <a:bodyPr/>
                    <a:lstStyle/>
                    <a:p>
                      <a:pPr marL="0" marR="0" algn="r" rtl="1">
                        <a:lnSpc>
                          <a:spcPct val="115000"/>
                        </a:lnSpc>
                        <a:spcAft>
                          <a:spcPts val="800"/>
                        </a:spcAft>
                        <a:buNone/>
                      </a:pPr>
                      <a:r>
                        <a:rPr lang="he-IL" sz="1800" kern="100">
                          <a:effectLst/>
                        </a:rPr>
                        <a:t> </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בטחון (טרור)</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1.5</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מבצע מגן וחץ נגד הג'יהאד האיסלמי</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556072182"/>
                  </a:ext>
                </a:extLst>
              </a:tr>
              <a:tr h="271680">
                <a:tc>
                  <a:txBody>
                    <a:bodyPr/>
                    <a:lstStyle/>
                    <a:p>
                      <a:pPr marL="0" marR="0" algn="r" rtl="1">
                        <a:lnSpc>
                          <a:spcPct val="115000"/>
                        </a:lnSpc>
                        <a:spcAft>
                          <a:spcPts val="800"/>
                        </a:spcAft>
                        <a:buNone/>
                      </a:pPr>
                      <a:r>
                        <a:rPr lang="he-IL" sz="1800" kern="100">
                          <a:effectLst/>
                        </a:rPr>
                        <a:t>5-6</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a:effectLst/>
                        </a:rPr>
                        <a:t>בטחון (מלחמה)</a:t>
                      </a:r>
                      <a:endParaRPr lang="en-US" sz="18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dirty="0">
                          <a:effectLst/>
                        </a:rPr>
                        <a:t>6</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tc>
                  <a:txBody>
                    <a:bodyPr/>
                    <a:lstStyle/>
                    <a:p>
                      <a:pPr marL="0" marR="0" algn="r" rtl="1">
                        <a:lnSpc>
                          <a:spcPct val="115000"/>
                        </a:lnSpc>
                        <a:spcAft>
                          <a:spcPts val="800"/>
                        </a:spcAft>
                        <a:buNone/>
                      </a:pPr>
                      <a:r>
                        <a:rPr lang="he-IL" sz="1800" kern="100" dirty="0">
                          <a:effectLst/>
                        </a:rPr>
                        <a:t>מלחמת ה-7 באוקטובר</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4286181998"/>
                  </a:ext>
                </a:extLst>
              </a:tr>
            </a:tbl>
          </a:graphicData>
        </a:graphic>
      </p:graphicFrame>
    </p:spTree>
    <p:extLst>
      <p:ext uri="{BB962C8B-B14F-4D97-AF65-F5344CB8AC3E}">
        <p14:creationId xmlns:p14="http://schemas.microsoft.com/office/powerpoint/2010/main" val="29011366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65D86A-B50D-0A77-4892-D25D66826BA2}"/>
              </a:ext>
            </a:extLst>
          </p:cNvPr>
          <p:cNvSpPr>
            <a:spLocks noGrp="1"/>
          </p:cNvSpPr>
          <p:nvPr>
            <p:ph type="title"/>
          </p:nvPr>
        </p:nvSpPr>
        <p:spPr/>
        <p:txBody>
          <a:bodyPr/>
          <a:lstStyle/>
          <a:p>
            <a:r>
              <a:rPr lang="he-IL" dirty="0"/>
              <a:t>ביקורתיות</a:t>
            </a:r>
            <a:endParaRPr lang="en-US" dirty="0"/>
          </a:p>
        </p:txBody>
      </p:sp>
      <p:sp>
        <p:nvSpPr>
          <p:cNvPr id="5" name="Text Placeholder 4">
            <a:extLst>
              <a:ext uri="{FF2B5EF4-FFF2-40B4-BE49-F238E27FC236}">
                <a16:creationId xmlns:a16="http://schemas.microsoft.com/office/drawing/2014/main" id="{A19EA0E3-1152-6EED-3246-CAC40BE99780}"/>
              </a:ext>
            </a:extLst>
          </p:cNvPr>
          <p:cNvSpPr>
            <a:spLocks noGrp="1"/>
          </p:cNvSpPr>
          <p:nvPr>
            <p:ph type="body" idx="1"/>
          </p:nvPr>
        </p:nvSpPr>
        <p:spPr/>
        <p:txBody>
          <a:bodyPr/>
          <a:lstStyle/>
          <a:p>
            <a:endParaRPr lang="en-US"/>
          </a:p>
        </p:txBody>
      </p:sp>
      <p:sp>
        <p:nvSpPr>
          <p:cNvPr id="3" name="Slide Number Placeholder 2">
            <a:extLst>
              <a:ext uri="{FF2B5EF4-FFF2-40B4-BE49-F238E27FC236}">
                <a16:creationId xmlns:a16="http://schemas.microsoft.com/office/drawing/2014/main" id="{D829B435-10A5-85A6-B12D-EAD4A2D13467}"/>
              </a:ext>
            </a:extLst>
          </p:cNvPr>
          <p:cNvSpPr>
            <a:spLocks noGrp="1"/>
          </p:cNvSpPr>
          <p:nvPr>
            <p:ph type="sldNum" sz="quarter" idx="12"/>
          </p:nvPr>
        </p:nvSpPr>
        <p:spPr/>
        <p:txBody>
          <a:bodyPr/>
          <a:lstStyle/>
          <a:p>
            <a:fld id="{704D49E2-C640-4137-BB2F-153E894575C6}" type="slidenum">
              <a:rPr lang="en-US" smtClean="0"/>
              <a:t>29</a:t>
            </a:fld>
            <a:endParaRPr lang="en-US" dirty="0"/>
          </a:p>
        </p:txBody>
      </p:sp>
    </p:spTree>
    <p:extLst>
      <p:ext uri="{BB962C8B-B14F-4D97-AF65-F5344CB8AC3E}">
        <p14:creationId xmlns:p14="http://schemas.microsoft.com/office/powerpoint/2010/main" val="4121534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AC46E78-6C64-E9E9-3C61-959C75BB165C}"/>
              </a:ext>
            </a:extLst>
          </p:cNvPr>
          <p:cNvSpPr>
            <a:spLocks noGrp="1"/>
          </p:cNvSpPr>
          <p:nvPr>
            <p:ph type="title"/>
          </p:nvPr>
        </p:nvSpPr>
        <p:spPr/>
        <p:txBody>
          <a:bodyPr/>
          <a:lstStyle/>
          <a:p>
            <a:pPr rtl="1"/>
            <a:r>
              <a:rPr lang="he-IL" dirty="0"/>
              <a:t>מדידה נטולת הטיה (</a:t>
            </a:r>
            <a:r>
              <a:rPr lang="en-US" dirty="0"/>
              <a:t>Context Independent</a:t>
            </a:r>
            <a:r>
              <a:rPr lang="he-IL" dirty="0"/>
              <a:t>)</a:t>
            </a:r>
            <a:endParaRPr lang="en-US" dirty="0"/>
          </a:p>
        </p:txBody>
      </p:sp>
      <p:sp>
        <p:nvSpPr>
          <p:cNvPr id="8" name="Content Placeholder 7">
            <a:extLst>
              <a:ext uri="{FF2B5EF4-FFF2-40B4-BE49-F238E27FC236}">
                <a16:creationId xmlns:a16="http://schemas.microsoft.com/office/drawing/2014/main" id="{961C6BA9-EC37-7B25-6F40-4D89895DC78B}"/>
              </a:ext>
            </a:extLst>
          </p:cNvPr>
          <p:cNvSpPr>
            <a:spLocks noGrp="1"/>
          </p:cNvSpPr>
          <p:nvPr>
            <p:ph sz="half" idx="1"/>
          </p:nvPr>
        </p:nvSpPr>
        <p:spPr/>
        <p:txBody>
          <a:bodyPr>
            <a:normAutofit/>
          </a:bodyPr>
          <a:lstStyle/>
          <a:p>
            <a:pPr algn="r" rtl="1"/>
            <a:r>
              <a:rPr lang="he-IL" sz="2000" dirty="0"/>
              <a:t>היכולת לבצע השוואת של קיצוניות פוליטית ללא הטיה נובעת מהשימוש באינדקסים יחסיים. השרטוט הבא ידגים זאת. </a:t>
            </a:r>
            <a:endParaRPr lang="en-US" sz="2000" dirty="0"/>
          </a:p>
        </p:txBody>
      </p:sp>
      <p:sp>
        <p:nvSpPr>
          <p:cNvPr id="9" name="Content Placeholder 8">
            <a:extLst>
              <a:ext uri="{FF2B5EF4-FFF2-40B4-BE49-F238E27FC236}">
                <a16:creationId xmlns:a16="http://schemas.microsoft.com/office/drawing/2014/main" id="{3EBF519C-3FD9-14B2-164E-C24DCA52FEE8}"/>
              </a:ext>
            </a:extLst>
          </p:cNvPr>
          <p:cNvSpPr>
            <a:spLocks noGrp="1"/>
          </p:cNvSpPr>
          <p:nvPr>
            <p:ph sz="half" idx="2"/>
          </p:nvPr>
        </p:nvSpPr>
        <p:spPr/>
        <p:txBody>
          <a:bodyPr>
            <a:normAutofit/>
          </a:bodyPr>
          <a:lstStyle/>
          <a:p>
            <a:pPr algn="r" rtl="1"/>
            <a:r>
              <a:rPr lang="he-IL" sz="2000" b="1" i="1" dirty="0"/>
              <a:t>החולשה המרכזית ביותר</a:t>
            </a:r>
            <a:r>
              <a:rPr lang="he-IL" sz="2000" i="1" dirty="0"/>
              <a:t> במחקר זה היא הטענה לפיתוח מעריך לקיצוניות פוליטית שאמור להיות ללא תלות בהקשר. זוהי טענה בעייתית מיסודה. הקיצוניות הפוליטית היא מושג שמוגדר במהותו יחסית להקשר החברתי-פוליטי הספציפי. מה שנחשב קיצוני בנורבגיה עשוי להיחשב מתון בהונגריה או בישראל.</a:t>
            </a:r>
          </a:p>
          <a:p>
            <a:pPr algn="r" rtl="1"/>
            <a:r>
              <a:rPr lang="he-IL" sz="2000" i="1" dirty="0"/>
              <a:t>הטענה לאוניברסליות כאן מתעלמת מהמורכבות התרבותית והפוליטית. כיצד ניתן למדוד "אידיאולוגיה קיצונית" ללא התייחסות למרחב הפוליטי הלגיטימי במדינה מסוימת? האם תמיכה במדינת רווחה נחשבת קיצונית באמריקה אך מתונה בסקנדינביה?</a:t>
            </a:r>
          </a:p>
          <a:p>
            <a:pPr algn="r" rtl="1"/>
            <a:endParaRPr lang="en-US" sz="2000" dirty="0"/>
          </a:p>
        </p:txBody>
      </p:sp>
      <p:sp>
        <p:nvSpPr>
          <p:cNvPr id="4" name="Slide Number Placeholder 3">
            <a:extLst>
              <a:ext uri="{FF2B5EF4-FFF2-40B4-BE49-F238E27FC236}">
                <a16:creationId xmlns:a16="http://schemas.microsoft.com/office/drawing/2014/main" id="{8E35ED62-4DFE-5A7C-0DCC-E02D99B039F8}"/>
              </a:ext>
            </a:extLst>
          </p:cNvPr>
          <p:cNvSpPr>
            <a:spLocks noGrp="1"/>
          </p:cNvSpPr>
          <p:nvPr>
            <p:ph type="sldNum" sz="quarter" idx="12"/>
          </p:nvPr>
        </p:nvSpPr>
        <p:spPr/>
        <p:txBody>
          <a:bodyPr/>
          <a:lstStyle/>
          <a:p>
            <a:fld id="{704D49E2-C640-4137-BB2F-153E894575C6}" type="slidenum">
              <a:rPr lang="en-US" smtClean="0"/>
              <a:t>30</a:t>
            </a:fld>
            <a:endParaRPr lang="en-US" dirty="0"/>
          </a:p>
        </p:txBody>
      </p:sp>
      <p:pic>
        <p:nvPicPr>
          <p:cNvPr id="10" name="Picture 9" descr="A diagram of a normalized point&#10;&#10;AI-generated content may be incorrect.">
            <a:extLst>
              <a:ext uri="{FF2B5EF4-FFF2-40B4-BE49-F238E27FC236}">
                <a16:creationId xmlns:a16="http://schemas.microsoft.com/office/drawing/2014/main" id="{4E9B8EA9-EA3F-3671-5E52-CDB17CC1D7F3}"/>
              </a:ext>
            </a:extLst>
          </p:cNvPr>
          <p:cNvPicPr>
            <a:picLocks noChangeAspect="1"/>
          </p:cNvPicPr>
          <p:nvPr/>
        </p:nvPicPr>
        <p:blipFill>
          <a:blip r:embed="rId3"/>
          <a:stretch>
            <a:fillRect/>
          </a:stretch>
        </p:blipFill>
        <p:spPr>
          <a:xfrm>
            <a:off x="1067" y="2555790"/>
            <a:ext cx="6171133" cy="3937084"/>
          </a:xfrm>
          <a:prstGeom prst="rect">
            <a:avLst/>
          </a:prstGeom>
        </p:spPr>
      </p:pic>
      <p:cxnSp>
        <p:nvCxnSpPr>
          <p:cNvPr id="11" name="Straight Connector 10">
            <a:extLst>
              <a:ext uri="{FF2B5EF4-FFF2-40B4-BE49-F238E27FC236}">
                <a16:creationId xmlns:a16="http://schemas.microsoft.com/office/drawing/2014/main" id="{7B2BA766-D252-8E41-83F4-5D2A8946A505}"/>
              </a:ext>
            </a:extLst>
          </p:cNvPr>
          <p:cNvCxnSpPr>
            <a:cxnSpLocks/>
          </p:cNvCxnSpPr>
          <p:nvPr/>
        </p:nvCxnSpPr>
        <p:spPr>
          <a:xfrm>
            <a:off x="1914425" y="3429099"/>
            <a:ext cx="0" cy="1637732"/>
          </a:xfrm>
          <a:prstGeom prst="line">
            <a:avLst/>
          </a:prstGeom>
          <a:ln w="38100">
            <a:solidFill>
              <a:srgbClr val="6CCA9E"/>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91B166D7-C7B6-77DE-7523-C4D7480A640E}"/>
              </a:ext>
            </a:extLst>
          </p:cNvPr>
          <p:cNvCxnSpPr>
            <a:cxnSpLocks/>
          </p:cNvCxnSpPr>
          <p:nvPr/>
        </p:nvCxnSpPr>
        <p:spPr>
          <a:xfrm>
            <a:off x="3144998" y="4398090"/>
            <a:ext cx="0" cy="668741"/>
          </a:xfrm>
          <a:prstGeom prst="line">
            <a:avLst/>
          </a:prstGeom>
          <a:ln w="38100">
            <a:solidFill>
              <a:srgbClr val="6CCA9E"/>
            </a:solidFill>
            <a:prstDash val="dash"/>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5E187CBA-EB80-9AB0-1E14-6E77046227BD}"/>
              </a:ext>
            </a:extLst>
          </p:cNvPr>
          <p:cNvCxnSpPr/>
          <p:nvPr/>
        </p:nvCxnSpPr>
        <p:spPr>
          <a:xfrm>
            <a:off x="1682412" y="5178286"/>
            <a:ext cx="232013" cy="0"/>
          </a:xfrm>
          <a:prstGeom prst="straightConnector1">
            <a:avLst/>
          </a:prstGeom>
          <a:ln w="38100">
            <a:solidFill>
              <a:srgbClr val="6CCA9E"/>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6B9875D1-8A33-2C6A-E6C9-C6C36787E147}"/>
              </a:ext>
            </a:extLst>
          </p:cNvPr>
          <p:cNvCxnSpPr/>
          <p:nvPr/>
        </p:nvCxnSpPr>
        <p:spPr>
          <a:xfrm>
            <a:off x="2912985" y="5178286"/>
            <a:ext cx="232013" cy="0"/>
          </a:xfrm>
          <a:prstGeom prst="straightConnector1">
            <a:avLst/>
          </a:prstGeom>
          <a:ln w="38100">
            <a:solidFill>
              <a:srgbClr val="6CCA9E"/>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390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8804F-EFE8-9090-2D9B-EE836485FD49}"/>
              </a:ext>
            </a:extLst>
          </p:cNvPr>
          <p:cNvSpPr>
            <a:spLocks noGrp="1"/>
          </p:cNvSpPr>
          <p:nvPr>
            <p:ph type="title"/>
          </p:nvPr>
        </p:nvSpPr>
        <p:spPr/>
        <p:txBody>
          <a:bodyPr/>
          <a:lstStyle/>
          <a:p>
            <a:r>
              <a:rPr lang="he-IL" dirty="0"/>
              <a:t>עוצמת הזהות הקבוצתית </a:t>
            </a:r>
            <a:endParaRPr lang="en-US" dirty="0"/>
          </a:p>
        </p:txBody>
      </p:sp>
      <p:sp>
        <p:nvSpPr>
          <p:cNvPr id="3" name="Content Placeholder 2">
            <a:extLst>
              <a:ext uri="{FF2B5EF4-FFF2-40B4-BE49-F238E27FC236}">
                <a16:creationId xmlns:a16="http://schemas.microsoft.com/office/drawing/2014/main" id="{34D85DBB-3E9E-C576-F257-E0046677877C}"/>
              </a:ext>
            </a:extLst>
          </p:cNvPr>
          <p:cNvSpPr>
            <a:spLocks noGrp="1"/>
          </p:cNvSpPr>
          <p:nvPr>
            <p:ph sz="half" idx="1"/>
          </p:nvPr>
        </p:nvSpPr>
        <p:spPr/>
        <p:txBody>
          <a:bodyPr/>
          <a:lstStyle/>
          <a:p>
            <a:pPr algn="r" rtl="1"/>
            <a:r>
              <a:rPr lang="he-IL" dirty="0"/>
              <a:t>למרבה הצער, סקר הקיצוניות הפוליטית בו אני משתמש אינו כולל מדדים לרמת חוזק הזהות החברתית של המשיבים (</a:t>
            </a:r>
            <a:r>
              <a:rPr lang="en-US" dirty="0"/>
              <a:t>FUSING</a:t>
            </a:r>
            <a:r>
              <a:rPr lang="he-IL" dirty="0"/>
              <a:t>).</a:t>
            </a:r>
          </a:p>
          <a:p>
            <a:pPr algn="r" rtl="1"/>
            <a:r>
              <a:rPr lang="he-IL" dirty="0"/>
              <a:t>לחלופין, אנו משתמשים בהבנה הכללית לגבי רמת ההזדהות (</a:t>
            </a:r>
            <a:r>
              <a:rPr lang="en-US" dirty="0"/>
              <a:t>FUSING</a:t>
            </a:r>
            <a:r>
              <a:rPr lang="he-IL" dirty="0"/>
              <a:t>) של הקבוצות השונות באוכלוסייה היהודית הישראלית. אנו מגבים הבנה זו בספרות אקדמית.</a:t>
            </a:r>
            <a:endParaRPr lang="en-US" dirty="0"/>
          </a:p>
        </p:txBody>
      </p:sp>
      <p:sp>
        <p:nvSpPr>
          <p:cNvPr id="4" name="Content Placeholder 3">
            <a:extLst>
              <a:ext uri="{FF2B5EF4-FFF2-40B4-BE49-F238E27FC236}">
                <a16:creationId xmlns:a16="http://schemas.microsoft.com/office/drawing/2014/main" id="{7D6A2485-DD81-C5BB-FFF8-E792D4BD9B17}"/>
              </a:ext>
            </a:extLst>
          </p:cNvPr>
          <p:cNvSpPr>
            <a:spLocks noGrp="1"/>
          </p:cNvSpPr>
          <p:nvPr>
            <p:ph sz="half" idx="2"/>
          </p:nvPr>
        </p:nvSpPr>
        <p:spPr/>
        <p:txBody>
          <a:bodyPr/>
          <a:lstStyle/>
          <a:p>
            <a:pPr algn="r" rtl="1"/>
            <a:r>
              <a:rPr lang="he-IL" dirty="0"/>
              <a:t>התיאוריה מדברת על זהות קבוצתית, אך המחקר מתמקד בקבוצות רחבות (דתיים/חילוניים, ימין/שמאל) מבלי לבחון את </a:t>
            </a:r>
            <a:r>
              <a:rPr lang="he-IL" b="1" dirty="0"/>
              <a:t>עוצמת הזהות הקבוצתית</a:t>
            </a:r>
            <a:r>
              <a:rPr lang="he-IL" dirty="0"/>
              <a:t> של הפרטים. </a:t>
            </a:r>
          </a:p>
          <a:p>
            <a:pPr algn="r" rtl="1"/>
            <a:r>
              <a:rPr lang="he-IL" dirty="0"/>
              <a:t>לא כל דתי מזדהה עם הקבוצה הדתית באותה מידה, ולא כל תומך ימין רואה את עצמו כחלק מזהות ימנית קולקטיבית.</a:t>
            </a:r>
            <a:endParaRPr lang="en-US" dirty="0"/>
          </a:p>
        </p:txBody>
      </p:sp>
      <p:sp>
        <p:nvSpPr>
          <p:cNvPr id="5" name="Slide Number Placeholder 4">
            <a:extLst>
              <a:ext uri="{FF2B5EF4-FFF2-40B4-BE49-F238E27FC236}">
                <a16:creationId xmlns:a16="http://schemas.microsoft.com/office/drawing/2014/main" id="{6E517182-59DA-0930-A2AD-5C80ED29D599}"/>
              </a:ext>
            </a:extLst>
          </p:cNvPr>
          <p:cNvSpPr>
            <a:spLocks noGrp="1"/>
          </p:cNvSpPr>
          <p:nvPr>
            <p:ph type="sldNum" sz="quarter" idx="12"/>
          </p:nvPr>
        </p:nvSpPr>
        <p:spPr/>
        <p:txBody>
          <a:bodyPr/>
          <a:lstStyle/>
          <a:p>
            <a:fld id="{704D49E2-C640-4137-BB2F-153E894575C6}" type="slidenum">
              <a:rPr lang="en-US" smtClean="0"/>
              <a:t>31</a:t>
            </a:fld>
            <a:endParaRPr lang="en-US" dirty="0"/>
          </a:p>
        </p:txBody>
      </p:sp>
    </p:spTree>
    <p:extLst>
      <p:ext uri="{BB962C8B-B14F-4D97-AF65-F5344CB8AC3E}">
        <p14:creationId xmlns:p14="http://schemas.microsoft.com/office/powerpoint/2010/main" val="15908292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BBD37-4D51-245B-50AA-6B47B0FFFA39}"/>
              </a:ext>
            </a:extLst>
          </p:cNvPr>
          <p:cNvSpPr>
            <a:spLocks noGrp="1"/>
          </p:cNvSpPr>
          <p:nvPr>
            <p:ph type="title"/>
          </p:nvPr>
        </p:nvSpPr>
        <p:spPr/>
        <p:txBody>
          <a:bodyPr/>
          <a:lstStyle/>
          <a:p>
            <a:pPr rtl="1"/>
            <a:r>
              <a:rPr lang="he-IL" dirty="0"/>
              <a:t>סיבתיות ומשתנים סמויים (</a:t>
            </a:r>
            <a:r>
              <a:rPr lang="en-US" dirty="0"/>
              <a:t>Confounders</a:t>
            </a:r>
            <a:r>
              <a:rPr lang="he-IL" dirty="0"/>
              <a:t>)</a:t>
            </a:r>
            <a:endParaRPr lang="en-US" dirty="0"/>
          </a:p>
        </p:txBody>
      </p:sp>
      <p:sp>
        <p:nvSpPr>
          <p:cNvPr id="3" name="Content Placeholder 2">
            <a:extLst>
              <a:ext uri="{FF2B5EF4-FFF2-40B4-BE49-F238E27FC236}">
                <a16:creationId xmlns:a16="http://schemas.microsoft.com/office/drawing/2014/main" id="{68F929FA-F8DC-E586-A97A-5449BEB918D7}"/>
              </a:ext>
            </a:extLst>
          </p:cNvPr>
          <p:cNvSpPr>
            <a:spLocks noGrp="1"/>
          </p:cNvSpPr>
          <p:nvPr>
            <p:ph sz="half" idx="1"/>
          </p:nvPr>
        </p:nvSpPr>
        <p:spPr/>
        <p:txBody>
          <a:bodyPr/>
          <a:lstStyle/>
          <a:p>
            <a:pPr algn="r" rtl="1"/>
            <a:r>
              <a:rPr lang="he-IL" dirty="0"/>
              <a:t>במרבית האירועים גלי הסקר אינם פאנל ולכן איננו יכולים לבצע הסקה סיבתית</a:t>
            </a:r>
          </a:p>
          <a:p>
            <a:pPr algn="r" rtl="1"/>
            <a:r>
              <a:rPr lang="he-IL" dirty="0"/>
              <a:t>גלים 3-4 (עלית נתניהו לשלטון וההכרזה על המהפכה המשפטית) הם גלי פאנל ואנו עושים אנליזה סיבתית שמחזקת את ההיפותזות שלנו. </a:t>
            </a:r>
          </a:p>
          <a:p>
            <a:pPr algn="r" rtl="1"/>
            <a:r>
              <a:rPr lang="he-IL" dirty="0"/>
              <a:t>על מנת לתקף בצורה סיבתית מלאה את מנגנון ההשפעה של האירועים והקשר לזהות הסוציו-פוליטית יש לערוך ניסוי מבוקר. מחקר כזה מתוכנן ויתבצע כחלק מעבודת הדוקטורט שלי. </a:t>
            </a:r>
            <a:endParaRPr lang="en-US" dirty="0"/>
          </a:p>
        </p:txBody>
      </p:sp>
      <p:sp>
        <p:nvSpPr>
          <p:cNvPr id="4" name="Content Placeholder 3">
            <a:extLst>
              <a:ext uri="{FF2B5EF4-FFF2-40B4-BE49-F238E27FC236}">
                <a16:creationId xmlns:a16="http://schemas.microsoft.com/office/drawing/2014/main" id="{CC21A9C8-5585-9ADE-41C6-F184C4751965}"/>
              </a:ext>
            </a:extLst>
          </p:cNvPr>
          <p:cNvSpPr>
            <a:spLocks noGrp="1"/>
          </p:cNvSpPr>
          <p:nvPr>
            <p:ph sz="half" idx="2"/>
          </p:nvPr>
        </p:nvSpPr>
        <p:spPr/>
        <p:txBody>
          <a:bodyPr/>
          <a:lstStyle/>
          <a:p>
            <a:pPr algn="r" rtl="1"/>
            <a:r>
              <a:rPr lang="he-IL" dirty="0"/>
              <a:t>המחקר מודה שאינו יכול להסיק מסקנות סיבתיות, אך זוהי לא רק מגבלה טכנית - זוהי </a:t>
            </a:r>
            <a:r>
              <a:rPr lang="he-IL" b="1" dirty="0"/>
              <a:t>פגיעה קריטית בתוקף המחקר</a:t>
            </a:r>
            <a:r>
              <a:rPr lang="he-IL" dirty="0"/>
              <a:t>. </a:t>
            </a:r>
          </a:p>
          <a:p>
            <a:pPr algn="r" rtl="1"/>
            <a:r>
              <a:rPr lang="he-IL" dirty="0"/>
              <a:t>ללא יכולת לבודד השפעות סיבתיות, איך נדע אם האירועים גורמים לקיצוניות או שמא קבוצות מסוימות נוטות יותר לקיצוניות ומגיבות חזק יותר לאירועים?</a:t>
            </a:r>
          </a:p>
          <a:p>
            <a:pPr algn="r" rtl="1"/>
            <a:r>
              <a:rPr lang="he-IL" dirty="0"/>
              <a:t>למשל, האם הקבוצה הדתית-אורתודוקסית הופכת קיצונית יותר בגלל האירועים, או שמא היא כבר הייתה קיצונית יותר ופשוט מביעה זאת בצורה חזקה יותר בעתות משבר?</a:t>
            </a:r>
          </a:p>
          <a:p>
            <a:pPr algn="r" rtl="1"/>
            <a:endParaRPr lang="en-US" dirty="0"/>
          </a:p>
        </p:txBody>
      </p:sp>
      <p:sp>
        <p:nvSpPr>
          <p:cNvPr id="5" name="Slide Number Placeholder 4">
            <a:extLst>
              <a:ext uri="{FF2B5EF4-FFF2-40B4-BE49-F238E27FC236}">
                <a16:creationId xmlns:a16="http://schemas.microsoft.com/office/drawing/2014/main" id="{909DF24B-7F0C-A554-7B38-EE74B5345222}"/>
              </a:ext>
            </a:extLst>
          </p:cNvPr>
          <p:cNvSpPr>
            <a:spLocks noGrp="1"/>
          </p:cNvSpPr>
          <p:nvPr>
            <p:ph type="sldNum" sz="quarter" idx="12"/>
          </p:nvPr>
        </p:nvSpPr>
        <p:spPr/>
        <p:txBody>
          <a:bodyPr/>
          <a:lstStyle/>
          <a:p>
            <a:fld id="{704D49E2-C640-4137-BB2F-153E894575C6}" type="slidenum">
              <a:rPr lang="en-US" smtClean="0"/>
              <a:t>32</a:t>
            </a:fld>
            <a:endParaRPr lang="en-US" dirty="0"/>
          </a:p>
        </p:txBody>
      </p:sp>
    </p:spTree>
    <p:extLst>
      <p:ext uri="{BB962C8B-B14F-4D97-AF65-F5344CB8AC3E}">
        <p14:creationId xmlns:p14="http://schemas.microsoft.com/office/powerpoint/2010/main" val="13158543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955AB-7BFC-8384-B3C2-64F0236CFA69}"/>
              </a:ext>
            </a:extLst>
          </p:cNvPr>
          <p:cNvSpPr>
            <a:spLocks noGrp="1"/>
          </p:cNvSpPr>
          <p:nvPr>
            <p:ph type="title"/>
          </p:nvPr>
        </p:nvSpPr>
        <p:spPr/>
        <p:txBody>
          <a:bodyPr/>
          <a:lstStyle/>
          <a:p>
            <a:r>
              <a:rPr lang="he-IL" dirty="0"/>
              <a:t>בחירת האירועים - תוקף פנימי</a:t>
            </a:r>
            <a:endParaRPr lang="en-US" dirty="0"/>
          </a:p>
        </p:txBody>
      </p:sp>
      <p:sp>
        <p:nvSpPr>
          <p:cNvPr id="3" name="Content Placeholder 2">
            <a:extLst>
              <a:ext uri="{FF2B5EF4-FFF2-40B4-BE49-F238E27FC236}">
                <a16:creationId xmlns:a16="http://schemas.microsoft.com/office/drawing/2014/main" id="{445877E0-DA50-1FA9-E173-0E76FBD27600}"/>
              </a:ext>
            </a:extLst>
          </p:cNvPr>
          <p:cNvSpPr>
            <a:spLocks noGrp="1"/>
          </p:cNvSpPr>
          <p:nvPr>
            <p:ph sz="half" idx="1"/>
          </p:nvPr>
        </p:nvSpPr>
        <p:spPr/>
        <p:txBody>
          <a:bodyPr/>
          <a:lstStyle/>
          <a:p>
            <a:pPr algn="r" rtl="1"/>
            <a:r>
              <a:rPr lang="he-IL" dirty="0"/>
              <a:t>ביצענו רישום מפורט של כל האירועים הביטחוניים\פוליטיים בין כל שני גלים ואכן זיהינו אירוע אחד שהינו משמעותי וחזק יותר מכל השאר. </a:t>
            </a:r>
          </a:p>
          <a:p>
            <a:pPr algn="r" rtl="1"/>
            <a:r>
              <a:rPr lang="he-IL" dirty="0"/>
              <a:t>אנחנו עורכים גם השוואה נפרדת בין כל שני גלים וגם השוואה מסכמת (</a:t>
            </a:r>
            <a:r>
              <a:rPr lang="en-US" dirty="0"/>
              <a:t>CUMULATIVE</a:t>
            </a:r>
            <a:r>
              <a:rPr lang="he-IL" dirty="0"/>
              <a:t>) של האירועים לצרכי יתירות. </a:t>
            </a:r>
          </a:p>
          <a:p>
            <a:pPr algn="r" rtl="1"/>
            <a:r>
              <a:rPr lang="he-IL" dirty="0"/>
              <a:t>גלים 3-4 הינם פאנל ובהם ניתן לערוך את ההשוואה בצורה שמראה גם סיבתיות. </a:t>
            </a:r>
            <a:endParaRPr lang="en-US" dirty="0"/>
          </a:p>
        </p:txBody>
      </p:sp>
      <p:sp>
        <p:nvSpPr>
          <p:cNvPr id="4" name="Content Placeholder 3">
            <a:extLst>
              <a:ext uri="{FF2B5EF4-FFF2-40B4-BE49-F238E27FC236}">
                <a16:creationId xmlns:a16="http://schemas.microsoft.com/office/drawing/2014/main" id="{C7038843-A5A1-062B-2CD0-ACC511F91CE4}"/>
              </a:ext>
            </a:extLst>
          </p:cNvPr>
          <p:cNvSpPr>
            <a:spLocks noGrp="1"/>
          </p:cNvSpPr>
          <p:nvPr>
            <p:ph sz="half" idx="2"/>
          </p:nvPr>
        </p:nvSpPr>
        <p:spPr/>
        <p:txBody>
          <a:bodyPr/>
          <a:lstStyle/>
          <a:p>
            <a:pPr algn="r" rtl="1"/>
            <a:r>
              <a:rPr lang="he-IL" dirty="0"/>
              <a:t>המחקר בוחר שישה אירועים ספציפיים בין 2021-2024, אך לא מסביר מדוע דווקא אירועים אלה נבחרו. </a:t>
            </a:r>
          </a:p>
          <a:p>
            <a:pPr algn="r" rtl="1"/>
            <a:r>
              <a:rPr lang="he-IL" b="1" dirty="0"/>
              <a:t>האירועים אינם עצמאיים זה מזה</a:t>
            </a:r>
            <a:r>
              <a:rPr lang="he-IL" dirty="0"/>
              <a:t>. רפורמת המשפט, התפטרות גלנט, ו-7 באוקטובר הם חלק מרצף פוליטי רחב יותר. כיצד ניתן לבודד את השפעתו של כל אירוע בנפרד?</a:t>
            </a:r>
            <a:endParaRPr lang="en-US" dirty="0"/>
          </a:p>
        </p:txBody>
      </p:sp>
      <p:sp>
        <p:nvSpPr>
          <p:cNvPr id="5" name="Slide Number Placeholder 4">
            <a:extLst>
              <a:ext uri="{FF2B5EF4-FFF2-40B4-BE49-F238E27FC236}">
                <a16:creationId xmlns:a16="http://schemas.microsoft.com/office/drawing/2014/main" id="{46C6D8C6-68FE-12D1-8597-C6E853EE43BE}"/>
              </a:ext>
            </a:extLst>
          </p:cNvPr>
          <p:cNvSpPr>
            <a:spLocks noGrp="1"/>
          </p:cNvSpPr>
          <p:nvPr>
            <p:ph type="sldNum" sz="quarter" idx="12"/>
          </p:nvPr>
        </p:nvSpPr>
        <p:spPr/>
        <p:txBody>
          <a:bodyPr/>
          <a:lstStyle/>
          <a:p>
            <a:fld id="{704D49E2-C640-4137-BB2F-153E894575C6}" type="slidenum">
              <a:rPr lang="en-US" smtClean="0"/>
              <a:t>33</a:t>
            </a:fld>
            <a:endParaRPr lang="en-US" dirty="0"/>
          </a:p>
        </p:txBody>
      </p:sp>
    </p:spTree>
    <p:extLst>
      <p:ext uri="{BB962C8B-B14F-4D97-AF65-F5344CB8AC3E}">
        <p14:creationId xmlns:p14="http://schemas.microsoft.com/office/powerpoint/2010/main" val="22845404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19D9B-36D1-0CC3-E1C1-4278B20F8922}"/>
              </a:ext>
            </a:extLst>
          </p:cNvPr>
          <p:cNvSpPr>
            <a:spLocks noGrp="1"/>
          </p:cNvSpPr>
          <p:nvPr>
            <p:ph type="title"/>
          </p:nvPr>
        </p:nvSpPr>
        <p:spPr/>
        <p:txBody>
          <a:bodyPr/>
          <a:lstStyle/>
          <a:p>
            <a:pPr rtl="1"/>
            <a:r>
              <a:rPr lang="he-IL" dirty="0"/>
              <a:t>אוכלוסייה ישראלית יהודית - תוקף חיצוני</a:t>
            </a:r>
            <a:endParaRPr lang="en-US" dirty="0"/>
          </a:p>
        </p:txBody>
      </p:sp>
      <p:sp>
        <p:nvSpPr>
          <p:cNvPr id="3" name="Content Placeholder 2">
            <a:extLst>
              <a:ext uri="{FF2B5EF4-FFF2-40B4-BE49-F238E27FC236}">
                <a16:creationId xmlns:a16="http://schemas.microsoft.com/office/drawing/2014/main" id="{AAD63A2F-CF24-CB64-B257-35D4098BBE7C}"/>
              </a:ext>
            </a:extLst>
          </p:cNvPr>
          <p:cNvSpPr>
            <a:spLocks noGrp="1"/>
          </p:cNvSpPr>
          <p:nvPr>
            <p:ph sz="half" idx="1"/>
          </p:nvPr>
        </p:nvSpPr>
        <p:spPr/>
        <p:txBody>
          <a:bodyPr>
            <a:normAutofit lnSpcReduction="10000"/>
          </a:bodyPr>
          <a:lstStyle/>
          <a:p>
            <a:pPr algn="r" rtl="1"/>
            <a:r>
              <a:rPr lang="he-IL" dirty="0"/>
              <a:t>מה שהופך את ישראל להקשר מחקרי בעל ערך מיוחד הוא מעמדה כחברה מפותחת, משכילה ודמוקרטית המגיבה לאיומים יוצאי דופן, עוצמתיים, ושונים, וכל זאת תוך פרק זמן קצר יחסית.</a:t>
            </a:r>
          </a:p>
          <a:p>
            <a:pPr algn="r" rtl="1"/>
            <a:r>
              <a:rPr lang="he-IL" dirty="0"/>
              <a:t>מדינת ישראל נבנתה במשך השנים על ידי גלי עליה ובשל כך מכילה קבוצות שונות על בסיס אתני, דתי, ופוליטי. מרביתן של קבוצות אלו הינן בעלות מאפיינים מובהקים שמאפשרים מחקר השוואתי מעמיק. </a:t>
            </a:r>
            <a:endParaRPr lang="en-US" dirty="0"/>
          </a:p>
          <a:p>
            <a:pPr algn="r" rtl="1"/>
            <a:r>
              <a:rPr lang="he-IL" dirty="0"/>
              <a:t>ישראל יוצרת מעבדה ייחודית שבה ניתן לתרגם את מסקנות המחקר לדמוקרטיות מתקדמות אחרות.</a:t>
            </a:r>
            <a:endParaRPr lang="en-US" dirty="0"/>
          </a:p>
          <a:p>
            <a:pPr algn="r" rtl="1"/>
            <a:r>
              <a:rPr lang="he-IL" dirty="0"/>
              <a:t>מחקרי המשך מתוכננים שואפים לאמת את מדד הקיצוניות הפוליטית באופן בינלאומי. במסגרת זאת אני מתכננים לבצע מחקר השוואתי בין מדינות ולהרחיב את הניתוח לאוכלוסיות נוספות, במיוחד בהקשרים של ארצות הברית ואירופה.</a:t>
            </a:r>
            <a:endParaRPr lang="en-US" dirty="0"/>
          </a:p>
        </p:txBody>
      </p:sp>
      <p:sp>
        <p:nvSpPr>
          <p:cNvPr id="4" name="Content Placeholder 3">
            <a:extLst>
              <a:ext uri="{FF2B5EF4-FFF2-40B4-BE49-F238E27FC236}">
                <a16:creationId xmlns:a16="http://schemas.microsoft.com/office/drawing/2014/main" id="{19545855-5801-E5B1-53D9-FE34189F4BF2}"/>
              </a:ext>
            </a:extLst>
          </p:cNvPr>
          <p:cNvSpPr>
            <a:spLocks noGrp="1"/>
          </p:cNvSpPr>
          <p:nvPr>
            <p:ph sz="half" idx="2"/>
          </p:nvPr>
        </p:nvSpPr>
        <p:spPr/>
        <p:txBody>
          <a:bodyPr>
            <a:normAutofit lnSpcReduction="10000"/>
          </a:bodyPr>
          <a:lstStyle/>
          <a:p>
            <a:pPr algn="r" rtl="1"/>
            <a:r>
              <a:rPr lang="he-IL" dirty="0"/>
              <a:t>המחקר מתמקד רק באוכלוסייה יהודית בישראל. </a:t>
            </a:r>
            <a:endParaRPr lang="en-US" dirty="0"/>
          </a:p>
          <a:p>
            <a:pPr algn="r" rtl="1"/>
            <a:r>
              <a:rPr lang="he-IL" dirty="0"/>
              <a:t>כיצד ניתן לטעון לתוקף של ה"</a:t>
            </a:r>
            <a:r>
              <a:rPr lang="en-US" dirty="0"/>
              <a:t>Political Extremism Gauge" </a:t>
            </a:r>
            <a:r>
              <a:rPr lang="he-IL" dirty="0"/>
              <a:t> אם הוא נבדק רק על אוכלוסייה אחת במדינה אחת עם הקשר פוליטי ייחודי?</a:t>
            </a:r>
            <a:endParaRPr lang="en-US" dirty="0"/>
          </a:p>
        </p:txBody>
      </p:sp>
      <p:sp>
        <p:nvSpPr>
          <p:cNvPr id="5" name="Slide Number Placeholder 4">
            <a:extLst>
              <a:ext uri="{FF2B5EF4-FFF2-40B4-BE49-F238E27FC236}">
                <a16:creationId xmlns:a16="http://schemas.microsoft.com/office/drawing/2014/main" id="{AF7DB5D7-776E-4A22-0B8F-AA0937FB8E81}"/>
              </a:ext>
            </a:extLst>
          </p:cNvPr>
          <p:cNvSpPr>
            <a:spLocks noGrp="1"/>
          </p:cNvSpPr>
          <p:nvPr>
            <p:ph type="sldNum" sz="quarter" idx="12"/>
          </p:nvPr>
        </p:nvSpPr>
        <p:spPr/>
        <p:txBody>
          <a:bodyPr/>
          <a:lstStyle/>
          <a:p>
            <a:fld id="{704D49E2-C640-4137-BB2F-153E894575C6}" type="slidenum">
              <a:rPr lang="en-US" smtClean="0"/>
              <a:t>34</a:t>
            </a:fld>
            <a:endParaRPr lang="en-US" dirty="0"/>
          </a:p>
        </p:txBody>
      </p:sp>
    </p:spTree>
    <p:extLst>
      <p:ext uri="{BB962C8B-B14F-4D97-AF65-F5344CB8AC3E}">
        <p14:creationId xmlns:p14="http://schemas.microsoft.com/office/powerpoint/2010/main" val="5164751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itle 172">
            <a:extLst>
              <a:ext uri="{FF2B5EF4-FFF2-40B4-BE49-F238E27FC236}">
                <a16:creationId xmlns:a16="http://schemas.microsoft.com/office/drawing/2014/main" id="{FD312AB0-7D3E-5768-5B07-8533C1D44A1F}"/>
              </a:ext>
            </a:extLst>
          </p:cNvPr>
          <p:cNvSpPr>
            <a:spLocks noGrp="1"/>
          </p:cNvSpPr>
          <p:nvPr>
            <p:ph type="title"/>
          </p:nvPr>
        </p:nvSpPr>
        <p:spPr>
          <a:xfrm>
            <a:off x="838200" y="365126"/>
            <a:ext cx="10515600" cy="638922"/>
          </a:xfrm>
        </p:spPr>
        <p:txBody>
          <a:bodyPr>
            <a:normAutofit/>
          </a:bodyPr>
          <a:lstStyle/>
          <a:p>
            <a:r>
              <a:rPr lang="en-US" dirty="0"/>
              <a:t>Political Extremism Gauge</a:t>
            </a:r>
          </a:p>
        </p:txBody>
      </p:sp>
      <p:sp>
        <p:nvSpPr>
          <p:cNvPr id="174" name="Content Placeholder 173">
            <a:extLst>
              <a:ext uri="{FF2B5EF4-FFF2-40B4-BE49-F238E27FC236}">
                <a16:creationId xmlns:a16="http://schemas.microsoft.com/office/drawing/2014/main" id="{236967AA-12DA-06B4-5A96-5F7B930512C3}"/>
              </a:ext>
            </a:extLst>
          </p:cNvPr>
          <p:cNvSpPr>
            <a:spLocks noGrp="1"/>
          </p:cNvSpPr>
          <p:nvPr>
            <p:ph idx="1"/>
          </p:nvPr>
        </p:nvSpPr>
        <p:spPr>
          <a:xfrm>
            <a:off x="838201" y="1120775"/>
            <a:ext cx="4124121" cy="5056188"/>
          </a:xfrm>
        </p:spPr>
        <p:txBody>
          <a:bodyPr>
            <a:normAutofit fontScale="92500" lnSpcReduction="20000"/>
          </a:bodyPr>
          <a:lstStyle/>
          <a:p>
            <a:r>
              <a:rPr lang="en-US" dirty="0"/>
              <a:t>Median Point</a:t>
            </a:r>
          </a:p>
          <a:p>
            <a:pPr lvl="1"/>
            <a:r>
              <a:rPr lang="en-US" dirty="0"/>
              <a:t>Population median</a:t>
            </a:r>
          </a:p>
          <a:p>
            <a:pPr lvl="1"/>
            <a:r>
              <a:rPr lang="en-US" dirty="0"/>
              <a:t>Absolute* measure</a:t>
            </a:r>
          </a:p>
          <a:p>
            <a:pPr lvl="1"/>
            <a:r>
              <a:rPr lang="en-US" dirty="0"/>
              <a:t>Can be used to compare norms across countries/times</a:t>
            </a:r>
          </a:p>
          <a:p>
            <a:r>
              <a:rPr lang="en-US" dirty="0"/>
              <a:t>Extremism Point </a:t>
            </a:r>
          </a:p>
          <a:p>
            <a:pPr lvl="1"/>
            <a:r>
              <a:rPr lang="en-US" dirty="0"/>
              <a:t>Normative Point + one MAD</a:t>
            </a:r>
          </a:p>
          <a:p>
            <a:pPr lvl="1"/>
            <a:r>
              <a:rPr lang="en-US" dirty="0"/>
              <a:t>Absolute measure</a:t>
            </a:r>
          </a:p>
          <a:p>
            <a:r>
              <a:rPr lang="en-US" dirty="0"/>
              <a:t>Extremism Level</a:t>
            </a:r>
          </a:p>
          <a:p>
            <a:pPr lvl="1"/>
            <a:r>
              <a:rPr lang="en-US" dirty="0"/>
              <a:t>Distance of the extremism point to the zero point</a:t>
            </a:r>
          </a:p>
          <a:p>
            <a:pPr lvl="1"/>
            <a:r>
              <a:rPr lang="en-US" dirty="0"/>
              <a:t>Absolute measure</a:t>
            </a:r>
          </a:p>
          <a:p>
            <a:r>
              <a:rPr lang="en-US" dirty="0"/>
              <a:t>Extremism Rank: ER1,ER2,ER3</a:t>
            </a:r>
          </a:p>
          <a:p>
            <a:pPr lvl="1"/>
            <a:r>
              <a:rPr lang="en-US" dirty="0"/>
              <a:t>Percentage of respondents that have a higher ranking than the Extremism Point in at least one / two / three dimensions</a:t>
            </a:r>
          </a:p>
          <a:p>
            <a:pPr lvl="1"/>
            <a:r>
              <a:rPr lang="en-US" dirty="0"/>
              <a:t>Relative measure </a:t>
            </a:r>
          </a:p>
          <a:p>
            <a:endParaRPr lang="en-US" dirty="0"/>
          </a:p>
        </p:txBody>
      </p:sp>
      <p:grpSp>
        <p:nvGrpSpPr>
          <p:cNvPr id="77" name="Group 76">
            <a:extLst>
              <a:ext uri="{FF2B5EF4-FFF2-40B4-BE49-F238E27FC236}">
                <a16:creationId xmlns:a16="http://schemas.microsoft.com/office/drawing/2014/main" id="{05D4F61F-206A-C14E-F5A6-AA13A086B5C6}"/>
              </a:ext>
            </a:extLst>
          </p:cNvPr>
          <p:cNvGrpSpPr/>
          <p:nvPr/>
        </p:nvGrpSpPr>
        <p:grpSpPr>
          <a:xfrm>
            <a:off x="5379340" y="1120775"/>
            <a:ext cx="5153022" cy="5104472"/>
            <a:chOff x="6696076" y="1120775"/>
            <a:chExt cx="5153022" cy="5104472"/>
          </a:xfrm>
        </p:grpSpPr>
        <p:grpSp>
          <p:nvGrpSpPr>
            <p:cNvPr id="9" name="Group 8">
              <a:extLst>
                <a:ext uri="{FF2B5EF4-FFF2-40B4-BE49-F238E27FC236}">
                  <a16:creationId xmlns:a16="http://schemas.microsoft.com/office/drawing/2014/main" id="{1F96B408-76D1-7964-1AD9-20266E3C3A74}"/>
                </a:ext>
              </a:extLst>
            </p:cNvPr>
            <p:cNvGrpSpPr/>
            <p:nvPr/>
          </p:nvGrpSpPr>
          <p:grpSpPr>
            <a:xfrm>
              <a:off x="6696076" y="1120775"/>
              <a:ext cx="5153022" cy="5104472"/>
              <a:chOff x="6696076" y="1120775"/>
              <a:chExt cx="5153022" cy="5104472"/>
            </a:xfrm>
          </p:grpSpPr>
          <p:grpSp>
            <p:nvGrpSpPr>
              <p:cNvPr id="10" name="Group 9">
                <a:extLst>
                  <a:ext uri="{FF2B5EF4-FFF2-40B4-BE49-F238E27FC236}">
                    <a16:creationId xmlns:a16="http://schemas.microsoft.com/office/drawing/2014/main" id="{F8D4914F-F435-7931-A479-645D5AD856D0}"/>
                  </a:ext>
                </a:extLst>
              </p:cNvPr>
              <p:cNvGrpSpPr/>
              <p:nvPr/>
            </p:nvGrpSpPr>
            <p:grpSpPr>
              <a:xfrm>
                <a:off x="6696076" y="1120775"/>
                <a:ext cx="5153022" cy="5104472"/>
                <a:chOff x="6667501" y="1172503"/>
                <a:chExt cx="5153022" cy="5104472"/>
              </a:xfrm>
            </p:grpSpPr>
            <p:sp>
              <p:nvSpPr>
                <p:cNvPr id="14" name="Rectangle 13">
                  <a:extLst>
                    <a:ext uri="{FF2B5EF4-FFF2-40B4-BE49-F238E27FC236}">
                      <a16:creationId xmlns:a16="http://schemas.microsoft.com/office/drawing/2014/main" id="{2B4DCD1F-DB22-6C42-16B2-BF0B0E6C6AEB}"/>
                    </a:ext>
                  </a:extLst>
                </p:cNvPr>
                <p:cNvSpPr/>
                <p:nvPr/>
              </p:nvSpPr>
              <p:spPr>
                <a:xfrm>
                  <a:off x="6667501" y="1172503"/>
                  <a:ext cx="5153022" cy="5104472"/>
                </a:xfrm>
                <a:prstGeom prst="rect">
                  <a:avLst/>
                </a:prstGeom>
                <a:solidFill>
                  <a:srgbClr val="F5F5F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6985C436-24D1-B8DE-565D-CB72586F8494}"/>
                    </a:ext>
                  </a:extLst>
                </p:cNvPr>
                <p:cNvGrpSpPr/>
                <p:nvPr/>
              </p:nvGrpSpPr>
              <p:grpSpPr>
                <a:xfrm>
                  <a:off x="6781545" y="1336486"/>
                  <a:ext cx="4413132" cy="4507409"/>
                  <a:chOff x="6379938" y="1498411"/>
                  <a:chExt cx="4413132" cy="4507409"/>
                </a:xfrm>
              </p:grpSpPr>
              <p:sp>
                <p:nvSpPr>
                  <p:cNvPr id="16" name="Cube 15">
                    <a:extLst>
                      <a:ext uri="{FF2B5EF4-FFF2-40B4-BE49-F238E27FC236}">
                        <a16:creationId xmlns:a16="http://schemas.microsoft.com/office/drawing/2014/main" id="{843CC368-A047-E318-C50A-AEA521A8C980}"/>
                      </a:ext>
                    </a:extLst>
                  </p:cNvPr>
                  <p:cNvSpPr/>
                  <p:nvPr/>
                </p:nvSpPr>
                <p:spPr>
                  <a:xfrm>
                    <a:off x="9319602" y="1996524"/>
                    <a:ext cx="1212024" cy="1083928"/>
                  </a:xfrm>
                  <a:prstGeom prst="cube">
                    <a:avLst>
                      <a:gd name="adj" fmla="val 76136"/>
                    </a:avLst>
                  </a:prstGeom>
                  <a:solidFill>
                    <a:srgbClr val="FF0000">
                      <a:alpha val="20000"/>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ube 16">
                    <a:extLst>
                      <a:ext uri="{FF2B5EF4-FFF2-40B4-BE49-F238E27FC236}">
                        <a16:creationId xmlns:a16="http://schemas.microsoft.com/office/drawing/2014/main" id="{E66971C4-7071-A186-4A00-383145433F5C}"/>
                      </a:ext>
                    </a:extLst>
                  </p:cNvPr>
                  <p:cNvSpPr/>
                  <p:nvPr/>
                </p:nvSpPr>
                <p:spPr>
                  <a:xfrm>
                    <a:off x="10065899" y="1994440"/>
                    <a:ext cx="475384" cy="2663960"/>
                  </a:xfrm>
                  <a:prstGeom prst="cube">
                    <a:avLst/>
                  </a:prstGeom>
                  <a:solidFill>
                    <a:srgbClr val="FF0000">
                      <a:alpha val="20000"/>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D943B4FB-40F4-49E5-883A-A2DB7EEE6A0F}"/>
                      </a:ext>
                    </a:extLst>
                  </p:cNvPr>
                  <p:cNvGrpSpPr/>
                  <p:nvPr/>
                </p:nvGrpSpPr>
                <p:grpSpPr>
                  <a:xfrm>
                    <a:off x="7517543" y="1987950"/>
                    <a:ext cx="1719621" cy="1700874"/>
                    <a:chOff x="5198251" y="1335215"/>
                    <a:chExt cx="1719621" cy="1700874"/>
                  </a:xfrm>
                </p:grpSpPr>
                <p:sp>
                  <p:nvSpPr>
                    <p:cNvPr id="68" name="Cube 67">
                      <a:extLst>
                        <a:ext uri="{FF2B5EF4-FFF2-40B4-BE49-F238E27FC236}">
                          <a16:creationId xmlns:a16="http://schemas.microsoft.com/office/drawing/2014/main" id="{E2B04FA8-3617-5F47-DAED-5E58F05EC8AD}"/>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356933F0-EDCC-4061-107E-1789D6EEEF02}"/>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6" name="Straight Connector 75">
                      <a:extLst>
                        <a:ext uri="{FF2B5EF4-FFF2-40B4-BE49-F238E27FC236}">
                          <a16:creationId xmlns:a16="http://schemas.microsoft.com/office/drawing/2014/main" id="{16B9C21E-993A-89D6-7592-B0B46A297316}"/>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78DE8AC2-8903-F6B0-F035-D55A17CD6BB3}"/>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FB626551-B5F7-F2B9-1ED3-03BB01A7E927}"/>
                      </a:ext>
                    </a:extLst>
                  </p:cNvPr>
                  <p:cNvGrpSpPr/>
                  <p:nvPr/>
                </p:nvGrpSpPr>
                <p:grpSpPr>
                  <a:xfrm>
                    <a:off x="7100180" y="2404281"/>
                    <a:ext cx="1719621" cy="1700874"/>
                    <a:chOff x="5198251" y="1335215"/>
                    <a:chExt cx="1719621" cy="1700874"/>
                  </a:xfrm>
                </p:grpSpPr>
                <p:sp>
                  <p:nvSpPr>
                    <p:cNvPr id="64" name="Cube 63">
                      <a:extLst>
                        <a:ext uri="{FF2B5EF4-FFF2-40B4-BE49-F238E27FC236}">
                          <a16:creationId xmlns:a16="http://schemas.microsoft.com/office/drawing/2014/main" id="{EAFFC327-866D-FAD3-B335-013D32B65CBA}"/>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Connector 64">
                      <a:extLst>
                        <a:ext uri="{FF2B5EF4-FFF2-40B4-BE49-F238E27FC236}">
                          <a16:creationId xmlns:a16="http://schemas.microsoft.com/office/drawing/2014/main" id="{8C91D5BB-7EBB-ABEB-7C7C-528CB26F6EA8}"/>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315621E3-E6F2-5411-24E6-1962F82822E7}"/>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C67D9682-F3E5-DA4C-8EE6-473AF841208A}"/>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97316B9F-AAC3-53D9-7C44-CC0156B077F0}"/>
                      </a:ext>
                    </a:extLst>
                  </p:cNvPr>
                  <p:cNvGrpSpPr/>
                  <p:nvPr/>
                </p:nvGrpSpPr>
                <p:grpSpPr>
                  <a:xfrm>
                    <a:off x="8816475" y="1986348"/>
                    <a:ext cx="1719621" cy="1700874"/>
                    <a:chOff x="5198251" y="1335215"/>
                    <a:chExt cx="1719621" cy="1700874"/>
                  </a:xfrm>
                </p:grpSpPr>
                <p:sp>
                  <p:nvSpPr>
                    <p:cNvPr id="60" name="Cube 59">
                      <a:extLst>
                        <a:ext uri="{FF2B5EF4-FFF2-40B4-BE49-F238E27FC236}">
                          <a16:creationId xmlns:a16="http://schemas.microsoft.com/office/drawing/2014/main" id="{B663BD4B-D005-CB04-69F1-C8C093A03491}"/>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a:extLst>
                        <a:ext uri="{FF2B5EF4-FFF2-40B4-BE49-F238E27FC236}">
                          <a16:creationId xmlns:a16="http://schemas.microsoft.com/office/drawing/2014/main" id="{8FFB93B8-27C9-64C0-9A2D-2A54FD23A1CF}"/>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2689D766-025F-F3BA-8E33-53BB14BAE82A}"/>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06D52606-7F69-2921-3469-30C5BF70FFD5}"/>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1" name="Group 20">
                    <a:extLst>
                      <a:ext uri="{FF2B5EF4-FFF2-40B4-BE49-F238E27FC236}">
                        <a16:creationId xmlns:a16="http://schemas.microsoft.com/office/drawing/2014/main" id="{7F981B39-2BD3-11D5-2884-B69DC765B54C}"/>
                      </a:ext>
                    </a:extLst>
                  </p:cNvPr>
                  <p:cNvGrpSpPr/>
                  <p:nvPr/>
                </p:nvGrpSpPr>
                <p:grpSpPr>
                  <a:xfrm>
                    <a:off x="8399112" y="2402679"/>
                    <a:ext cx="1719621" cy="1700874"/>
                    <a:chOff x="5198251" y="1335215"/>
                    <a:chExt cx="1719621" cy="1700874"/>
                  </a:xfrm>
                </p:grpSpPr>
                <p:sp>
                  <p:nvSpPr>
                    <p:cNvPr id="56" name="Cube 55">
                      <a:extLst>
                        <a:ext uri="{FF2B5EF4-FFF2-40B4-BE49-F238E27FC236}">
                          <a16:creationId xmlns:a16="http://schemas.microsoft.com/office/drawing/2014/main" id="{767F71BD-2E9A-3252-2ECE-9724F284C5C2}"/>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42C2DD4E-A54B-97B5-5507-5EC5A53BFFFF}"/>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C8D293E0-3C98-CB8D-A012-254DF2F2AFDD}"/>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A35B3E2C-A3AC-9C6D-67DF-467CBABCAECF}"/>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2" name="Group 21">
                    <a:extLst>
                      <a:ext uri="{FF2B5EF4-FFF2-40B4-BE49-F238E27FC236}">
                        <a16:creationId xmlns:a16="http://schemas.microsoft.com/office/drawing/2014/main" id="{B34B95E4-67EC-5A28-C1AC-2BCFDA46F2F0}"/>
                      </a:ext>
                    </a:extLst>
                  </p:cNvPr>
                  <p:cNvGrpSpPr/>
                  <p:nvPr/>
                </p:nvGrpSpPr>
                <p:grpSpPr>
                  <a:xfrm>
                    <a:off x="7515889" y="3260063"/>
                    <a:ext cx="1719621" cy="1700874"/>
                    <a:chOff x="5198251" y="1335215"/>
                    <a:chExt cx="1719621" cy="1700874"/>
                  </a:xfrm>
                </p:grpSpPr>
                <p:sp>
                  <p:nvSpPr>
                    <p:cNvPr id="52" name="Cube 51">
                      <a:extLst>
                        <a:ext uri="{FF2B5EF4-FFF2-40B4-BE49-F238E27FC236}">
                          <a16:creationId xmlns:a16="http://schemas.microsoft.com/office/drawing/2014/main" id="{C8BDFFE4-BB50-716A-9311-74BF96E5E1FC}"/>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Connector 52">
                      <a:extLst>
                        <a:ext uri="{FF2B5EF4-FFF2-40B4-BE49-F238E27FC236}">
                          <a16:creationId xmlns:a16="http://schemas.microsoft.com/office/drawing/2014/main" id="{613C7F76-E99E-C50B-13AB-5CFB37982697}"/>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0DC45BE4-EDF9-B4FE-CA15-A4A86CF390AE}"/>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FC0DD685-2C33-6B4C-2269-94DC9C429A81}"/>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C69118ED-DE51-4EB2-BFF8-1FD5AEF12BFC}"/>
                      </a:ext>
                    </a:extLst>
                  </p:cNvPr>
                  <p:cNvGrpSpPr/>
                  <p:nvPr/>
                </p:nvGrpSpPr>
                <p:grpSpPr>
                  <a:xfrm>
                    <a:off x="7098526" y="3676394"/>
                    <a:ext cx="1719621" cy="1700874"/>
                    <a:chOff x="5198251" y="1335215"/>
                    <a:chExt cx="1719621" cy="1700874"/>
                  </a:xfrm>
                </p:grpSpPr>
                <p:sp>
                  <p:nvSpPr>
                    <p:cNvPr id="48" name="Cube 47">
                      <a:extLst>
                        <a:ext uri="{FF2B5EF4-FFF2-40B4-BE49-F238E27FC236}">
                          <a16:creationId xmlns:a16="http://schemas.microsoft.com/office/drawing/2014/main" id="{D92F6EE3-B4F0-0DB2-7042-F949AFB66F51}"/>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9" name="Straight Connector 48">
                      <a:extLst>
                        <a:ext uri="{FF2B5EF4-FFF2-40B4-BE49-F238E27FC236}">
                          <a16:creationId xmlns:a16="http://schemas.microsoft.com/office/drawing/2014/main" id="{C7A08775-91A9-69B4-CE32-40F207641B99}"/>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2CC50D6A-A3BB-7A7D-2AD2-9B1D59B1D377}"/>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71643226-118B-1AC2-E61A-5BC0713A8F20}"/>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4" name="Group 23">
                    <a:extLst>
                      <a:ext uri="{FF2B5EF4-FFF2-40B4-BE49-F238E27FC236}">
                        <a16:creationId xmlns:a16="http://schemas.microsoft.com/office/drawing/2014/main" id="{1A8A3468-37C6-2745-4D49-17CEAA0A00B8}"/>
                      </a:ext>
                    </a:extLst>
                  </p:cNvPr>
                  <p:cNvGrpSpPr/>
                  <p:nvPr/>
                </p:nvGrpSpPr>
                <p:grpSpPr>
                  <a:xfrm>
                    <a:off x="8814821" y="3258461"/>
                    <a:ext cx="1719621" cy="1700874"/>
                    <a:chOff x="5198251" y="1335215"/>
                    <a:chExt cx="1719621" cy="1700874"/>
                  </a:xfrm>
                </p:grpSpPr>
                <p:sp>
                  <p:nvSpPr>
                    <p:cNvPr id="44" name="Cube 43">
                      <a:extLst>
                        <a:ext uri="{FF2B5EF4-FFF2-40B4-BE49-F238E27FC236}">
                          <a16:creationId xmlns:a16="http://schemas.microsoft.com/office/drawing/2014/main" id="{F6FC8D2B-D9E1-AA25-3279-958AA62A722D}"/>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92676CDA-F8FB-4B26-7997-7B7ACACF0FC6}"/>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304BA8C6-113D-7134-AC9B-CBFC3D74B43D}"/>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07A4F94F-F5D8-A11D-670A-000D6B1F0C93}"/>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488D1882-E214-9CC7-7059-B3F2C62C750C}"/>
                      </a:ext>
                    </a:extLst>
                  </p:cNvPr>
                  <p:cNvGrpSpPr/>
                  <p:nvPr/>
                </p:nvGrpSpPr>
                <p:grpSpPr>
                  <a:xfrm>
                    <a:off x="8397458" y="3674792"/>
                    <a:ext cx="1719621" cy="1700874"/>
                    <a:chOff x="5198251" y="1335215"/>
                    <a:chExt cx="1719621" cy="1700874"/>
                  </a:xfrm>
                </p:grpSpPr>
                <p:sp>
                  <p:nvSpPr>
                    <p:cNvPr id="40" name="Cube 39">
                      <a:extLst>
                        <a:ext uri="{FF2B5EF4-FFF2-40B4-BE49-F238E27FC236}">
                          <a16:creationId xmlns:a16="http://schemas.microsoft.com/office/drawing/2014/main" id="{44546897-2F9B-BE7F-3B26-DDD991C929D1}"/>
                        </a:ext>
                      </a:extLst>
                    </p:cNvPr>
                    <p:cNvSpPr/>
                    <p:nvPr/>
                  </p:nvSpPr>
                  <p:spPr>
                    <a:xfrm>
                      <a:off x="5198268" y="1337597"/>
                      <a:ext cx="1719604" cy="1698492"/>
                    </a:xfrm>
                    <a:prstGeom prst="cube">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8C270D2D-E946-DBD7-F718-3749248F7724}"/>
                        </a:ext>
                      </a:extLst>
                    </p:cNvPr>
                    <p:cNvCxnSpPr>
                      <a:cxnSpLocks/>
                    </p:cNvCxnSpPr>
                    <p:nvPr/>
                  </p:nvCxnSpPr>
                  <p:spPr>
                    <a:xfrm>
                      <a:off x="5622458" y="1335215"/>
                      <a:ext cx="0" cy="1277016"/>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DC7406F-BBB8-51DC-0ECD-E7958CD60650}"/>
                        </a:ext>
                      </a:extLst>
                    </p:cNvPr>
                    <p:cNvCxnSpPr/>
                    <p:nvPr/>
                  </p:nvCxnSpPr>
                  <p:spPr>
                    <a:xfrm flipH="1">
                      <a:off x="5622131" y="2614609"/>
                      <a:ext cx="1295401" cy="0"/>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701C6AD5-0B33-DBF5-81B8-5280D91960E0}"/>
                        </a:ext>
                      </a:extLst>
                    </p:cNvPr>
                    <p:cNvCxnSpPr/>
                    <p:nvPr/>
                  </p:nvCxnSpPr>
                  <p:spPr>
                    <a:xfrm flipH="1">
                      <a:off x="5198251" y="2612231"/>
                      <a:ext cx="423863" cy="4238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6" name="Cube 25">
                    <a:extLst>
                      <a:ext uri="{FF2B5EF4-FFF2-40B4-BE49-F238E27FC236}">
                        <a16:creationId xmlns:a16="http://schemas.microsoft.com/office/drawing/2014/main" id="{A1BE248A-AE4B-C514-AD72-30EEE42484FB}"/>
                      </a:ext>
                    </a:extLst>
                  </p:cNvPr>
                  <p:cNvSpPr/>
                  <p:nvPr/>
                </p:nvSpPr>
                <p:spPr>
                  <a:xfrm>
                    <a:off x="7814099" y="1991674"/>
                    <a:ext cx="2711910" cy="350920"/>
                  </a:xfrm>
                  <a:prstGeom prst="cube">
                    <a:avLst/>
                  </a:prstGeom>
                  <a:solidFill>
                    <a:srgbClr val="FF0000">
                      <a:alpha val="20000"/>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7AD38768-6B7B-835F-D086-30B7BCE31B07}"/>
                      </a:ext>
                    </a:extLst>
                  </p:cNvPr>
                  <p:cNvGrpSpPr/>
                  <p:nvPr/>
                </p:nvGrpSpPr>
                <p:grpSpPr>
                  <a:xfrm>
                    <a:off x="10052861" y="1983582"/>
                    <a:ext cx="475384" cy="350921"/>
                    <a:chOff x="443049" y="354140"/>
                    <a:chExt cx="1338126" cy="1304925"/>
                  </a:xfrm>
                  <a:solidFill>
                    <a:srgbClr val="FF0000"/>
                  </a:solidFill>
                </p:grpSpPr>
                <p:sp>
                  <p:nvSpPr>
                    <p:cNvPr id="36" name="Cube 35">
                      <a:extLst>
                        <a:ext uri="{FF2B5EF4-FFF2-40B4-BE49-F238E27FC236}">
                          <a16:creationId xmlns:a16="http://schemas.microsoft.com/office/drawing/2014/main" id="{C7202F79-5403-FA27-4B96-0DE39290CB05}"/>
                        </a:ext>
                      </a:extLst>
                    </p:cNvPr>
                    <p:cNvSpPr/>
                    <p:nvPr/>
                  </p:nvSpPr>
                  <p:spPr>
                    <a:xfrm>
                      <a:off x="443049" y="354140"/>
                      <a:ext cx="1333500" cy="1304925"/>
                    </a:xfrm>
                    <a:prstGeom prst="cube">
                      <a:avLst/>
                    </a:prstGeom>
                    <a:grp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24CF32BF-09CD-1A7F-FCFF-FF6525DE39A7}"/>
                        </a:ext>
                      </a:extLst>
                    </p:cNvPr>
                    <p:cNvCxnSpPr/>
                    <p:nvPr/>
                  </p:nvCxnSpPr>
                  <p:spPr>
                    <a:xfrm flipH="1">
                      <a:off x="766899" y="1325690"/>
                      <a:ext cx="1014276" cy="0"/>
                    </a:xfrm>
                    <a:prstGeom prst="line">
                      <a:avLst/>
                    </a:prstGeom>
                    <a:grpFill/>
                    <a:ln w="3175"/>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FBFB81A8-6D35-EA06-C431-7F7067C31EFB}"/>
                        </a:ext>
                      </a:extLst>
                    </p:cNvPr>
                    <p:cNvCxnSpPr/>
                    <p:nvPr/>
                  </p:nvCxnSpPr>
                  <p:spPr>
                    <a:xfrm flipH="1">
                      <a:off x="447675" y="1325690"/>
                      <a:ext cx="319224" cy="333375"/>
                    </a:xfrm>
                    <a:prstGeom prst="line">
                      <a:avLst/>
                    </a:prstGeom>
                    <a:grpFill/>
                    <a:ln w="3175"/>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DB0A786-6D0D-5150-9CDD-26AF9815EF24}"/>
                        </a:ext>
                      </a:extLst>
                    </p:cNvPr>
                    <p:cNvCxnSpPr/>
                    <p:nvPr/>
                  </p:nvCxnSpPr>
                  <p:spPr>
                    <a:xfrm>
                      <a:off x="757374" y="354140"/>
                      <a:ext cx="0" cy="971550"/>
                    </a:xfrm>
                    <a:prstGeom prst="line">
                      <a:avLst/>
                    </a:prstGeom>
                    <a:grpFill/>
                    <a:ln w="3175"/>
                  </p:spPr>
                  <p:style>
                    <a:lnRef idx="2">
                      <a:schemeClr val="accent1"/>
                    </a:lnRef>
                    <a:fillRef idx="0">
                      <a:schemeClr val="accent1"/>
                    </a:fillRef>
                    <a:effectRef idx="1">
                      <a:schemeClr val="accent1"/>
                    </a:effectRef>
                    <a:fontRef idx="minor">
                      <a:schemeClr val="tx1"/>
                    </a:fontRef>
                  </p:style>
                </p:cxnSp>
              </p:grpSp>
              <p:sp>
                <p:nvSpPr>
                  <p:cNvPr id="28" name="TextBox 27">
                    <a:extLst>
                      <a:ext uri="{FF2B5EF4-FFF2-40B4-BE49-F238E27FC236}">
                        <a16:creationId xmlns:a16="http://schemas.microsoft.com/office/drawing/2014/main" id="{02E26442-F693-AED7-5AFF-CA48F7E4F96E}"/>
                      </a:ext>
                    </a:extLst>
                  </p:cNvPr>
                  <p:cNvSpPr txBox="1"/>
                  <p:nvPr/>
                </p:nvSpPr>
                <p:spPr>
                  <a:xfrm>
                    <a:off x="6379938" y="5301782"/>
                    <a:ext cx="771365" cy="253916"/>
                  </a:xfrm>
                  <a:prstGeom prst="rect">
                    <a:avLst/>
                  </a:prstGeom>
                  <a:noFill/>
                </p:spPr>
                <p:txBody>
                  <a:bodyPr wrap="none" rtlCol="0">
                    <a:spAutoFit/>
                  </a:bodyPr>
                  <a:lstStyle/>
                  <a:p>
                    <a:r>
                      <a:rPr lang="en-US" sz="1050" i="1" dirty="0"/>
                      <a:t>Zero Point</a:t>
                    </a:r>
                  </a:p>
                </p:txBody>
              </p:sp>
              <p:sp>
                <p:nvSpPr>
                  <p:cNvPr id="29" name="TextBox 28">
                    <a:extLst>
                      <a:ext uri="{FF2B5EF4-FFF2-40B4-BE49-F238E27FC236}">
                        <a16:creationId xmlns:a16="http://schemas.microsoft.com/office/drawing/2014/main" id="{D985C78A-651B-417F-2C7F-8266BBF3EAE9}"/>
                      </a:ext>
                    </a:extLst>
                  </p:cNvPr>
                  <p:cNvSpPr txBox="1"/>
                  <p:nvPr/>
                </p:nvSpPr>
                <p:spPr>
                  <a:xfrm>
                    <a:off x="8160024" y="5590322"/>
                    <a:ext cx="941283" cy="415498"/>
                  </a:xfrm>
                  <a:prstGeom prst="rect">
                    <a:avLst/>
                  </a:prstGeom>
                  <a:noFill/>
                </p:spPr>
                <p:txBody>
                  <a:bodyPr wrap="none" rtlCol="0">
                    <a:spAutoFit/>
                  </a:bodyPr>
                  <a:lstStyle/>
                  <a:p>
                    <a:pPr algn="ctr"/>
                    <a:r>
                      <a:rPr lang="en-US" sz="1050" i="1" dirty="0"/>
                      <a:t>Median Point</a:t>
                    </a:r>
                  </a:p>
                  <a:p>
                    <a:pPr algn="ctr"/>
                    <a:r>
                      <a:rPr lang="en-US" sz="1050" i="1" dirty="0"/>
                      <a:t>(Median)</a:t>
                    </a:r>
                  </a:p>
                </p:txBody>
              </p:sp>
              <p:sp>
                <p:nvSpPr>
                  <p:cNvPr id="30" name="Freeform: Shape 29">
                    <a:extLst>
                      <a:ext uri="{FF2B5EF4-FFF2-40B4-BE49-F238E27FC236}">
                        <a16:creationId xmlns:a16="http://schemas.microsoft.com/office/drawing/2014/main" id="{56EA0159-2C8B-7DFC-51C8-00582D757367}"/>
                      </a:ext>
                    </a:extLst>
                  </p:cNvPr>
                  <p:cNvSpPr/>
                  <p:nvPr/>
                </p:nvSpPr>
                <p:spPr>
                  <a:xfrm>
                    <a:off x="8033869" y="3674791"/>
                    <a:ext cx="793565" cy="1915523"/>
                  </a:xfrm>
                  <a:custGeom>
                    <a:avLst/>
                    <a:gdLst>
                      <a:gd name="connsiteX0" fmla="*/ 574490 w 793565"/>
                      <a:gd name="connsiteY0" fmla="*/ 2000250 h 2000250"/>
                      <a:gd name="connsiteX1" fmla="*/ 2990 w 793565"/>
                      <a:gd name="connsiteY1" fmla="*/ 628650 h 2000250"/>
                      <a:gd name="connsiteX2" fmla="*/ 793565 w 793565"/>
                      <a:gd name="connsiteY2" fmla="*/ 0 h 2000250"/>
                    </a:gdLst>
                    <a:ahLst/>
                    <a:cxnLst>
                      <a:cxn ang="0">
                        <a:pos x="connsiteX0" y="connsiteY0"/>
                      </a:cxn>
                      <a:cxn ang="0">
                        <a:pos x="connsiteX1" y="connsiteY1"/>
                      </a:cxn>
                      <a:cxn ang="0">
                        <a:pos x="connsiteX2" y="connsiteY2"/>
                      </a:cxn>
                    </a:cxnLst>
                    <a:rect l="l" t="t" r="r" b="b"/>
                    <a:pathLst>
                      <a:path w="793565" h="2000250">
                        <a:moveTo>
                          <a:pt x="574490" y="2000250"/>
                        </a:moveTo>
                        <a:cubicBezTo>
                          <a:pt x="270484" y="1481137"/>
                          <a:pt x="-33522" y="962025"/>
                          <a:pt x="2990" y="628650"/>
                        </a:cubicBezTo>
                        <a:cubicBezTo>
                          <a:pt x="39502" y="295275"/>
                          <a:pt x="660215" y="103188"/>
                          <a:pt x="793565" y="0"/>
                        </a:cubicBezTo>
                      </a:path>
                    </a:pathLst>
                  </a:custGeom>
                  <a:noFill/>
                  <a:ln>
                    <a:solidFill>
                      <a:srgbClr val="0070C0"/>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5FD884C7-1473-5311-A83D-1251B6A64010}"/>
                      </a:ext>
                    </a:extLst>
                  </p:cNvPr>
                  <p:cNvSpPr txBox="1"/>
                  <p:nvPr/>
                </p:nvSpPr>
                <p:spPr>
                  <a:xfrm>
                    <a:off x="9507141" y="5579875"/>
                    <a:ext cx="1285929" cy="415498"/>
                  </a:xfrm>
                  <a:prstGeom prst="rect">
                    <a:avLst/>
                  </a:prstGeom>
                  <a:noFill/>
                </p:spPr>
                <p:txBody>
                  <a:bodyPr wrap="none" rtlCol="0">
                    <a:spAutoFit/>
                  </a:bodyPr>
                  <a:lstStyle/>
                  <a:p>
                    <a:pPr algn="ctr"/>
                    <a:r>
                      <a:rPr lang="en-US" sz="1050" i="1" dirty="0"/>
                      <a:t>Extremism Point </a:t>
                    </a:r>
                  </a:p>
                  <a:p>
                    <a:pPr algn="ctr"/>
                    <a:r>
                      <a:rPr lang="en-US" sz="1050" i="1" dirty="0"/>
                      <a:t>(Median + 1 x MAD)</a:t>
                    </a:r>
                  </a:p>
                </p:txBody>
              </p:sp>
              <p:sp>
                <p:nvSpPr>
                  <p:cNvPr id="32" name="Freeform: Shape 31">
                    <a:extLst>
                      <a:ext uri="{FF2B5EF4-FFF2-40B4-BE49-F238E27FC236}">
                        <a16:creationId xmlns:a16="http://schemas.microsoft.com/office/drawing/2014/main" id="{20A8FF1C-9179-9A2D-5D9E-18DA536F0892}"/>
                      </a:ext>
                    </a:extLst>
                  </p:cNvPr>
                  <p:cNvSpPr/>
                  <p:nvPr/>
                </p:nvSpPr>
                <p:spPr>
                  <a:xfrm>
                    <a:off x="9589914" y="2334502"/>
                    <a:ext cx="643067" cy="3253463"/>
                  </a:xfrm>
                  <a:custGeom>
                    <a:avLst/>
                    <a:gdLst>
                      <a:gd name="connsiteX0" fmla="*/ 668304 w 668304"/>
                      <a:gd name="connsiteY0" fmla="*/ 2381250 h 2381250"/>
                      <a:gd name="connsiteX1" fmla="*/ 1554 w 668304"/>
                      <a:gd name="connsiteY1" fmla="*/ 628650 h 2381250"/>
                      <a:gd name="connsiteX2" fmla="*/ 487329 w 668304"/>
                      <a:gd name="connsiteY2" fmla="*/ 0 h 2381250"/>
                    </a:gdLst>
                    <a:ahLst/>
                    <a:cxnLst>
                      <a:cxn ang="0">
                        <a:pos x="connsiteX0" y="connsiteY0"/>
                      </a:cxn>
                      <a:cxn ang="0">
                        <a:pos x="connsiteX1" y="connsiteY1"/>
                      </a:cxn>
                      <a:cxn ang="0">
                        <a:pos x="connsiteX2" y="connsiteY2"/>
                      </a:cxn>
                    </a:cxnLst>
                    <a:rect l="l" t="t" r="r" b="b"/>
                    <a:pathLst>
                      <a:path w="668304" h="2381250">
                        <a:moveTo>
                          <a:pt x="668304" y="2381250"/>
                        </a:moveTo>
                        <a:cubicBezTo>
                          <a:pt x="350010" y="1703387"/>
                          <a:pt x="31716" y="1025525"/>
                          <a:pt x="1554" y="628650"/>
                        </a:cubicBezTo>
                        <a:cubicBezTo>
                          <a:pt x="-28608" y="231775"/>
                          <a:pt x="388904" y="74612"/>
                          <a:pt x="487329" y="0"/>
                        </a:cubicBezTo>
                      </a:path>
                    </a:pathLst>
                  </a:custGeom>
                  <a:noFill/>
                  <a:ln>
                    <a:solidFill>
                      <a:srgbClr val="0070C0"/>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4D00B4B4-1744-84D5-F5FE-0F8D112C2817}"/>
                      </a:ext>
                    </a:extLst>
                  </p:cNvPr>
                  <p:cNvCxnSpPr>
                    <a:cxnSpLocks/>
                  </p:cNvCxnSpPr>
                  <p:nvPr/>
                </p:nvCxnSpPr>
                <p:spPr>
                  <a:xfrm>
                    <a:off x="10040444" y="1645859"/>
                    <a:ext cx="263147" cy="4872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69248C9-84C6-078C-FBC1-AFE1EA1155F5}"/>
                      </a:ext>
                    </a:extLst>
                  </p:cNvPr>
                  <p:cNvSpPr txBox="1"/>
                  <p:nvPr/>
                </p:nvSpPr>
                <p:spPr>
                  <a:xfrm>
                    <a:off x="7846038" y="1498411"/>
                    <a:ext cx="1395318" cy="276999"/>
                  </a:xfrm>
                  <a:prstGeom prst="rect">
                    <a:avLst/>
                  </a:prstGeom>
                  <a:noFill/>
                </p:spPr>
                <p:txBody>
                  <a:bodyPr wrap="none" rtlCol="0">
                    <a:spAutoFit/>
                  </a:bodyPr>
                  <a:lstStyle>
                    <a:defPPr>
                      <a:defRPr lang="en-US"/>
                    </a:defPPr>
                    <a:lvl1pPr>
                      <a:defRPr sz="1050">
                        <a:solidFill>
                          <a:srgbClr val="FF0000"/>
                        </a:solidFill>
                      </a:defRPr>
                    </a:lvl1pPr>
                  </a:lstStyle>
                  <a:p>
                    <a:r>
                      <a:rPr lang="en-US" sz="1200" dirty="0"/>
                      <a:t>Extremism Rank-2</a:t>
                    </a:r>
                  </a:p>
                </p:txBody>
              </p:sp>
              <p:cxnSp>
                <p:nvCxnSpPr>
                  <p:cNvPr id="35" name="Straight Arrow Connector 34">
                    <a:extLst>
                      <a:ext uri="{FF2B5EF4-FFF2-40B4-BE49-F238E27FC236}">
                        <a16:creationId xmlns:a16="http://schemas.microsoft.com/office/drawing/2014/main" id="{ACD69FFF-2620-4708-7054-E5AFFCAE70DC}"/>
                      </a:ext>
                    </a:extLst>
                  </p:cNvPr>
                  <p:cNvCxnSpPr>
                    <a:cxnSpLocks/>
                  </p:cNvCxnSpPr>
                  <p:nvPr/>
                </p:nvCxnSpPr>
                <p:spPr>
                  <a:xfrm>
                    <a:off x="8170106" y="1726651"/>
                    <a:ext cx="504398" cy="4872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sp>
            <p:nvSpPr>
              <p:cNvPr id="11" name="TextBox 10">
                <a:extLst>
                  <a:ext uri="{FF2B5EF4-FFF2-40B4-BE49-F238E27FC236}">
                    <a16:creationId xmlns:a16="http://schemas.microsoft.com/office/drawing/2014/main" id="{741D5E8E-C826-6BB9-7CAA-21E618E7FD28}"/>
                  </a:ext>
                </a:extLst>
              </p:cNvPr>
              <p:cNvSpPr txBox="1"/>
              <p:nvPr/>
            </p:nvSpPr>
            <p:spPr>
              <a:xfrm>
                <a:off x="7886637" y="4949996"/>
                <a:ext cx="856325" cy="261610"/>
              </a:xfrm>
              <a:prstGeom prst="rect">
                <a:avLst/>
              </a:prstGeom>
              <a:noFill/>
            </p:spPr>
            <p:txBody>
              <a:bodyPr wrap="none" rtlCol="0">
                <a:spAutoFit/>
              </a:bodyPr>
              <a:lstStyle/>
              <a:p>
                <a:r>
                  <a:rPr lang="en-US" sz="1100" dirty="0">
                    <a:solidFill>
                      <a:schemeClr val="tx1">
                        <a:lumMod val="50000"/>
                        <a:lumOff val="50000"/>
                      </a:schemeClr>
                    </a:solidFill>
                  </a:rPr>
                  <a:t>Ideological</a:t>
                </a:r>
              </a:p>
            </p:txBody>
          </p:sp>
          <p:sp>
            <p:nvSpPr>
              <p:cNvPr id="12" name="TextBox 11">
                <a:extLst>
                  <a:ext uri="{FF2B5EF4-FFF2-40B4-BE49-F238E27FC236}">
                    <a16:creationId xmlns:a16="http://schemas.microsoft.com/office/drawing/2014/main" id="{776ACDC4-4BCE-DB71-4C1A-02E7433C0F8F}"/>
                  </a:ext>
                </a:extLst>
              </p:cNvPr>
              <p:cNvSpPr txBox="1"/>
              <p:nvPr/>
            </p:nvSpPr>
            <p:spPr>
              <a:xfrm rot="18972983">
                <a:off x="7582931" y="4819190"/>
                <a:ext cx="562975" cy="261610"/>
              </a:xfrm>
              <a:prstGeom prst="rect">
                <a:avLst/>
              </a:prstGeom>
              <a:noFill/>
            </p:spPr>
            <p:txBody>
              <a:bodyPr wrap="none" rtlCol="0">
                <a:spAutoFit/>
              </a:bodyPr>
              <a:lstStyle/>
              <a:p>
                <a:r>
                  <a:rPr lang="en-US" sz="1100" dirty="0">
                    <a:solidFill>
                      <a:schemeClr val="tx1">
                        <a:lumMod val="50000"/>
                        <a:lumOff val="50000"/>
                      </a:schemeClr>
                    </a:solidFill>
                  </a:rPr>
                  <a:t>Social</a:t>
                </a:r>
              </a:p>
            </p:txBody>
          </p:sp>
          <p:sp>
            <p:nvSpPr>
              <p:cNvPr id="13" name="TextBox 12">
                <a:extLst>
                  <a:ext uri="{FF2B5EF4-FFF2-40B4-BE49-F238E27FC236}">
                    <a16:creationId xmlns:a16="http://schemas.microsoft.com/office/drawing/2014/main" id="{B7E18FFB-E2F9-B8EF-BF0C-66F820EFC166}"/>
                  </a:ext>
                </a:extLst>
              </p:cNvPr>
              <p:cNvSpPr txBox="1"/>
              <p:nvPr/>
            </p:nvSpPr>
            <p:spPr>
              <a:xfrm rot="16200000">
                <a:off x="7191224" y="4437928"/>
                <a:ext cx="832279" cy="261610"/>
              </a:xfrm>
              <a:prstGeom prst="rect">
                <a:avLst/>
              </a:prstGeom>
              <a:noFill/>
            </p:spPr>
            <p:txBody>
              <a:bodyPr wrap="none" rtlCol="0">
                <a:spAutoFit/>
              </a:bodyPr>
              <a:lstStyle/>
              <a:p>
                <a:r>
                  <a:rPr lang="en-US" sz="1100" dirty="0">
                    <a:solidFill>
                      <a:schemeClr val="tx1">
                        <a:lumMod val="50000"/>
                        <a:lumOff val="50000"/>
                      </a:schemeClr>
                    </a:solidFill>
                  </a:rPr>
                  <a:t>Behavioral</a:t>
                </a:r>
              </a:p>
            </p:txBody>
          </p:sp>
        </p:grpSp>
        <p:sp>
          <p:nvSpPr>
            <p:cNvPr id="69" name="Cube 68">
              <a:extLst>
                <a:ext uri="{FF2B5EF4-FFF2-40B4-BE49-F238E27FC236}">
                  <a16:creationId xmlns:a16="http://schemas.microsoft.com/office/drawing/2014/main" id="{57105D0B-B130-2066-D1B5-C7625C8EB29E}"/>
                </a:ext>
              </a:extLst>
            </p:cNvPr>
            <p:cNvSpPr/>
            <p:nvPr/>
          </p:nvSpPr>
          <p:spPr>
            <a:xfrm>
              <a:off x="9757231" y="1782870"/>
              <a:ext cx="1205399" cy="3379143"/>
            </a:xfrm>
            <a:prstGeom prst="cube">
              <a:avLst>
                <a:gd name="adj" fmla="val 67772"/>
              </a:avLst>
            </a:prstGeom>
            <a:solidFill>
              <a:srgbClr val="FFFF00">
                <a:alpha val="20000"/>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Cube 69">
              <a:extLst>
                <a:ext uri="{FF2B5EF4-FFF2-40B4-BE49-F238E27FC236}">
                  <a16:creationId xmlns:a16="http://schemas.microsoft.com/office/drawing/2014/main" id="{A346966A-E634-6779-5C86-2107C4AF9E94}"/>
                </a:ext>
              </a:extLst>
            </p:cNvPr>
            <p:cNvSpPr/>
            <p:nvPr/>
          </p:nvSpPr>
          <p:spPr>
            <a:xfrm>
              <a:off x="7530362" y="1784283"/>
              <a:ext cx="3432641" cy="1083928"/>
            </a:xfrm>
            <a:prstGeom prst="cube">
              <a:avLst>
                <a:gd name="adj" fmla="val 76136"/>
              </a:avLst>
            </a:prstGeom>
            <a:solidFill>
              <a:srgbClr val="FFFF00">
                <a:alpha val="20000"/>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Cube 70">
              <a:extLst>
                <a:ext uri="{FF2B5EF4-FFF2-40B4-BE49-F238E27FC236}">
                  <a16:creationId xmlns:a16="http://schemas.microsoft.com/office/drawing/2014/main" id="{668C2A9A-3637-42B9-241B-DC4FDC388E65}"/>
                </a:ext>
              </a:extLst>
            </p:cNvPr>
            <p:cNvSpPr/>
            <p:nvPr/>
          </p:nvSpPr>
          <p:spPr>
            <a:xfrm>
              <a:off x="8249468" y="1771643"/>
              <a:ext cx="2713161" cy="2654195"/>
            </a:xfrm>
            <a:prstGeom prst="cube">
              <a:avLst>
                <a:gd name="adj" fmla="val 4105"/>
              </a:avLst>
            </a:prstGeom>
            <a:solidFill>
              <a:srgbClr val="FFFF00">
                <a:alpha val="20000"/>
              </a:srgb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E19BC3B1-8FBF-ED80-4C3D-4FC86A3D16C3}"/>
                </a:ext>
              </a:extLst>
            </p:cNvPr>
            <p:cNvSpPr txBox="1"/>
            <p:nvPr/>
          </p:nvSpPr>
          <p:spPr>
            <a:xfrm>
              <a:off x="9882628" y="1212911"/>
              <a:ext cx="1395318" cy="276999"/>
            </a:xfrm>
            <a:prstGeom prst="rect">
              <a:avLst/>
            </a:prstGeom>
            <a:noFill/>
          </p:spPr>
          <p:txBody>
            <a:bodyPr wrap="none" rtlCol="0">
              <a:spAutoFit/>
            </a:bodyPr>
            <a:lstStyle>
              <a:defPPr>
                <a:defRPr lang="en-US"/>
              </a:defPPr>
              <a:lvl1pPr>
                <a:defRPr sz="1050">
                  <a:solidFill>
                    <a:srgbClr val="FF0000"/>
                  </a:solidFill>
                </a:defRPr>
              </a:lvl1pPr>
            </a:lstStyle>
            <a:p>
              <a:r>
                <a:rPr lang="en-US" sz="1200" dirty="0"/>
                <a:t>Extremism Rank-3</a:t>
              </a:r>
            </a:p>
          </p:txBody>
        </p:sp>
        <p:sp>
          <p:nvSpPr>
            <p:cNvPr id="74" name="TextBox 73">
              <a:extLst>
                <a:ext uri="{FF2B5EF4-FFF2-40B4-BE49-F238E27FC236}">
                  <a16:creationId xmlns:a16="http://schemas.microsoft.com/office/drawing/2014/main" id="{2CE67E41-8CAB-9372-84F2-72CB620A9791}"/>
                </a:ext>
              </a:extLst>
            </p:cNvPr>
            <p:cNvSpPr txBox="1"/>
            <p:nvPr/>
          </p:nvSpPr>
          <p:spPr>
            <a:xfrm>
              <a:off x="6801983" y="1522376"/>
              <a:ext cx="1395318" cy="276999"/>
            </a:xfrm>
            <a:prstGeom prst="rect">
              <a:avLst/>
            </a:prstGeom>
            <a:noFill/>
          </p:spPr>
          <p:txBody>
            <a:bodyPr wrap="none" rtlCol="0">
              <a:spAutoFit/>
            </a:bodyPr>
            <a:lstStyle>
              <a:defPPr>
                <a:defRPr lang="en-US"/>
              </a:defPPr>
              <a:lvl1pPr>
                <a:defRPr sz="1050">
                  <a:solidFill>
                    <a:srgbClr val="FF0000"/>
                  </a:solidFill>
                </a:defRPr>
              </a:lvl1pPr>
            </a:lstStyle>
            <a:p>
              <a:r>
                <a:rPr lang="en-US" sz="1200" dirty="0"/>
                <a:t>Extremism Rank-1</a:t>
              </a:r>
            </a:p>
          </p:txBody>
        </p:sp>
        <p:cxnSp>
          <p:nvCxnSpPr>
            <p:cNvPr id="75" name="Straight Arrow Connector 74">
              <a:extLst>
                <a:ext uri="{FF2B5EF4-FFF2-40B4-BE49-F238E27FC236}">
                  <a16:creationId xmlns:a16="http://schemas.microsoft.com/office/drawing/2014/main" id="{D6D0516A-66E7-05D1-855F-EBB2BAFB98D5}"/>
                </a:ext>
              </a:extLst>
            </p:cNvPr>
            <p:cNvCxnSpPr>
              <a:cxnSpLocks/>
            </p:cNvCxnSpPr>
            <p:nvPr/>
          </p:nvCxnSpPr>
          <p:spPr>
            <a:xfrm>
              <a:off x="7753286" y="1740028"/>
              <a:ext cx="682105" cy="6398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A3B78B5B-E0BB-3998-6641-A7A797E78EE9}"/>
              </a:ext>
            </a:extLst>
          </p:cNvPr>
          <p:cNvSpPr txBox="1"/>
          <p:nvPr/>
        </p:nvSpPr>
        <p:spPr>
          <a:xfrm>
            <a:off x="1042416" y="6510528"/>
            <a:ext cx="8125238" cy="276999"/>
          </a:xfrm>
          <a:prstGeom prst="rect">
            <a:avLst/>
          </a:prstGeom>
          <a:noFill/>
        </p:spPr>
        <p:txBody>
          <a:bodyPr wrap="none" rtlCol="0">
            <a:spAutoFit/>
          </a:bodyPr>
          <a:lstStyle/>
          <a:p>
            <a:r>
              <a:rPr lang="en-US" sz="1200" dirty="0"/>
              <a:t>* Absolute / Relative criteria: Assume that the extremism level of all the population changes. Would the indicator shift?</a:t>
            </a:r>
          </a:p>
        </p:txBody>
      </p:sp>
    </p:spTree>
    <p:extLst>
      <p:ext uri="{BB962C8B-B14F-4D97-AF65-F5344CB8AC3E}">
        <p14:creationId xmlns:p14="http://schemas.microsoft.com/office/powerpoint/2010/main" val="2589180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DE8CE-1225-F878-C11D-9A7371692EB0}"/>
              </a:ext>
            </a:extLst>
          </p:cNvPr>
          <p:cNvSpPr>
            <a:spLocks noGrp="1"/>
          </p:cNvSpPr>
          <p:nvPr>
            <p:ph type="title"/>
          </p:nvPr>
        </p:nvSpPr>
        <p:spPr/>
        <p:txBody>
          <a:bodyPr>
            <a:normAutofit fontScale="90000"/>
          </a:bodyPr>
          <a:lstStyle/>
          <a:p>
            <a:r>
              <a:rPr lang="en-US" dirty="0"/>
              <a:t>Cross-Sectional Comparative Analysis</a:t>
            </a:r>
          </a:p>
        </p:txBody>
      </p:sp>
      <p:grpSp>
        <p:nvGrpSpPr>
          <p:cNvPr id="52" name="Group 51">
            <a:extLst>
              <a:ext uri="{FF2B5EF4-FFF2-40B4-BE49-F238E27FC236}">
                <a16:creationId xmlns:a16="http://schemas.microsoft.com/office/drawing/2014/main" id="{8EDDE2FA-6D73-F7F4-6FAF-9DC39627F1B7}"/>
              </a:ext>
            </a:extLst>
          </p:cNvPr>
          <p:cNvGrpSpPr/>
          <p:nvPr/>
        </p:nvGrpSpPr>
        <p:grpSpPr>
          <a:xfrm>
            <a:off x="218733" y="2663177"/>
            <a:ext cx="1763499" cy="2385047"/>
            <a:chOff x="6999678" y="4106809"/>
            <a:chExt cx="950636" cy="1477259"/>
          </a:xfrm>
        </p:grpSpPr>
        <p:pic>
          <p:nvPicPr>
            <p:cNvPr id="47" name="Picture 46">
              <a:extLst>
                <a:ext uri="{FF2B5EF4-FFF2-40B4-BE49-F238E27FC236}">
                  <a16:creationId xmlns:a16="http://schemas.microsoft.com/office/drawing/2014/main" id="{3755E204-F831-3CDC-ADE4-DB461A7591B2}"/>
                </a:ext>
              </a:extLst>
            </p:cNvPr>
            <p:cNvPicPr>
              <a:picLocks noChangeAspect="1"/>
            </p:cNvPicPr>
            <p:nvPr/>
          </p:nvPicPr>
          <p:blipFill>
            <a:blip r:embed="rId2"/>
            <a:stretch>
              <a:fillRect/>
            </a:stretch>
          </p:blipFill>
          <p:spPr>
            <a:xfrm>
              <a:off x="7002191" y="4106809"/>
              <a:ext cx="948123" cy="1286627"/>
            </a:xfrm>
            <a:prstGeom prst="rect">
              <a:avLst/>
            </a:prstGeom>
          </p:spPr>
        </p:pic>
        <p:sp>
          <p:nvSpPr>
            <p:cNvPr id="49" name="TextBox 48">
              <a:extLst>
                <a:ext uri="{FF2B5EF4-FFF2-40B4-BE49-F238E27FC236}">
                  <a16:creationId xmlns:a16="http://schemas.microsoft.com/office/drawing/2014/main" id="{FFDEC363-49A7-600E-BA20-405F3526AB9E}"/>
                </a:ext>
              </a:extLst>
            </p:cNvPr>
            <p:cNvSpPr txBox="1"/>
            <p:nvPr/>
          </p:nvSpPr>
          <p:spPr>
            <a:xfrm>
              <a:off x="6999678" y="5393436"/>
              <a:ext cx="948123" cy="190632"/>
            </a:xfrm>
            <a:prstGeom prst="rect">
              <a:avLst/>
            </a:prstGeom>
            <a:noFill/>
          </p:spPr>
          <p:txBody>
            <a:bodyPr wrap="square" rtlCol="0">
              <a:spAutoFit/>
            </a:bodyPr>
            <a:lstStyle/>
            <a:p>
              <a:pPr algn="ctr"/>
              <a:r>
                <a:rPr lang="en-US" sz="1400" dirty="0"/>
                <a:t>Country C – Period 1</a:t>
              </a:r>
            </a:p>
          </p:txBody>
        </p:sp>
      </p:grpSp>
      <p:grpSp>
        <p:nvGrpSpPr>
          <p:cNvPr id="53" name="Group 52">
            <a:extLst>
              <a:ext uri="{FF2B5EF4-FFF2-40B4-BE49-F238E27FC236}">
                <a16:creationId xmlns:a16="http://schemas.microsoft.com/office/drawing/2014/main" id="{562B209E-ACA8-ED01-7AC1-6487C8B09868}"/>
              </a:ext>
            </a:extLst>
          </p:cNvPr>
          <p:cNvGrpSpPr/>
          <p:nvPr/>
        </p:nvGrpSpPr>
        <p:grpSpPr>
          <a:xfrm>
            <a:off x="4167833" y="2663177"/>
            <a:ext cx="1763499" cy="2385047"/>
            <a:chOff x="6999678" y="4106809"/>
            <a:chExt cx="950636" cy="1477259"/>
          </a:xfrm>
        </p:grpSpPr>
        <p:pic>
          <p:nvPicPr>
            <p:cNvPr id="54" name="Picture 53">
              <a:extLst>
                <a:ext uri="{FF2B5EF4-FFF2-40B4-BE49-F238E27FC236}">
                  <a16:creationId xmlns:a16="http://schemas.microsoft.com/office/drawing/2014/main" id="{2A276CA4-B24A-EBC8-AD0D-6CE3E658CADB}"/>
                </a:ext>
              </a:extLst>
            </p:cNvPr>
            <p:cNvPicPr>
              <a:picLocks noChangeAspect="1"/>
            </p:cNvPicPr>
            <p:nvPr/>
          </p:nvPicPr>
          <p:blipFill>
            <a:blip r:embed="rId2"/>
            <a:stretch>
              <a:fillRect/>
            </a:stretch>
          </p:blipFill>
          <p:spPr>
            <a:xfrm>
              <a:off x="7002191" y="4106809"/>
              <a:ext cx="948123" cy="1286627"/>
            </a:xfrm>
            <a:prstGeom prst="rect">
              <a:avLst/>
            </a:prstGeom>
          </p:spPr>
        </p:pic>
        <p:sp>
          <p:nvSpPr>
            <p:cNvPr id="55" name="TextBox 54">
              <a:extLst>
                <a:ext uri="{FF2B5EF4-FFF2-40B4-BE49-F238E27FC236}">
                  <a16:creationId xmlns:a16="http://schemas.microsoft.com/office/drawing/2014/main" id="{8685654F-B225-A905-6C73-6C15CBB7024E}"/>
                </a:ext>
              </a:extLst>
            </p:cNvPr>
            <p:cNvSpPr txBox="1"/>
            <p:nvPr/>
          </p:nvSpPr>
          <p:spPr>
            <a:xfrm>
              <a:off x="6999678" y="5393436"/>
              <a:ext cx="948123" cy="190632"/>
            </a:xfrm>
            <a:prstGeom prst="rect">
              <a:avLst/>
            </a:prstGeom>
            <a:noFill/>
          </p:spPr>
          <p:txBody>
            <a:bodyPr wrap="square" rtlCol="0">
              <a:spAutoFit/>
            </a:bodyPr>
            <a:lstStyle/>
            <a:p>
              <a:pPr algn="ctr"/>
              <a:r>
                <a:rPr lang="en-US" sz="1400" dirty="0"/>
                <a:t>Country A – Period 1</a:t>
              </a:r>
            </a:p>
          </p:txBody>
        </p:sp>
      </p:grpSp>
      <p:grpSp>
        <p:nvGrpSpPr>
          <p:cNvPr id="56" name="Group 55">
            <a:extLst>
              <a:ext uri="{FF2B5EF4-FFF2-40B4-BE49-F238E27FC236}">
                <a16:creationId xmlns:a16="http://schemas.microsoft.com/office/drawing/2014/main" id="{936FDE5C-FE3B-5896-FDCD-C679DCBBC2E8}"/>
              </a:ext>
            </a:extLst>
          </p:cNvPr>
          <p:cNvGrpSpPr/>
          <p:nvPr/>
        </p:nvGrpSpPr>
        <p:grpSpPr>
          <a:xfrm>
            <a:off x="2193283" y="2663177"/>
            <a:ext cx="1763499" cy="2385047"/>
            <a:chOff x="6999678" y="4106809"/>
            <a:chExt cx="950636" cy="1477259"/>
          </a:xfrm>
        </p:grpSpPr>
        <p:pic>
          <p:nvPicPr>
            <p:cNvPr id="57" name="Picture 56">
              <a:extLst>
                <a:ext uri="{FF2B5EF4-FFF2-40B4-BE49-F238E27FC236}">
                  <a16:creationId xmlns:a16="http://schemas.microsoft.com/office/drawing/2014/main" id="{C70ADA18-1BBC-5B8C-DB7B-DCB382113D7C}"/>
                </a:ext>
              </a:extLst>
            </p:cNvPr>
            <p:cNvPicPr>
              <a:picLocks noChangeAspect="1"/>
            </p:cNvPicPr>
            <p:nvPr/>
          </p:nvPicPr>
          <p:blipFill>
            <a:blip r:embed="rId2"/>
            <a:stretch>
              <a:fillRect/>
            </a:stretch>
          </p:blipFill>
          <p:spPr>
            <a:xfrm>
              <a:off x="7002191" y="4106809"/>
              <a:ext cx="948123" cy="1286627"/>
            </a:xfrm>
            <a:prstGeom prst="rect">
              <a:avLst/>
            </a:prstGeom>
          </p:spPr>
        </p:pic>
        <p:sp>
          <p:nvSpPr>
            <p:cNvPr id="58" name="TextBox 57">
              <a:extLst>
                <a:ext uri="{FF2B5EF4-FFF2-40B4-BE49-F238E27FC236}">
                  <a16:creationId xmlns:a16="http://schemas.microsoft.com/office/drawing/2014/main" id="{CF9ABB0C-CC8C-29AE-275D-5941CA399CBA}"/>
                </a:ext>
              </a:extLst>
            </p:cNvPr>
            <p:cNvSpPr txBox="1"/>
            <p:nvPr/>
          </p:nvSpPr>
          <p:spPr>
            <a:xfrm>
              <a:off x="6999678" y="5393436"/>
              <a:ext cx="948123" cy="190632"/>
            </a:xfrm>
            <a:prstGeom prst="rect">
              <a:avLst/>
            </a:prstGeom>
            <a:noFill/>
          </p:spPr>
          <p:txBody>
            <a:bodyPr wrap="square" rtlCol="0">
              <a:spAutoFit/>
            </a:bodyPr>
            <a:lstStyle/>
            <a:p>
              <a:pPr algn="ctr"/>
              <a:r>
                <a:rPr lang="en-US" sz="1400" dirty="0"/>
                <a:t>Country B – Period 1</a:t>
              </a:r>
            </a:p>
          </p:txBody>
        </p:sp>
      </p:grpSp>
      <p:sp>
        <p:nvSpPr>
          <p:cNvPr id="59" name="TextBox 58">
            <a:extLst>
              <a:ext uri="{FF2B5EF4-FFF2-40B4-BE49-F238E27FC236}">
                <a16:creationId xmlns:a16="http://schemas.microsoft.com/office/drawing/2014/main" id="{2005122D-464F-787F-D204-27C96ED3A25C}"/>
              </a:ext>
            </a:extLst>
          </p:cNvPr>
          <p:cNvSpPr txBox="1"/>
          <p:nvPr/>
        </p:nvSpPr>
        <p:spPr>
          <a:xfrm>
            <a:off x="9161442" y="5152505"/>
            <a:ext cx="1818896" cy="338554"/>
          </a:xfrm>
          <a:prstGeom prst="rect">
            <a:avLst/>
          </a:prstGeom>
          <a:noFill/>
        </p:spPr>
        <p:txBody>
          <a:bodyPr wrap="none" rtlCol="0">
            <a:spAutoFit/>
          </a:bodyPr>
          <a:lstStyle/>
          <a:p>
            <a:r>
              <a:rPr lang="en-US" sz="1600" b="1" i="1" dirty="0"/>
              <a:t>Extremism Type </a:t>
            </a:r>
            <a:r>
              <a:rPr lang="he-IL" sz="1600" b="1" i="1" dirty="0"/>
              <a:t>2</a:t>
            </a:r>
            <a:endParaRPr lang="en-US" sz="1600" b="1" i="1" dirty="0"/>
          </a:p>
        </p:txBody>
      </p:sp>
      <p:grpSp>
        <p:nvGrpSpPr>
          <p:cNvPr id="62" name="Group 61">
            <a:extLst>
              <a:ext uri="{FF2B5EF4-FFF2-40B4-BE49-F238E27FC236}">
                <a16:creationId xmlns:a16="http://schemas.microsoft.com/office/drawing/2014/main" id="{7E7B951B-EE55-603A-BC86-75CBFF4E9884}"/>
              </a:ext>
            </a:extLst>
          </p:cNvPr>
          <p:cNvGrpSpPr/>
          <p:nvPr/>
        </p:nvGrpSpPr>
        <p:grpSpPr>
          <a:xfrm>
            <a:off x="6096000" y="2663177"/>
            <a:ext cx="1763499" cy="2385047"/>
            <a:chOff x="6999678" y="4106809"/>
            <a:chExt cx="950636" cy="1477259"/>
          </a:xfrm>
        </p:grpSpPr>
        <p:pic>
          <p:nvPicPr>
            <p:cNvPr id="1034" name="Picture 1033">
              <a:extLst>
                <a:ext uri="{FF2B5EF4-FFF2-40B4-BE49-F238E27FC236}">
                  <a16:creationId xmlns:a16="http://schemas.microsoft.com/office/drawing/2014/main" id="{B1CE6362-3AB9-6A29-3C74-8CAD6B810211}"/>
                </a:ext>
              </a:extLst>
            </p:cNvPr>
            <p:cNvPicPr>
              <a:picLocks noChangeAspect="1"/>
            </p:cNvPicPr>
            <p:nvPr/>
          </p:nvPicPr>
          <p:blipFill>
            <a:blip r:embed="rId2"/>
            <a:stretch>
              <a:fillRect/>
            </a:stretch>
          </p:blipFill>
          <p:spPr>
            <a:xfrm>
              <a:off x="7002191" y="4106809"/>
              <a:ext cx="948123" cy="1286627"/>
            </a:xfrm>
            <a:prstGeom prst="rect">
              <a:avLst/>
            </a:prstGeom>
          </p:spPr>
        </p:pic>
        <p:sp>
          <p:nvSpPr>
            <p:cNvPr id="1035" name="TextBox 1034">
              <a:extLst>
                <a:ext uri="{FF2B5EF4-FFF2-40B4-BE49-F238E27FC236}">
                  <a16:creationId xmlns:a16="http://schemas.microsoft.com/office/drawing/2014/main" id="{BDEDCE4B-3E6E-26BF-3A0A-BF11643D1E15}"/>
                </a:ext>
              </a:extLst>
            </p:cNvPr>
            <p:cNvSpPr txBox="1"/>
            <p:nvPr/>
          </p:nvSpPr>
          <p:spPr>
            <a:xfrm>
              <a:off x="6999678" y="5393436"/>
              <a:ext cx="948123" cy="190632"/>
            </a:xfrm>
            <a:prstGeom prst="rect">
              <a:avLst/>
            </a:prstGeom>
            <a:noFill/>
          </p:spPr>
          <p:txBody>
            <a:bodyPr wrap="square" rtlCol="0">
              <a:spAutoFit/>
            </a:bodyPr>
            <a:lstStyle/>
            <a:p>
              <a:pPr algn="ctr"/>
              <a:r>
                <a:rPr lang="en-US" sz="1400" dirty="0"/>
                <a:t>Country A</a:t>
              </a:r>
              <a:r>
                <a:rPr lang="he-IL" sz="1400" dirty="0"/>
                <a:t> </a:t>
              </a:r>
              <a:r>
                <a:rPr lang="en-US" sz="1400" dirty="0"/>
                <a:t>- period 2</a:t>
              </a:r>
            </a:p>
          </p:txBody>
        </p:sp>
      </p:grpSp>
      <p:grpSp>
        <p:nvGrpSpPr>
          <p:cNvPr id="63" name="Group 62">
            <a:extLst>
              <a:ext uri="{FF2B5EF4-FFF2-40B4-BE49-F238E27FC236}">
                <a16:creationId xmlns:a16="http://schemas.microsoft.com/office/drawing/2014/main" id="{D9C614A9-16BC-64F4-E9F1-D1D2FB5E960F}"/>
              </a:ext>
            </a:extLst>
          </p:cNvPr>
          <p:cNvGrpSpPr/>
          <p:nvPr/>
        </p:nvGrpSpPr>
        <p:grpSpPr>
          <a:xfrm>
            <a:off x="10024063" y="2663177"/>
            <a:ext cx="1763499" cy="2385047"/>
            <a:chOff x="6999678" y="4106809"/>
            <a:chExt cx="950636" cy="1477259"/>
          </a:xfrm>
        </p:grpSpPr>
        <p:pic>
          <p:nvPicPr>
            <p:cNvPr id="1031" name="Picture 1030">
              <a:extLst>
                <a:ext uri="{FF2B5EF4-FFF2-40B4-BE49-F238E27FC236}">
                  <a16:creationId xmlns:a16="http://schemas.microsoft.com/office/drawing/2014/main" id="{9E917E83-7DF2-6179-C970-BAC1E30D32AE}"/>
                </a:ext>
              </a:extLst>
            </p:cNvPr>
            <p:cNvPicPr>
              <a:picLocks noChangeAspect="1"/>
            </p:cNvPicPr>
            <p:nvPr/>
          </p:nvPicPr>
          <p:blipFill>
            <a:blip r:embed="rId2"/>
            <a:stretch>
              <a:fillRect/>
            </a:stretch>
          </p:blipFill>
          <p:spPr>
            <a:xfrm>
              <a:off x="7002191" y="4106809"/>
              <a:ext cx="948123" cy="1286627"/>
            </a:xfrm>
            <a:prstGeom prst="rect">
              <a:avLst/>
            </a:prstGeom>
          </p:spPr>
        </p:pic>
        <p:sp>
          <p:nvSpPr>
            <p:cNvPr id="1033" name="TextBox 1032">
              <a:extLst>
                <a:ext uri="{FF2B5EF4-FFF2-40B4-BE49-F238E27FC236}">
                  <a16:creationId xmlns:a16="http://schemas.microsoft.com/office/drawing/2014/main" id="{9A0D858D-E5D4-EB71-334D-6A74DDEBB874}"/>
                </a:ext>
              </a:extLst>
            </p:cNvPr>
            <p:cNvSpPr txBox="1"/>
            <p:nvPr/>
          </p:nvSpPr>
          <p:spPr>
            <a:xfrm>
              <a:off x="6999678" y="5393436"/>
              <a:ext cx="948123" cy="190632"/>
            </a:xfrm>
            <a:prstGeom prst="rect">
              <a:avLst/>
            </a:prstGeom>
            <a:noFill/>
          </p:spPr>
          <p:txBody>
            <a:bodyPr wrap="square" rtlCol="0">
              <a:spAutoFit/>
            </a:bodyPr>
            <a:lstStyle/>
            <a:p>
              <a:pPr algn="ctr"/>
              <a:r>
                <a:rPr lang="en-US" sz="1400" dirty="0"/>
                <a:t>Country A – Period 2</a:t>
              </a:r>
            </a:p>
          </p:txBody>
        </p:sp>
      </p:grpSp>
      <p:grpSp>
        <p:nvGrpSpPr>
          <p:cNvPr id="1024" name="Group 1023">
            <a:extLst>
              <a:ext uri="{FF2B5EF4-FFF2-40B4-BE49-F238E27FC236}">
                <a16:creationId xmlns:a16="http://schemas.microsoft.com/office/drawing/2014/main" id="{7C3EDEC9-CC65-5A98-54C3-CA8B19808206}"/>
              </a:ext>
            </a:extLst>
          </p:cNvPr>
          <p:cNvGrpSpPr/>
          <p:nvPr/>
        </p:nvGrpSpPr>
        <p:grpSpPr>
          <a:xfrm>
            <a:off x="8116933" y="2663177"/>
            <a:ext cx="1763499" cy="2385047"/>
            <a:chOff x="6999678" y="4106809"/>
            <a:chExt cx="950636" cy="1477259"/>
          </a:xfrm>
        </p:grpSpPr>
        <p:pic>
          <p:nvPicPr>
            <p:cNvPr id="1027" name="Picture 1026">
              <a:extLst>
                <a:ext uri="{FF2B5EF4-FFF2-40B4-BE49-F238E27FC236}">
                  <a16:creationId xmlns:a16="http://schemas.microsoft.com/office/drawing/2014/main" id="{505A0D29-8740-7596-951A-898876A14E9F}"/>
                </a:ext>
              </a:extLst>
            </p:cNvPr>
            <p:cNvPicPr>
              <a:picLocks noChangeAspect="1"/>
            </p:cNvPicPr>
            <p:nvPr/>
          </p:nvPicPr>
          <p:blipFill>
            <a:blip r:embed="rId2"/>
            <a:stretch>
              <a:fillRect/>
            </a:stretch>
          </p:blipFill>
          <p:spPr>
            <a:xfrm>
              <a:off x="7002191" y="4106809"/>
              <a:ext cx="948123" cy="1286627"/>
            </a:xfrm>
            <a:prstGeom prst="rect">
              <a:avLst/>
            </a:prstGeom>
          </p:spPr>
        </p:pic>
        <p:sp>
          <p:nvSpPr>
            <p:cNvPr id="1029" name="TextBox 1028">
              <a:extLst>
                <a:ext uri="{FF2B5EF4-FFF2-40B4-BE49-F238E27FC236}">
                  <a16:creationId xmlns:a16="http://schemas.microsoft.com/office/drawing/2014/main" id="{611DE645-E0BD-E0AB-3494-4A8E82A4C0E1}"/>
                </a:ext>
              </a:extLst>
            </p:cNvPr>
            <p:cNvSpPr txBox="1"/>
            <p:nvPr/>
          </p:nvSpPr>
          <p:spPr>
            <a:xfrm>
              <a:off x="6999678" y="5393436"/>
              <a:ext cx="948123" cy="190632"/>
            </a:xfrm>
            <a:prstGeom prst="rect">
              <a:avLst/>
            </a:prstGeom>
            <a:noFill/>
          </p:spPr>
          <p:txBody>
            <a:bodyPr wrap="square" rtlCol="0">
              <a:spAutoFit/>
            </a:bodyPr>
            <a:lstStyle/>
            <a:p>
              <a:pPr algn="ctr"/>
              <a:r>
                <a:rPr lang="en-US" sz="1400" dirty="0"/>
                <a:t>Country A – Period 1</a:t>
              </a:r>
            </a:p>
          </p:txBody>
        </p:sp>
      </p:grpSp>
      <p:sp>
        <p:nvSpPr>
          <p:cNvPr id="1025" name="TextBox 1024">
            <a:extLst>
              <a:ext uri="{FF2B5EF4-FFF2-40B4-BE49-F238E27FC236}">
                <a16:creationId xmlns:a16="http://schemas.microsoft.com/office/drawing/2014/main" id="{3365C06A-A39E-2845-370B-2D4A076B24EF}"/>
              </a:ext>
            </a:extLst>
          </p:cNvPr>
          <p:cNvSpPr txBox="1"/>
          <p:nvPr/>
        </p:nvSpPr>
        <p:spPr>
          <a:xfrm>
            <a:off x="3088967" y="5157164"/>
            <a:ext cx="1818190" cy="338554"/>
          </a:xfrm>
          <a:prstGeom prst="rect">
            <a:avLst/>
          </a:prstGeom>
          <a:noFill/>
        </p:spPr>
        <p:txBody>
          <a:bodyPr wrap="none" rtlCol="0">
            <a:spAutoFit/>
          </a:bodyPr>
          <a:lstStyle/>
          <a:p>
            <a:r>
              <a:rPr lang="en-US" sz="1600" b="1" i="1" dirty="0"/>
              <a:t>Extremism Type </a:t>
            </a:r>
            <a:r>
              <a:rPr lang="he-IL" sz="1600" b="1" i="1" dirty="0"/>
              <a:t>1</a:t>
            </a:r>
            <a:endParaRPr lang="en-US" sz="1600" b="1" i="1" dirty="0"/>
          </a:p>
        </p:txBody>
      </p:sp>
      <p:cxnSp>
        <p:nvCxnSpPr>
          <p:cNvPr id="4" name="Straight Connector 3">
            <a:extLst>
              <a:ext uri="{FF2B5EF4-FFF2-40B4-BE49-F238E27FC236}">
                <a16:creationId xmlns:a16="http://schemas.microsoft.com/office/drawing/2014/main" id="{E3CA2EFD-7011-157E-27FB-AB272CD7A41A}"/>
              </a:ext>
            </a:extLst>
          </p:cNvPr>
          <p:cNvCxnSpPr>
            <a:cxnSpLocks/>
          </p:cNvCxnSpPr>
          <p:nvPr/>
        </p:nvCxnSpPr>
        <p:spPr>
          <a:xfrm>
            <a:off x="7977963" y="2493902"/>
            <a:ext cx="0" cy="2997157"/>
          </a:xfrm>
          <a:prstGeom prst="line">
            <a:avLst/>
          </a:prstGeom>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030EA011-DCC8-3854-A720-6B882D707A39}"/>
              </a:ext>
            </a:extLst>
          </p:cNvPr>
          <p:cNvGrpSpPr/>
          <p:nvPr/>
        </p:nvGrpSpPr>
        <p:grpSpPr>
          <a:xfrm>
            <a:off x="683950" y="2466283"/>
            <a:ext cx="4008475" cy="249034"/>
            <a:chOff x="6273209" y="2498651"/>
            <a:chExt cx="4008475" cy="166023"/>
          </a:xfrm>
        </p:grpSpPr>
        <p:cxnSp>
          <p:nvCxnSpPr>
            <p:cNvPr id="14" name="Straight Connector 13">
              <a:extLst>
                <a:ext uri="{FF2B5EF4-FFF2-40B4-BE49-F238E27FC236}">
                  <a16:creationId xmlns:a16="http://schemas.microsoft.com/office/drawing/2014/main" id="{7FF5FBB1-9F42-0CE6-F5D6-D7E49A2475D7}"/>
                </a:ext>
              </a:extLst>
            </p:cNvPr>
            <p:cNvCxnSpPr/>
            <p:nvPr/>
          </p:nvCxnSpPr>
          <p:spPr>
            <a:xfrm>
              <a:off x="6273209" y="2498651"/>
              <a:ext cx="400847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970643D-ECC9-D805-AA31-8D9354C29911}"/>
                </a:ext>
              </a:extLst>
            </p:cNvPr>
            <p:cNvCxnSpPr/>
            <p:nvPr/>
          </p:nvCxnSpPr>
          <p:spPr>
            <a:xfrm>
              <a:off x="6273209" y="2498651"/>
              <a:ext cx="0" cy="164528"/>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0CA07DCD-8C7C-DC61-215E-8E205D5ACF66}"/>
                </a:ext>
              </a:extLst>
            </p:cNvPr>
            <p:cNvCxnSpPr/>
            <p:nvPr/>
          </p:nvCxnSpPr>
          <p:spPr>
            <a:xfrm>
              <a:off x="8304027" y="2498651"/>
              <a:ext cx="0" cy="164528"/>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14F24C4-B3B0-8717-883A-7EE1E3ABFF32}"/>
                </a:ext>
              </a:extLst>
            </p:cNvPr>
            <p:cNvCxnSpPr/>
            <p:nvPr/>
          </p:nvCxnSpPr>
          <p:spPr>
            <a:xfrm>
              <a:off x="10269279" y="2500146"/>
              <a:ext cx="0" cy="164528"/>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C1D783F6-E494-6A8D-4D0D-EB4760A22436}"/>
              </a:ext>
            </a:extLst>
          </p:cNvPr>
          <p:cNvGrpSpPr/>
          <p:nvPr/>
        </p:nvGrpSpPr>
        <p:grpSpPr>
          <a:xfrm>
            <a:off x="404438" y="2596387"/>
            <a:ext cx="4008475" cy="119951"/>
            <a:chOff x="6273209" y="2482502"/>
            <a:chExt cx="4008475" cy="182172"/>
          </a:xfrm>
        </p:grpSpPr>
        <p:cxnSp>
          <p:nvCxnSpPr>
            <p:cNvPr id="21" name="Straight Connector 20">
              <a:extLst>
                <a:ext uri="{FF2B5EF4-FFF2-40B4-BE49-F238E27FC236}">
                  <a16:creationId xmlns:a16="http://schemas.microsoft.com/office/drawing/2014/main" id="{A09586C3-4124-4458-CBC5-4E8935BA3CED}"/>
                </a:ext>
              </a:extLst>
            </p:cNvPr>
            <p:cNvCxnSpPr/>
            <p:nvPr/>
          </p:nvCxnSpPr>
          <p:spPr>
            <a:xfrm>
              <a:off x="6273209" y="2482502"/>
              <a:ext cx="4008475"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22" name="Straight Connector 21">
              <a:extLst>
                <a:ext uri="{FF2B5EF4-FFF2-40B4-BE49-F238E27FC236}">
                  <a16:creationId xmlns:a16="http://schemas.microsoft.com/office/drawing/2014/main" id="{9ED01323-F0E3-AA02-4F33-E04AEB14E5B7}"/>
                </a:ext>
              </a:extLst>
            </p:cNvPr>
            <p:cNvCxnSpPr/>
            <p:nvPr/>
          </p:nvCxnSpPr>
          <p:spPr>
            <a:xfrm>
              <a:off x="6273209" y="2498651"/>
              <a:ext cx="0" cy="164528"/>
            </a:xfrm>
            <a:prstGeom prst="line">
              <a:avLst/>
            </a:prstGeom>
          </p:spPr>
          <p:style>
            <a:lnRef idx="2">
              <a:schemeClr val="accent4"/>
            </a:lnRef>
            <a:fillRef idx="0">
              <a:schemeClr val="accent4"/>
            </a:fillRef>
            <a:effectRef idx="1">
              <a:schemeClr val="accent4"/>
            </a:effectRef>
            <a:fontRef idx="minor">
              <a:schemeClr val="tx1"/>
            </a:fontRef>
          </p:style>
        </p:cxnSp>
        <p:cxnSp>
          <p:nvCxnSpPr>
            <p:cNvPr id="23" name="Straight Connector 22">
              <a:extLst>
                <a:ext uri="{FF2B5EF4-FFF2-40B4-BE49-F238E27FC236}">
                  <a16:creationId xmlns:a16="http://schemas.microsoft.com/office/drawing/2014/main" id="{C13521A3-5A6A-C899-9E8F-DE70533A8A0B}"/>
                </a:ext>
              </a:extLst>
            </p:cNvPr>
            <p:cNvCxnSpPr/>
            <p:nvPr/>
          </p:nvCxnSpPr>
          <p:spPr>
            <a:xfrm>
              <a:off x="8304027" y="2498651"/>
              <a:ext cx="0" cy="164528"/>
            </a:xfrm>
            <a:prstGeom prst="line">
              <a:avLst/>
            </a:prstGeom>
          </p:spPr>
          <p:style>
            <a:lnRef idx="2">
              <a:schemeClr val="accent4"/>
            </a:lnRef>
            <a:fillRef idx="0">
              <a:schemeClr val="accent4"/>
            </a:fillRef>
            <a:effectRef idx="1">
              <a:schemeClr val="accent4"/>
            </a:effectRef>
            <a:fontRef idx="minor">
              <a:schemeClr val="tx1"/>
            </a:fontRef>
          </p:style>
        </p:cxnSp>
        <p:cxnSp>
          <p:nvCxnSpPr>
            <p:cNvPr id="24" name="Straight Connector 23">
              <a:extLst>
                <a:ext uri="{FF2B5EF4-FFF2-40B4-BE49-F238E27FC236}">
                  <a16:creationId xmlns:a16="http://schemas.microsoft.com/office/drawing/2014/main" id="{BB79FEC6-42F8-6A34-86E4-B573B9CCB2CA}"/>
                </a:ext>
              </a:extLst>
            </p:cNvPr>
            <p:cNvCxnSpPr/>
            <p:nvPr/>
          </p:nvCxnSpPr>
          <p:spPr>
            <a:xfrm>
              <a:off x="10269279" y="2500146"/>
              <a:ext cx="0" cy="164528"/>
            </a:xfrm>
            <a:prstGeom prst="line">
              <a:avLst/>
            </a:prstGeom>
          </p:spPr>
          <p:style>
            <a:lnRef idx="2">
              <a:schemeClr val="accent4"/>
            </a:lnRef>
            <a:fillRef idx="0">
              <a:schemeClr val="accent4"/>
            </a:fillRef>
            <a:effectRef idx="1">
              <a:schemeClr val="accent4"/>
            </a:effectRef>
            <a:fontRef idx="minor">
              <a:schemeClr val="tx1"/>
            </a:fontRef>
          </p:style>
        </p:cxnSp>
      </p:grpSp>
      <p:sp>
        <p:nvSpPr>
          <p:cNvPr id="25" name="TextBox 24">
            <a:extLst>
              <a:ext uri="{FF2B5EF4-FFF2-40B4-BE49-F238E27FC236}">
                <a16:creationId xmlns:a16="http://schemas.microsoft.com/office/drawing/2014/main" id="{20B71DDE-A0F6-1202-4209-7659AC1A15CA}"/>
              </a:ext>
            </a:extLst>
          </p:cNvPr>
          <p:cNvSpPr txBox="1"/>
          <p:nvPr/>
        </p:nvSpPr>
        <p:spPr>
          <a:xfrm>
            <a:off x="620151" y="2044812"/>
            <a:ext cx="3823996" cy="369332"/>
          </a:xfrm>
          <a:prstGeom prst="rect">
            <a:avLst/>
          </a:prstGeom>
          <a:noFill/>
        </p:spPr>
        <p:txBody>
          <a:bodyPr wrap="none" rtlCol="0">
            <a:spAutoFit/>
          </a:bodyPr>
          <a:lstStyle/>
          <a:p>
            <a:r>
              <a:rPr lang="en-US" dirty="0"/>
              <a:t>Cross-country comparative research</a:t>
            </a:r>
          </a:p>
        </p:txBody>
      </p:sp>
      <p:grpSp>
        <p:nvGrpSpPr>
          <p:cNvPr id="26" name="Group 25">
            <a:extLst>
              <a:ext uri="{FF2B5EF4-FFF2-40B4-BE49-F238E27FC236}">
                <a16:creationId xmlns:a16="http://schemas.microsoft.com/office/drawing/2014/main" id="{98C32900-A9D9-0884-C5B1-EE1A23169409}"/>
              </a:ext>
            </a:extLst>
          </p:cNvPr>
          <p:cNvGrpSpPr/>
          <p:nvPr/>
        </p:nvGrpSpPr>
        <p:grpSpPr>
          <a:xfrm>
            <a:off x="5412102" y="2414144"/>
            <a:ext cx="2296762" cy="288298"/>
            <a:chOff x="6273209" y="2498651"/>
            <a:chExt cx="4008475" cy="166023"/>
          </a:xfrm>
        </p:grpSpPr>
        <p:cxnSp>
          <p:nvCxnSpPr>
            <p:cNvPr id="27" name="Straight Connector 26">
              <a:extLst>
                <a:ext uri="{FF2B5EF4-FFF2-40B4-BE49-F238E27FC236}">
                  <a16:creationId xmlns:a16="http://schemas.microsoft.com/office/drawing/2014/main" id="{6D2E322B-2E48-069A-4E3F-9FBED8114498}"/>
                </a:ext>
              </a:extLst>
            </p:cNvPr>
            <p:cNvCxnSpPr/>
            <p:nvPr/>
          </p:nvCxnSpPr>
          <p:spPr>
            <a:xfrm>
              <a:off x="6273209" y="2498651"/>
              <a:ext cx="4008475"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A44E46F0-85D3-CE25-2221-D3FD1D1D1E7F}"/>
                </a:ext>
              </a:extLst>
            </p:cNvPr>
            <p:cNvCxnSpPr/>
            <p:nvPr/>
          </p:nvCxnSpPr>
          <p:spPr>
            <a:xfrm>
              <a:off x="6273209" y="2498651"/>
              <a:ext cx="0" cy="164528"/>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1C997E6-DBCF-73CB-9881-B56BE6D3D86C}"/>
                </a:ext>
              </a:extLst>
            </p:cNvPr>
            <p:cNvCxnSpPr/>
            <p:nvPr/>
          </p:nvCxnSpPr>
          <p:spPr>
            <a:xfrm>
              <a:off x="10269279" y="2500146"/>
              <a:ext cx="0" cy="164528"/>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31" name="Group 30">
            <a:extLst>
              <a:ext uri="{FF2B5EF4-FFF2-40B4-BE49-F238E27FC236}">
                <a16:creationId xmlns:a16="http://schemas.microsoft.com/office/drawing/2014/main" id="{604524BD-AF6F-D611-8D64-7C1AE9AB40A5}"/>
              </a:ext>
            </a:extLst>
          </p:cNvPr>
          <p:cNvGrpSpPr/>
          <p:nvPr/>
        </p:nvGrpSpPr>
        <p:grpSpPr>
          <a:xfrm>
            <a:off x="5047251" y="2578672"/>
            <a:ext cx="2296762" cy="123765"/>
            <a:chOff x="6273209" y="2498651"/>
            <a:chExt cx="4008475" cy="166023"/>
          </a:xfrm>
        </p:grpSpPr>
        <p:cxnSp>
          <p:nvCxnSpPr>
            <p:cNvPr id="32" name="Straight Connector 31">
              <a:extLst>
                <a:ext uri="{FF2B5EF4-FFF2-40B4-BE49-F238E27FC236}">
                  <a16:creationId xmlns:a16="http://schemas.microsoft.com/office/drawing/2014/main" id="{7C298EF3-DF9C-45D3-CFD7-417183676EE1}"/>
                </a:ext>
              </a:extLst>
            </p:cNvPr>
            <p:cNvCxnSpPr/>
            <p:nvPr/>
          </p:nvCxnSpPr>
          <p:spPr>
            <a:xfrm>
              <a:off x="6273209" y="2498651"/>
              <a:ext cx="400847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C60A62B1-2039-1FAE-877D-5823697E86D9}"/>
                </a:ext>
              </a:extLst>
            </p:cNvPr>
            <p:cNvCxnSpPr/>
            <p:nvPr/>
          </p:nvCxnSpPr>
          <p:spPr>
            <a:xfrm>
              <a:off x="6273209" y="2498651"/>
              <a:ext cx="0" cy="16452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93362EAD-37AF-93B2-1821-FD22C804A4E3}"/>
                </a:ext>
              </a:extLst>
            </p:cNvPr>
            <p:cNvCxnSpPr/>
            <p:nvPr/>
          </p:nvCxnSpPr>
          <p:spPr>
            <a:xfrm>
              <a:off x="10269279" y="2500146"/>
              <a:ext cx="0" cy="16452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35" name="TextBox 34">
            <a:extLst>
              <a:ext uri="{FF2B5EF4-FFF2-40B4-BE49-F238E27FC236}">
                <a16:creationId xmlns:a16="http://schemas.microsoft.com/office/drawing/2014/main" id="{4D0FA61A-40FA-6E62-4BE8-2053BC6C0040}"/>
              </a:ext>
            </a:extLst>
          </p:cNvPr>
          <p:cNvSpPr txBox="1"/>
          <p:nvPr/>
        </p:nvSpPr>
        <p:spPr>
          <a:xfrm>
            <a:off x="4733186" y="2042306"/>
            <a:ext cx="3383747" cy="369332"/>
          </a:xfrm>
          <a:prstGeom prst="rect">
            <a:avLst/>
          </a:prstGeom>
          <a:noFill/>
        </p:spPr>
        <p:txBody>
          <a:bodyPr wrap="none" rtlCol="0">
            <a:spAutoFit/>
          </a:bodyPr>
          <a:lstStyle/>
          <a:p>
            <a:r>
              <a:rPr lang="en-US" dirty="0"/>
              <a:t>Over-time comparative research</a:t>
            </a:r>
          </a:p>
        </p:txBody>
      </p:sp>
      <p:grpSp>
        <p:nvGrpSpPr>
          <p:cNvPr id="36" name="Group 35">
            <a:extLst>
              <a:ext uri="{FF2B5EF4-FFF2-40B4-BE49-F238E27FC236}">
                <a16:creationId xmlns:a16="http://schemas.microsoft.com/office/drawing/2014/main" id="{EB47E59C-0557-A05B-7D95-C307CACEE4B3}"/>
              </a:ext>
            </a:extLst>
          </p:cNvPr>
          <p:cNvGrpSpPr/>
          <p:nvPr/>
        </p:nvGrpSpPr>
        <p:grpSpPr>
          <a:xfrm>
            <a:off x="9358322" y="2403421"/>
            <a:ext cx="2296762" cy="288298"/>
            <a:chOff x="6273209" y="2498651"/>
            <a:chExt cx="4008475" cy="166023"/>
          </a:xfrm>
        </p:grpSpPr>
        <p:cxnSp>
          <p:nvCxnSpPr>
            <p:cNvPr id="37" name="Straight Connector 36">
              <a:extLst>
                <a:ext uri="{FF2B5EF4-FFF2-40B4-BE49-F238E27FC236}">
                  <a16:creationId xmlns:a16="http://schemas.microsoft.com/office/drawing/2014/main" id="{4E19D506-6AC0-56C1-E65E-1C36841C3061}"/>
                </a:ext>
              </a:extLst>
            </p:cNvPr>
            <p:cNvCxnSpPr/>
            <p:nvPr/>
          </p:nvCxnSpPr>
          <p:spPr>
            <a:xfrm>
              <a:off x="6273209" y="2498651"/>
              <a:ext cx="4008475"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17D1CFA5-8DFD-32F3-B4B4-927C9B952BBC}"/>
                </a:ext>
              </a:extLst>
            </p:cNvPr>
            <p:cNvCxnSpPr/>
            <p:nvPr/>
          </p:nvCxnSpPr>
          <p:spPr>
            <a:xfrm>
              <a:off x="6273209" y="2498651"/>
              <a:ext cx="0" cy="164528"/>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949DCAC0-7F31-DE9A-B07F-C9B688C7F456}"/>
                </a:ext>
              </a:extLst>
            </p:cNvPr>
            <p:cNvCxnSpPr/>
            <p:nvPr/>
          </p:nvCxnSpPr>
          <p:spPr>
            <a:xfrm>
              <a:off x="10269279" y="2500146"/>
              <a:ext cx="0" cy="164528"/>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grpSp>
      <p:grpSp>
        <p:nvGrpSpPr>
          <p:cNvPr id="40" name="Group 39">
            <a:extLst>
              <a:ext uri="{FF2B5EF4-FFF2-40B4-BE49-F238E27FC236}">
                <a16:creationId xmlns:a16="http://schemas.microsoft.com/office/drawing/2014/main" id="{127B2D87-5EE0-29E6-027A-88B637764B11}"/>
              </a:ext>
            </a:extLst>
          </p:cNvPr>
          <p:cNvGrpSpPr/>
          <p:nvPr/>
        </p:nvGrpSpPr>
        <p:grpSpPr>
          <a:xfrm>
            <a:off x="8993471" y="2567949"/>
            <a:ext cx="2296762" cy="123765"/>
            <a:chOff x="6273209" y="2498651"/>
            <a:chExt cx="4008475" cy="166023"/>
          </a:xfrm>
        </p:grpSpPr>
        <p:cxnSp>
          <p:nvCxnSpPr>
            <p:cNvPr id="41" name="Straight Connector 40">
              <a:extLst>
                <a:ext uri="{FF2B5EF4-FFF2-40B4-BE49-F238E27FC236}">
                  <a16:creationId xmlns:a16="http://schemas.microsoft.com/office/drawing/2014/main" id="{7C03867D-A618-90CB-2959-BFB898B47F97}"/>
                </a:ext>
              </a:extLst>
            </p:cNvPr>
            <p:cNvCxnSpPr/>
            <p:nvPr/>
          </p:nvCxnSpPr>
          <p:spPr>
            <a:xfrm>
              <a:off x="6273209" y="2498651"/>
              <a:ext cx="4008475"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3BF3CA0B-9417-668B-21D0-6F3F9D01F892}"/>
                </a:ext>
              </a:extLst>
            </p:cNvPr>
            <p:cNvCxnSpPr/>
            <p:nvPr/>
          </p:nvCxnSpPr>
          <p:spPr>
            <a:xfrm>
              <a:off x="6273209" y="2498651"/>
              <a:ext cx="0" cy="16452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AD6F8499-A749-7AC6-237A-52B018C38AD8}"/>
                </a:ext>
              </a:extLst>
            </p:cNvPr>
            <p:cNvCxnSpPr/>
            <p:nvPr/>
          </p:nvCxnSpPr>
          <p:spPr>
            <a:xfrm>
              <a:off x="10269279" y="2500146"/>
              <a:ext cx="0" cy="16452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44" name="TextBox 43">
            <a:extLst>
              <a:ext uri="{FF2B5EF4-FFF2-40B4-BE49-F238E27FC236}">
                <a16:creationId xmlns:a16="http://schemas.microsoft.com/office/drawing/2014/main" id="{2803B8A1-427F-61E3-315C-A2F85D25D554}"/>
              </a:ext>
            </a:extLst>
          </p:cNvPr>
          <p:cNvSpPr txBox="1"/>
          <p:nvPr/>
        </p:nvSpPr>
        <p:spPr>
          <a:xfrm>
            <a:off x="6214910" y="1528188"/>
            <a:ext cx="4385431" cy="369332"/>
          </a:xfrm>
          <a:prstGeom prst="rect">
            <a:avLst/>
          </a:prstGeom>
          <a:noFill/>
        </p:spPr>
        <p:txBody>
          <a:bodyPr wrap="none" rtlCol="0">
            <a:spAutoFit/>
          </a:bodyPr>
          <a:lstStyle/>
          <a:p>
            <a:r>
              <a:rPr lang="en-US" dirty="0"/>
              <a:t>Overall political extremism trends analysis</a:t>
            </a:r>
          </a:p>
        </p:txBody>
      </p:sp>
      <p:grpSp>
        <p:nvGrpSpPr>
          <p:cNvPr id="45" name="Group 44">
            <a:extLst>
              <a:ext uri="{FF2B5EF4-FFF2-40B4-BE49-F238E27FC236}">
                <a16:creationId xmlns:a16="http://schemas.microsoft.com/office/drawing/2014/main" id="{2725D0BF-6053-4958-3FA2-D933F0A57B1F}"/>
              </a:ext>
            </a:extLst>
          </p:cNvPr>
          <p:cNvGrpSpPr/>
          <p:nvPr/>
        </p:nvGrpSpPr>
        <p:grpSpPr>
          <a:xfrm>
            <a:off x="6406295" y="1957801"/>
            <a:ext cx="4088037" cy="453747"/>
            <a:chOff x="6273209" y="2498651"/>
            <a:chExt cx="4008475" cy="166023"/>
          </a:xfrm>
        </p:grpSpPr>
        <p:cxnSp>
          <p:nvCxnSpPr>
            <p:cNvPr id="46" name="Straight Connector 45">
              <a:extLst>
                <a:ext uri="{FF2B5EF4-FFF2-40B4-BE49-F238E27FC236}">
                  <a16:creationId xmlns:a16="http://schemas.microsoft.com/office/drawing/2014/main" id="{288C0CDB-B0CE-166D-5531-BD8732F959EC}"/>
                </a:ext>
              </a:extLst>
            </p:cNvPr>
            <p:cNvCxnSpPr/>
            <p:nvPr/>
          </p:nvCxnSpPr>
          <p:spPr>
            <a:xfrm>
              <a:off x="6273209" y="2498651"/>
              <a:ext cx="4008475" cy="0"/>
            </a:xfrm>
            <a:prstGeom prst="line">
              <a:avLst/>
            </a:prstGeom>
            <a:ln>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DA35BC89-A171-845E-FE32-E9E5309C1C62}"/>
                </a:ext>
              </a:extLst>
            </p:cNvPr>
            <p:cNvCxnSpPr/>
            <p:nvPr/>
          </p:nvCxnSpPr>
          <p:spPr>
            <a:xfrm>
              <a:off x="6273209" y="2498651"/>
              <a:ext cx="0" cy="164528"/>
            </a:xfrm>
            <a:prstGeom prst="line">
              <a:avLst/>
            </a:prstGeom>
            <a:ln>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6AF8238A-46E0-EA18-4EC1-D7A27062B701}"/>
                </a:ext>
              </a:extLst>
            </p:cNvPr>
            <p:cNvCxnSpPr/>
            <p:nvPr/>
          </p:nvCxnSpPr>
          <p:spPr>
            <a:xfrm>
              <a:off x="10269279" y="2500146"/>
              <a:ext cx="0" cy="164528"/>
            </a:xfrm>
            <a:prstGeom prst="line">
              <a:avLst/>
            </a:prstGeom>
            <a:ln>
              <a:solidFill>
                <a:schemeClr val="accent6">
                  <a:lumMod val="60000"/>
                  <a:lumOff val="40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39567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F4FE1-0151-EA18-5E90-9B9ADED44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2FE1A-31BF-C58A-4713-A43F491BF989}"/>
              </a:ext>
            </a:extLst>
          </p:cNvPr>
          <p:cNvSpPr>
            <a:spLocks noGrp="1"/>
          </p:cNvSpPr>
          <p:nvPr>
            <p:ph type="title"/>
          </p:nvPr>
        </p:nvSpPr>
        <p:spPr/>
        <p:txBody>
          <a:bodyPr>
            <a:noAutofit/>
          </a:bodyPr>
          <a:lstStyle/>
          <a:p>
            <a:r>
              <a:rPr lang="en-US" sz="3600" dirty="0"/>
              <a:t>Original Research: Threats and Political Extremism</a:t>
            </a:r>
          </a:p>
        </p:txBody>
      </p:sp>
      <p:grpSp>
        <p:nvGrpSpPr>
          <p:cNvPr id="6" name="Group 5">
            <a:extLst>
              <a:ext uri="{FF2B5EF4-FFF2-40B4-BE49-F238E27FC236}">
                <a16:creationId xmlns:a16="http://schemas.microsoft.com/office/drawing/2014/main" id="{2E499B1A-69EF-0A64-DE29-C76D4CA7D2C7}"/>
              </a:ext>
            </a:extLst>
          </p:cNvPr>
          <p:cNvGrpSpPr/>
          <p:nvPr/>
        </p:nvGrpSpPr>
        <p:grpSpPr>
          <a:xfrm>
            <a:off x="1463040" y="1946656"/>
            <a:ext cx="9265920" cy="4153408"/>
            <a:chOff x="1463040" y="1992376"/>
            <a:chExt cx="9265920" cy="4153408"/>
          </a:xfrm>
        </p:grpSpPr>
        <p:sp>
          <p:nvSpPr>
            <p:cNvPr id="3" name="Rectangle 2">
              <a:extLst>
                <a:ext uri="{FF2B5EF4-FFF2-40B4-BE49-F238E27FC236}">
                  <a16:creationId xmlns:a16="http://schemas.microsoft.com/office/drawing/2014/main" id="{2AAC631D-3B9A-04EA-7ADE-1C84EA6BB257}"/>
                </a:ext>
              </a:extLst>
            </p:cNvPr>
            <p:cNvSpPr/>
            <p:nvPr/>
          </p:nvSpPr>
          <p:spPr>
            <a:xfrm>
              <a:off x="4290568" y="1992376"/>
              <a:ext cx="2441448" cy="722376"/>
            </a:xfrm>
            <a:prstGeom prst="rect">
              <a:avLst/>
            </a:prstGeom>
            <a:solidFill>
              <a:srgbClr val="60ABC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Threat Perceptions</a:t>
              </a:r>
            </a:p>
            <a:p>
              <a:pPr algn="ctr"/>
              <a:r>
                <a:rPr lang="en-US" sz="1200" dirty="0"/>
                <a:t>(Cognitive: Physical, Symbolic)</a:t>
              </a:r>
            </a:p>
          </p:txBody>
        </p:sp>
        <p:sp>
          <p:nvSpPr>
            <p:cNvPr id="5" name="Rectangle 4">
              <a:extLst>
                <a:ext uri="{FF2B5EF4-FFF2-40B4-BE49-F238E27FC236}">
                  <a16:creationId xmlns:a16="http://schemas.microsoft.com/office/drawing/2014/main" id="{401385ED-26C7-3EEC-7E02-601006D3BEF4}"/>
                </a:ext>
              </a:extLst>
            </p:cNvPr>
            <p:cNvSpPr/>
            <p:nvPr/>
          </p:nvSpPr>
          <p:spPr>
            <a:xfrm>
              <a:off x="4290568" y="5423408"/>
              <a:ext cx="2441448" cy="722376"/>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Survival Instinct</a:t>
              </a:r>
            </a:p>
            <a:p>
              <a:pPr algn="ctr"/>
              <a:r>
                <a:rPr lang="en-US" sz="1200" dirty="0"/>
                <a:t>(Physiological)</a:t>
              </a:r>
            </a:p>
          </p:txBody>
        </p:sp>
        <p:sp>
          <p:nvSpPr>
            <p:cNvPr id="11" name="Oval 10">
              <a:extLst>
                <a:ext uri="{FF2B5EF4-FFF2-40B4-BE49-F238E27FC236}">
                  <a16:creationId xmlns:a16="http://schemas.microsoft.com/office/drawing/2014/main" id="{7890D3AC-C5BB-173C-3565-8C01927EDC5C}"/>
                </a:ext>
              </a:extLst>
            </p:cNvPr>
            <p:cNvSpPr/>
            <p:nvPr/>
          </p:nvSpPr>
          <p:spPr>
            <a:xfrm>
              <a:off x="1463040" y="3383280"/>
              <a:ext cx="1371600" cy="1371600"/>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Threats</a:t>
              </a:r>
            </a:p>
          </p:txBody>
        </p:sp>
        <p:sp>
          <p:nvSpPr>
            <p:cNvPr id="12" name="Rectangle: Rounded Corners 11">
              <a:extLst>
                <a:ext uri="{FF2B5EF4-FFF2-40B4-BE49-F238E27FC236}">
                  <a16:creationId xmlns:a16="http://schemas.microsoft.com/office/drawing/2014/main" id="{6CE67D7A-34BA-056F-B53C-533C500B8C40}"/>
                </a:ext>
              </a:extLst>
            </p:cNvPr>
            <p:cNvSpPr/>
            <p:nvPr/>
          </p:nvSpPr>
          <p:spPr>
            <a:xfrm>
              <a:off x="8371840" y="3103880"/>
              <a:ext cx="2357120" cy="193040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Political Extremism</a:t>
              </a:r>
            </a:p>
            <a:p>
              <a:pPr algn="ctr"/>
              <a:r>
                <a:rPr lang="en-US" sz="1200" dirty="0"/>
                <a:t>(Cognitive – Ideological,</a:t>
              </a:r>
            </a:p>
            <a:p>
              <a:pPr algn="ctr"/>
              <a:r>
                <a:rPr lang="en-US" sz="1200" dirty="0"/>
                <a:t> Behavioral – Violence, </a:t>
              </a:r>
            </a:p>
            <a:p>
              <a:pPr algn="ctr"/>
              <a:r>
                <a:rPr lang="en-US" sz="1200" dirty="0"/>
                <a:t>Social – Intolerance)</a:t>
              </a:r>
            </a:p>
          </p:txBody>
        </p:sp>
        <p:cxnSp>
          <p:nvCxnSpPr>
            <p:cNvPr id="14" name="Straight Arrow Connector 13">
              <a:extLst>
                <a:ext uri="{FF2B5EF4-FFF2-40B4-BE49-F238E27FC236}">
                  <a16:creationId xmlns:a16="http://schemas.microsoft.com/office/drawing/2014/main" id="{3308B8E8-A6EC-3B79-B413-251036E64C9E}"/>
                </a:ext>
              </a:extLst>
            </p:cNvPr>
            <p:cNvCxnSpPr>
              <a:stCxn id="11" idx="6"/>
              <a:endCxn id="3" idx="1"/>
            </p:cNvCxnSpPr>
            <p:nvPr/>
          </p:nvCxnSpPr>
          <p:spPr>
            <a:xfrm flipV="1">
              <a:off x="2834640" y="2353564"/>
              <a:ext cx="1455928" cy="1715516"/>
            </a:xfrm>
            <a:prstGeom prst="straightConnector1">
              <a:avLst/>
            </a:prstGeom>
            <a:ln w="76200">
              <a:solidFill>
                <a:schemeClr val="accent4">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6E6EEDF-A368-6942-29A2-5516591F9C5A}"/>
                </a:ext>
              </a:extLst>
            </p:cNvPr>
            <p:cNvCxnSpPr>
              <a:stCxn id="11" idx="6"/>
              <a:endCxn id="4" idx="1"/>
            </p:cNvCxnSpPr>
            <p:nvPr/>
          </p:nvCxnSpPr>
          <p:spPr>
            <a:xfrm>
              <a:off x="2834640" y="4069080"/>
              <a:ext cx="1455928" cy="0"/>
            </a:xfrm>
            <a:prstGeom prst="straightConnector1">
              <a:avLst/>
            </a:prstGeom>
            <a:ln w="7620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D97A5AA-907C-A4DA-68D0-2425A52CA5FD}"/>
                </a:ext>
              </a:extLst>
            </p:cNvPr>
            <p:cNvCxnSpPr>
              <a:stCxn id="11" idx="6"/>
              <a:endCxn id="5" idx="1"/>
            </p:cNvCxnSpPr>
            <p:nvPr/>
          </p:nvCxnSpPr>
          <p:spPr>
            <a:xfrm>
              <a:off x="2834640" y="4069080"/>
              <a:ext cx="1455928" cy="1715516"/>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CA0BFED-78B7-5859-5C0E-9394BD1FFF81}"/>
                </a:ext>
              </a:extLst>
            </p:cNvPr>
            <p:cNvCxnSpPr>
              <a:stCxn id="3" idx="3"/>
              <a:endCxn id="12" idx="1"/>
            </p:cNvCxnSpPr>
            <p:nvPr/>
          </p:nvCxnSpPr>
          <p:spPr>
            <a:xfrm>
              <a:off x="6732016" y="2353564"/>
              <a:ext cx="1639824" cy="1715516"/>
            </a:xfrm>
            <a:prstGeom prst="straightConnector1">
              <a:avLst/>
            </a:prstGeom>
            <a:ln w="76200">
              <a:solidFill>
                <a:schemeClr val="accent4">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5A5898B5-1BB4-12B3-EF43-72026697C82E}"/>
                </a:ext>
              </a:extLst>
            </p:cNvPr>
            <p:cNvCxnSpPr>
              <a:stCxn id="4" idx="3"/>
              <a:endCxn id="12" idx="1"/>
            </p:cNvCxnSpPr>
            <p:nvPr/>
          </p:nvCxnSpPr>
          <p:spPr>
            <a:xfrm>
              <a:off x="6732016" y="4069080"/>
              <a:ext cx="1639824" cy="0"/>
            </a:xfrm>
            <a:prstGeom prst="straightConnector1">
              <a:avLst/>
            </a:prstGeom>
            <a:ln w="76200">
              <a:solidFill>
                <a:srgbClr val="7030A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AEE720CB-2F7F-0795-EA75-68593C55CE13}"/>
                </a:ext>
              </a:extLst>
            </p:cNvPr>
            <p:cNvCxnSpPr>
              <a:stCxn id="5" idx="3"/>
              <a:endCxn id="12" idx="1"/>
            </p:cNvCxnSpPr>
            <p:nvPr/>
          </p:nvCxnSpPr>
          <p:spPr>
            <a:xfrm flipV="1">
              <a:off x="6732016" y="4069080"/>
              <a:ext cx="1639824" cy="1715516"/>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495534A3-732B-E5B9-5E92-67DE708890A6}"/>
                </a:ext>
              </a:extLst>
            </p:cNvPr>
            <p:cNvCxnSpPr>
              <a:stCxn id="3" idx="2"/>
              <a:endCxn id="4" idx="0"/>
            </p:cNvCxnSpPr>
            <p:nvPr/>
          </p:nvCxnSpPr>
          <p:spPr>
            <a:xfrm>
              <a:off x="5511292" y="2714752"/>
              <a:ext cx="0" cy="993140"/>
            </a:xfrm>
            <a:prstGeom prst="straightConnector1">
              <a:avLst/>
            </a:prstGeom>
            <a:ln w="76200">
              <a:solidFill>
                <a:schemeClr val="tx1"/>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8B36D21-5F4C-EB6E-0351-840059B38C1F}"/>
                </a:ext>
              </a:extLst>
            </p:cNvPr>
            <p:cNvCxnSpPr>
              <a:stCxn id="4" idx="2"/>
              <a:endCxn id="5" idx="0"/>
            </p:cNvCxnSpPr>
            <p:nvPr/>
          </p:nvCxnSpPr>
          <p:spPr>
            <a:xfrm>
              <a:off x="5511292" y="4430268"/>
              <a:ext cx="0" cy="993140"/>
            </a:xfrm>
            <a:prstGeom prst="straightConnector1">
              <a:avLst/>
            </a:prstGeom>
            <a:ln>
              <a:solidFill>
                <a:schemeClr val="bg1">
                  <a:lumMod val="85000"/>
                </a:schemeClr>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9E59794E-4A60-8051-8E78-1DC0E0B88B97}"/>
                </a:ext>
              </a:extLst>
            </p:cNvPr>
            <p:cNvCxnSpPr/>
            <p:nvPr/>
          </p:nvCxnSpPr>
          <p:spPr>
            <a:xfrm>
              <a:off x="4673600" y="2714752"/>
              <a:ext cx="0" cy="2708656"/>
            </a:xfrm>
            <a:prstGeom prst="straightConnector1">
              <a:avLst/>
            </a:prstGeom>
            <a:ln>
              <a:solidFill>
                <a:schemeClr val="bg1">
                  <a:lumMod val="85000"/>
                </a:schemeClr>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490551D3-DBF8-E861-8491-A5952CD1841B}"/>
                </a:ext>
              </a:extLst>
            </p:cNvPr>
            <p:cNvSpPr/>
            <p:nvPr/>
          </p:nvSpPr>
          <p:spPr>
            <a:xfrm>
              <a:off x="4290568" y="3707892"/>
              <a:ext cx="2441448" cy="722376"/>
            </a:xfrm>
            <a:prstGeom prst="rect">
              <a:avLst/>
            </a:prstGeom>
            <a:solidFill>
              <a:srgbClr val="78206E">
                <a:alpha val="8980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Social Identity</a:t>
              </a:r>
            </a:p>
            <a:p>
              <a:pPr algn="ctr"/>
              <a:r>
                <a:rPr lang="en-US" sz="1200" dirty="0"/>
                <a:t>(Social: Ingroup * Outgroup)</a:t>
              </a:r>
            </a:p>
          </p:txBody>
        </p:sp>
      </p:grpSp>
      <p:sp>
        <p:nvSpPr>
          <p:cNvPr id="8" name="Rectangle 7">
            <a:extLst>
              <a:ext uri="{FF2B5EF4-FFF2-40B4-BE49-F238E27FC236}">
                <a16:creationId xmlns:a16="http://schemas.microsoft.com/office/drawing/2014/main" id="{CF327571-C03B-AF9C-1979-8901BF21A663}"/>
              </a:ext>
            </a:extLst>
          </p:cNvPr>
          <p:cNvSpPr/>
          <p:nvPr/>
        </p:nvSpPr>
        <p:spPr>
          <a:xfrm>
            <a:off x="1271015" y="2962656"/>
            <a:ext cx="9637777" cy="2121408"/>
          </a:xfrm>
          <a:prstGeom prst="rect">
            <a:avLst/>
          </a:prstGeom>
          <a:solidFill>
            <a:srgbClr val="FFFF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3662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oup of people standing on a balcony with flags&#10;&#10;Description automatically generated">
            <a:extLst>
              <a:ext uri="{FF2B5EF4-FFF2-40B4-BE49-F238E27FC236}">
                <a16:creationId xmlns:a16="http://schemas.microsoft.com/office/drawing/2014/main" id="{24D7D506-2C28-AD4D-C935-74CD1E4E6C45}"/>
              </a:ext>
            </a:extLst>
          </p:cNvPr>
          <p:cNvPicPr>
            <a:picLocks noChangeAspect="1"/>
          </p:cNvPicPr>
          <p:nvPr/>
        </p:nvPicPr>
        <p:blipFill>
          <a:blip r:embed="rId2">
            <a:extLst>
              <a:ext uri="{28A0092B-C50C-407E-A947-70E740481C1C}">
                <a14:useLocalDpi xmlns:a14="http://schemas.microsoft.com/office/drawing/2010/main" val="0"/>
              </a:ext>
            </a:extLst>
          </a:blip>
          <a:srcRect r="1430" b="1"/>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5" name="TextBox 4">
            <a:extLst>
              <a:ext uri="{FF2B5EF4-FFF2-40B4-BE49-F238E27FC236}">
                <a16:creationId xmlns:a16="http://schemas.microsoft.com/office/drawing/2014/main" id="{B7CEA4C5-B2D0-45E3-C355-4FCB9C435999}"/>
              </a:ext>
            </a:extLst>
          </p:cNvPr>
          <p:cNvSpPr txBox="1"/>
          <p:nvPr/>
        </p:nvSpPr>
        <p:spPr>
          <a:xfrm>
            <a:off x="320040" y="3880866"/>
            <a:ext cx="11197331" cy="2452687"/>
          </a:xfrm>
          <a:prstGeom prst="rect">
            <a:avLst/>
          </a:prstGeom>
        </p:spPr>
        <p:txBody>
          <a:bodyPr vert="horz" lIns="91440" tIns="45720" rIns="91440" bIns="45720" rtlCol="0" anchor="ctr">
            <a:normAutofit/>
          </a:bodyPr>
          <a:lstStyle/>
          <a:p>
            <a:pPr marL="228600" marR="0">
              <a:lnSpc>
                <a:spcPct val="90000"/>
              </a:lnSpc>
              <a:spcBef>
                <a:spcPts val="0"/>
              </a:spcBef>
              <a:spcAft>
                <a:spcPts val="1200"/>
              </a:spcAft>
            </a:pPr>
            <a:r>
              <a:rPr lang="en-US" sz="3200" b="1" i="1" dirty="0">
                <a:effectLst/>
              </a:rPr>
              <a:t>‘Why study political extremism? Well, extremists typically kill people in large numbers.’ </a:t>
            </a:r>
          </a:p>
          <a:p>
            <a:pPr marL="228600" marR="0" algn="r">
              <a:lnSpc>
                <a:spcPct val="90000"/>
              </a:lnSpc>
              <a:spcBef>
                <a:spcPts val="0"/>
              </a:spcBef>
              <a:spcAft>
                <a:spcPts val="1200"/>
              </a:spcAft>
            </a:pPr>
            <a:r>
              <a:rPr lang="en-US" sz="3200" i="1" dirty="0">
                <a:effectLst/>
              </a:rPr>
              <a:t>(Midlarsky, 2011) </a:t>
            </a:r>
          </a:p>
        </p:txBody>
      </p:sp>
    </p:spTree>
    <p:extLst>
      <p:ext uri="{BB962C8B-B14F-4D97-AF65-F5344CB8AC3E}">
        <p14:creationId xmlns:p14="http://schemas.microsoft.com/office/powerpoint/2010/main" val="296318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BBD44-1B03-40DF-AD70-0BF593DC6590}"/>
              </a:ext>
            </a:extLst>
          </p:cNvPr>
          <p:cNvSpPr>
            <a:spLocks noGrp="1"/>
          </p:cNvSpPr>
          <p:nvPr>
            <p:ph type="ctrTitle"/>
          </p:nvPr>
        </p:nvSpPr>
        <p:spPr>
          <a:xfrm>
            <a:off x="374007" y="1122363"/>
            <a:ext cx="5962785" cy="2387600"/>
          </a:xfrm>
        </p:spPr>
        <p:txBody>
          <a:bodyPr>
            <a:noAutofit/>
          </a:bodyPr>
          <a:lstStyle/>
          <a:p>
            <a:r>
              <a:rPr lang="en-US" sz="4800" dirty="0">
                <a:solidFill>
                  <a:schemeClr val="tx1">
                    <a:lumMod val="65000"/>
                    <a:lumOff val="35000"/>
                  </a:schemeClr>
                </a:solidFill>
              </a:rPr>
              <a:t>Political Extremism Conceptualization and Operationalization</a:t>
            </a:r>
          </a:p>
        </p:txBody>
      </p:sp>
      <p:sp>
        <p:nvSpPr>
          <p:cNvPr id="4" name="Subtitle 3">
            <a:extLst>
              <a:ext uri="{FF2B5EF4-FFF2-40B4-BE49-F238E27FC236}">
                <a16:creationId xmlns:a16="http://schemas.microsoft.com/office/drawing/2014/main" id="{AFD2858C-A31B-44B9-9F9F-C64E3903DD62}"/>
              </a:ext>
            </a:extLst>
          </p:cNvPr>
          <p:cNvSpPr>
            <a:spLocks noGrp="1"/>
          </p:cNvSpPr>
          <p:nvPr>
            <p:ph type="subTitle" idx="1"/>
          </p:nvPr>
        </p:nvSpPr>
        <p:spPr>
          <a:xfrm>
            <a:off x="374007" y="3602038"/>
            <a:ext cx="5962785" cy="1655762"/>
          </a:xfrm>
        </p:spPr>
        <p:txBody>
          <a:bodyPr/>
          <a:lstStyle/>
          <a:p>
            <a:endParaRPr lang="en-US" dirty="0"/>
          </a:p>
          <a:p>
            <a:r>
              <a:rPr lang="en-US" b="1" i="1" dirty="0"/>
              <a:t>Dissertation Proposal</a:t>
            </a:r>
          </a:p>
        </p:txBody>
      </p:sp>
      <p:pic>
        <p:nvPicPr>
          <p:cNvPr id="5" name="Picture 4" descr="A scale with a group of people on it&#10;&#10;Description automatically generated">
            <a:extLst>
              <a:ext uri="{FF2B5EF4-FFF2-40B4-BE49-F238E27FC236}">
                <a16:creationId xmlns:a16="http://schemas.microsoft.com/office/drawing/2014/main" id="{BCC9F247-E1A0-854A-6C49-B480180A6DE6}"/>
              </a:ext>
            </a:extLst>
          </p:cNvPr>
          <p:cNvPicPr>
            <a:picLocks noChangeAspect="1"/>
          </p:cNvPicPr>
          <p:nvPr/>
        </p:nvPicPr>
        <p:blipFill rotWithShape="1">
          <a:blip r:embed="rId2">
            <a:lum bright="70000" contrast="-70000"/>
            <a:extLst>
              <a:ext uri="{BEBA8EAE-BF5A-486C-A8C5-ECC9F3942E4B}">
                <a14:imgProps xmlns:a14="http://schemas.microsoft.com/office/drawing/2010/main">
                  <a14:imgLayer r:embed="rId3">
                    <a14:imgEffect>
                      <a14:colorTemperature colorTemp="4700"/>
                    </a14:imgEffect>
                    <a14:imgEffect>
                      <a14:saturation sat="0"/>
                    </a14:imgEffect>
                  </a14:imgLayer>
                </a14:imgProps>
              </a:ext>
              <a:ext uri="{28A0092B-C50C-407E-A947-70E740481C1C}">
                <a14:useLocalDpi xmlns:a14="http://schemas.microsoft.com/office/drawing/2010/main" val="0"/>
              </a:ext>
            </a:extLst>
          </a:blip>
          <a:srcRect r="13054"/>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7" name="TextBox 6">
            <a:extLst>
              <a:ext uri="{FF2B5EF4-FFF2-40B4-BE49-F238E27FC236}">
                <a16:creationId xmlns:a16="http://schemas.microsoft.com/office/drawing/2014/main" id="{3E14593E-FE60-D693-AAF7-6D3746011735}"/>
              </a:ext>
            </a:extLst>
          </p:cNvPr>
          <p:cNvSpPr txBox="1"/>
          <p:nvPr/>
        </p:nvSpPr>
        <p:spPr>
          <a:xfrm>
            <a:off x="9547334" y="6454259"/>
            <a:ext cx="2552700" cy="276999"/>
          </a:xfrm>
          <a:prstGeom prst="rect">
            <a:avLst/>
          </a:prstGeom>
          <a:noFill/>
        </p:spPr>
        <p:txBody>
          <a:bodyPr wrap="square">
            <a:spAutoFit/>
          </a:bodyPr>
          <a:lstStyle/>
          <a:p>
            <a:r>
              <a:rPr lang="en-US" sz="1200" i="1" dirty="0">
                <a:solidFill>
                  <a:schemeClr val="bg1">
                    <a:lumMod val="75000"/>
                  </a:schemeClr>
                </a:solidFill>
              </a:rPr>
              <a:t>Image created by Microsoft Copilot</a:t>
            </a:r>
          </a:p>
        </p:txBody>
      </p:sp>
    </p:spTree>
    <p:extLst>
      <p:ext uri="{BB962C8B-B14F-4D97-AF65-F5344CB8AC3E}">
        <p14:creationId xmlns:p14="http://schemas.microsoft.com/office/powerpoint/2010/main" val="29841621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nvGrpSpPr>
          <p:cNvPr id="14" name="Group 13">
            <a:extLst>
              <a:ext uri="{FF2B5EF4-FFF2-40B4-BE49-F238E27FC236}">
                <a16:creationId xmlns:a16="http://schemas.microsoft.com/office/drawing/2014/main" id="{4B2AE301-8298-47C2-81FA-781BA50D99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5" name="Group 14">
              <a:extLst>
                <a:ext uri="{FF2B5EF4-FFF2-40B4-BE49-F238E27FC236}">
                  <a16:creationId xmlns:a16="http://schemas.microsoft.com/office/drawing/2014/main" id="{68DBE596-692C-4777-8933-9D5BB8533B3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9" name="Freeform: Shape 18">
                <a:extLst>
                  <a:ext uri="{FF2B5EF4-FFF2-40B4-BE49-F238E27FC236}">
                    <a16:creationId xmlns:a16="http://schemas.microsoft.com/office/drawing/2014/main" id="{9C38783D-8606-4709-8C6F-69DE0EF81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 name="Freeform: Shape 19">
                <a:extLst>
                  <a:ext uri="{FF2B5EF4-FFF2-40B4-BE49-F238E27FC236}">
                    <a16:creationId xmlns:a16="http://schemas.microsoft.com/office/drawing/2014/main" id="{665A2D8C-561A-4347-88E9-4D84CF7CA9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nvGrpSpPr>
            <p:cNvPr id="16" name="Group 15">
              <a:extLst>
                <a:ext uri="{FF2B5EF4-FFF2-40B4-BE49-F238E27FC236}">
                  <a16:creationId xmlns:a16="http://schemas.microsoft.com/office/drawing/2014/main" id="{77CB8EFE-31DC-44A2-A07E-FD84E8DA3E2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7" name="Freeform: Shape 16">
                <a:extLst>
                  <a:ext uri="{FF2B5EF4-FFF2-40B4-BE49-F238E27FC236}">
                    <a16:creationId xmlns:a16="http://schemas.microsoft.com/office/drawing/2014/main" id="{B6473FEC-46FF-4C7E-85BA-344E0365C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Freeform: Shape 17">
                <a:extLst>
                  <a:ext uri="{FF2B5EF4-FFF2-40B4-BE49-F238E27FC236}">
                    <a16:creationId xmlns:a16="http://schemas.microsoft.com/office/drawing/2014/main" id="{8C875950-A52D-453F-A602-3E58AD414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grpSp>
      <p:sp>
        <p:nvSpPr>
          <p:cNvPr id="2" name="Title 1">
            <a:extLst>
              <a:ext uri="{FF2B5EF4-FFF2-40B4-BE49-F238E27FC236}">
                <a16:creationId xmlns:a16="http://schemas.microsoft.com/office/drawing/2014/main" id="{7E29BF18-F622-1440-CDE0-2E38A99F1243}"/>
              </a:ext>
            </a:extLst>
          </p:cNvPr>
          <p:cNvSpPr>
            <a:spLocks noGrp="1"/>
          </p:cNvSpPr>
          <p:nvPr>
            <p:ph type="title"/>
          </p:nvPr>
        </p:nvSpPr>
        <p:spPr>
          <a:xfrm>
            <a:off x="6099175" y="1354819"/>
            <a:ext cx="5240881" cy="2411014"/>
          </a:xfrm>
        </p:spPr>
        <p:txBody>
          <a:bodyPr vert="horz" lIns="91440" tIns="45720" rIns="91440" bIns="45720" rtlCol="0" anchor="b">
            <a:normAutofit/>
          </a:bodyPr>
          <a:lstStyle/>
          <a:p>
            <a:r>
              <a:rPr lang="en-US" sz="7200" kern="1200">
                <a:solidFill>
                  <a:schemeClr val="bg1"/>
                </a:solidFill>
                <a:latin typeface="+mj-lt"/>
                <a:ea typeface="+mj-ea"/>
                <a:cs typeface="+mj-cs"/>
              </a:rPr>
              <a:t>Extremism in Israel</a:t>
            </a:r>
          </a:p>
        </p:txBody>
      </p:sp>
      <p:pic>
        <p:nvPicPr>
          <p:cNvPr id="7" name="Picture 6" descr="A couple of posters with a person in a scarf&#10;&#10;Description automatically generated with medium confidence">
            <a:extLst>
              <a:ext uri="{FF2B5EF4-FFF2-40B4-BE49-F238E27FC236}">
                <a16:creationId xmlns:a16="http://schemas.microsoft.com/office/drawing/2014/main" id="{EE27ADC9-F06E-996A-387D-9070EBCC0014}"/>
              </a:ext>
            </a:extLst>
          </p:cNvPr>
          <p:cNvPicPr>
            <a:picLocks noChangeAspect="1"/>
          </p:cNvPicPr>
          <p:nvPr/>
        </p:nvPicPr>
        <p:blipFill rotWithShape="1">
          <a:blip r:embed="rId3">
            <a:extLst>
              <a:ext uri="{28A0092B-C50C-407E-A947-70E740481C1C}">
                <a14:useLocalDpi xmlns:a14="http://schemas.microsoft.com/office/drawing/2010/main" val="0"/>
              </a:ext>
            </a:extLst>
          </a:blip>
          <a:srcRect r="-2" b="1427"/>
          <a:stretch/>
        </p:blipFill>
        <p:spPr>
          <a:xfrm>
            <a:off x="835024" y="1447864"/>
            <a:ext cx="4397376" cy="3250903"/>
          </a:xfrm>
          <a:prstGeom prst="rect">
            <a:avLst/>
          </a:prstGeom>
        </p:spPr>
      </p:pic>
    </p:spTree>
    <p:extLst>
      <p:ext uri="{BB962C8B-B14F-4D97-AF65-F5344CB8AC3E}">
        <p14:creationId xmlns:p14="http://schemas.microsoft.com/office/powerpoint/2010/main" val="17846507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 name="Rectangle 1043">
            <a:extLst>
              <a:ext uri="{FF2B5EF4-FFF2-40B4-BE49-F238E27FC236}">
                <a16:creationId xmlns:a16="http://schemas.microsoft.com/office/drawing/2014/main" id="{F8446B12-7391-4711-8B31-112A0B896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itle 2">
            <a:extLst>
              <a:ext uri="{FF2B5EF4-FFF2-40B4-BE49-F238E27FC236}">
                <a16:creationId xmlns:a16="http://schemas.microsoft.com/office/drawing/2014/main" id="{2BFA75B7-E449-A01F-14E4-6D535AB85229}"/>
              </a:ext>
            </a:extLst>
          </p:cNvPr>
          <p:cNvSpPr>
            <a:spLocks noGrp="1"/>
          </p:cNvSpPr>
          <p:nvPr>
            <p:ph type="title"/>
          </p:nvPr>
        </p:nvSpPr>
        <p:spPr>
          <a:xfrm>
            <a:off x="838199" y="4428000"/>
            <a:ext cx="6143626" cy="1400400"/>
          </a:xfrm>
        </p:spPr>
        <p:txBody>
          <a:bodyPr vert="horz" wrap="square" lIns="91440" tIns="45720" rIns="91440" bIns="45720" rtlCol="0" anchor="b">
            <a:normAutofit/>
          </a:bodyPr>
          <a:lstStyle/>
          <a:p>
            <a:r>
              <a:rPr lang="en-US" sz="5200" kern="1200">
                <a:solidFill>
                  <a:schemeClr val="bg1"/>
                </a:solidFill>
                <a:latin typeface="+mj-lt"/>
                <a:ea typeface="+mj-ea"/>
                <a:cs typeface="+mj-cs"/>
              </a:rPr>
              <a:t>Extremism in the USA</a:t>
            </a:r>
          </a:p>
        </p:txBody>
      </p:sp>
      <p:pic>
        <p:nvPicPr>
          <p:cNvPr id="1030" name="Picture 6" descr="Examining Extremism: Antifa | Examining Extremism | CSIS">
            <a:extLst>
              <a:ext uri="{FF2B5EF4-FFF2-40B4-BE49-F238E27FC236}">
                <a16:creationId xmlns:a16="http://schemas.microsoft.com/office/drawing/2014/main" id="{9B99F3EF-1D2E-EE73-DE0C-E62ABF6F40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 b="2339"/>
          <a:stretch/>
        </p:blipFill>
        <p:spPr bwMode="auto">
          <a:xfrm>
            <a:off x="6" y="-1"/>
            <a:ext cx="6000749" cy="3911828"/>
          </a:xfrm>
          <a:custGeom>
            <a:avLst/>
            <a:gdLst/>
            <a:ahLst/>
            <a:cxnLst/>
            <a:rect l="l" t="t" r="r" b="b"/>
            <a:pathLst>
              <a:path w="6000749" h="3911828">
                <a:moveTo>
                  <a:pt x="0" y="0"/>
                </a:moveTo>
                <a:lnTo>
                  <a:pt x="6000749" y="0"/>
                </a:lnTo>
                <a:lnTo>
                  <a:pt x="6000749" y="3767827"/>
                </a:lnTo>
                <a:lnTo>
                  <a:pt x="5572124" y="3740378"/>
                </a:lnTo>
                <a:lnTo>
                  <a:pt x="0" y="3911828"/>
                </a:lnTo>
                <a:close/>
              </a:path>
            </a:pathLst>
          </a:custGeom>
          <a:noFill/>
          <a:extLst>
            <a:ext uri="{909E8E84-426E-40DD-AFC4-6F175D3DCCD1}">
              <a14:hiddenFill xmlns:a14="http://schemas.microsoft.com/office/drawing/2010/main">
                <a:solidFill>
                  <a:srgbClr val="FFFFFF"/>
                </a:solidFill>
              </a14:hiddenFill>
            </a:ext>
          </a:extLst>
        </p:spPr>
      </p:pic>
      <p:pic>
        <p:nvPicPr>
          <p:cNvPr id="1032" name="Picture 8" descr="Our President Wants Us Here': The Mob That Stormed the Capitol - The New  York Times">
            <a:extLst>
              <a:ext uri="{FF2B5EF4-FFF2-40B4-BE49-F238E27FC236}">
                <a16:creationId xmlns:a16="http://schemas.microsoft.com/office/drawing/2014/main" id="{C338CA5D-E432-AB21-3F4F-4729F93687D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679" r="7684" b="2"/>
          <a:stretch/>
        </p:blipFill>
        <p:spPr bwMode="auto">
          <a:xfrm>
            <a:off x="6191245" y="-1"/>
            <a:ext cx="6000750" cy="3988028"/>
          </a:xfrm>
          <a:custGeom>
            <a:avLst/>
            <a:gdLst/>
            <a:ahLst/>
            <a:cxnLst/>
            <a:rect l="l" t="t" r="r" b="b"/>
            <a:pathLst>
              <a:path w="6000750" h="3988028">
                <a:moveTo>
                  <a:pt x="0" y="0"/>
                </a:moveTo>
                <a:lnTo>
                  <a:pt x="6000750" y="0"/>
                </a:lnTo>
                <a:lnTo>
                  <a:pt x="6000750" y="797153"/>
                </a:lnTo>
                <a:lnTo>
                  <a:pt x="6000750" y="2634343"/>
                </a:lnTo>
                <a:lnTo>
                  <a:pt x="6000750" y="3911828"/>
                </a:lnTo>
                <a:lnTo>
                  <a:pt x="3248025" y="3988028"/>
                </a:lnTo>
                <a:lnTo>
                  <a:pt x="0" y="3780026"/>
                </a:lnTo>
                <a:close/>
              </a:path>
            </a:pathLst>
          </a:custGeom>
          <a:noFill/>
          <a:extLst>
            <a:ext uri="{909E8E84-426E-40DD-AFC4-6F175D3DCCD1}">
              <a14:hiddenFill xmlns:a14="http://schemas.microsoft.com/office/drawing/2010/main">
                <a:solidFill>
                  <a:srgbClr val="FFFFFF"/>
                </a:solidFill>
              </a14:hiddenFill>
            </a:ext>
          </a:extLst>
        </p:spPr>
      </p:pic>
      <p:grpSp>
        <p:nvGrpSpPr>
          <p:cNvPr id="1046" name="Group 1045">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1047" name="Freeform: Shape 1046">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48" name="Freeform: Shape 1047">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4">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2003440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64" name="Rectangle 2063">
            <a:extLst>
              <a:ext uri="{FF2B5EF4-FFF2-40B4-BE49-F238E27FC236}">
                <a16:creationId xmlns:a16="http://schemas.microsoft.com/office/drawing/2014/main" id="{F8446B12-7391-4711-8B31-112A0B896C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A91F225-9758-F65D-69A4-B740F3D75D44}"/>
              </a:ext>
            </a:extLst>
          </p:cNvPr>
          <p:cNvSpPr>
            <a:spLocks noGrp="1"/>
          </p:cNvSpPr>
          <p:nvPr>
            <p:ph type="title"/>
          </p:nvPr>
        </p:nvSpPr>
        <p:spPr>
          <a:xfrm>
            <a:off x="838199" y="4428000"/>
            <a:ext cx="6143626" cy="1400400"/>
          </a:xfrm>
        </p:spPr>
        <p:txBody>
          <a:bodyPr vert="horz" wrap="square" lIns="91440" tIns="45720" rIns="91440" bIns="45720" rtlCol="0" anchor="b">
            <a:normAutofit/>
          </a:bodyPr>
          <a:lstStyle/>
          <a:p>
            <a:r>
              <a:rPr lang="en-US" sz="5600" kern="1200">
                <a:solidFill>
                  <a:schemeClr val="bg1"/>
                </a:solidFill>
                <a:latin typeface="+mj-lt"/>
                <a:ea typeface="+mj-ea"/>
                <a:cs typeface="+mj-cs"/>
              </a:rPr>
              <a:t>Extremism in Europe</a:t>
            </a:r>
          </a:p>
        </p:txBody>
      </p:sp>
      <p:pic>
        <p:nvPicPr>
          <p:cNvPr id="2052" name="Picture 4" descr="The Next Wave of Extremists Will Be Green – Foreign Policy">
            <a:extLst>
              <a:ext uri="{FF2B5EF4-FFF2-40B4-BE49-F238E27FC236}">
                <a16:creationId xmlns:a16="http://schemas.microsoft.com/office/drawing/2014/main" id="{2DFD4BE4-1C15-D48D-59F9-594423AD24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266" r="16101" b="-1"/>
          <a:stretch/>
        </p:blipFill>
        <p:spPr bwMode="auto">
          <a:xfrm>
            <a:off x="6" y="-1"/>
            <a:ext cx="6000749" cy="3911828"/>
          </a:xfrm>
          <a:custGeom>
            <a:avLst/>
            <a:gdLst/>
            <a:ahLst/>
            <a:cxnLst/>
            <a:rect l="l" t="t" r="r" b="b"/>
            <a:pathLst>
              <a:path w="6000749" h="3911828">
                <a:moveTo>
                  <a:pt x="0" y="0"/>
                </a:moveTo>
                <a:lnTo>
                  <a:pt x="6000749" y="0"/>
                </a:lnTo>
                <a:lnTo>
                  <a:pt x="6000749" y="3767827"/>
                </a:lnTo>
                <a:lnTo>
                  <a:pt x="5572124" y="3740378"/>
                </a:lnTo>
                <a:lnTo>
                  <a:pt x="0" y="3911828"/>
                </a:lnTo>
                <a:close/>
              </a:path>
            </a:pathLst>
          </a:custGeom>
          <a:noFill/>
          <a:extLst>
            <a:ext uri="{909E8E84-426E-40DD-AFC4-6F175D3DCCD1}">
              <a14:hiddenFill xmlns:a14="http://schemas.microsoft.com/office/drawing/2010/main">
                <a:solidFill>
                  <a:srgbClr val="FFFFFF"/>
                </a:solidFill>
              </a14:hiddenFill>
            </a:ext>
          </a:extLst>
        </p:spPr>
      </p:pic>
      <p:pic>
        <p:nvPicPr>
          <p:cNvPr id="2050" name="Picture 2" descr="In less than a decade, Poland's massive far-right march has gone global -  CSMonitor.com">
            <a:extLst>
              <a:ext uri="{FF2B5EF4-FFF2-40B4-BE49-F238E27FC236}">
                <a16:creationId xmlns:a16="http://schemas.microsoft.com/office/drawing/2014/main" id="{8870D973-A773-3F44-983F-A9F505D8BE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437"/>
          <a:stretch/>
        </p:blipFill>
        <p:spPr bwMode="auto">
          <a:xfrm>
            <a:off x="6191245" y="-1"/>
            <a:ext cx="6000750" cy="3988028"/>
          </a:xfrm>
          <a:custGeom>
            <a:avLst/>
            <a:gdLst/>
            <a:ahLst/>
            <a:cxnLst/>
            <a:rect l="l" t="t" r="r" b="b"/>
            <a:pathLst>
              <a:path w="6000750" h="3988028">
                <a:moveTo>
                  <a:pt x="0" y="0"/>
                </a:moveTo>
                <a:lnTo>
                  <a:pt x="6000750" y="0"/>
                </a:lnTo>
                <a:lnTo>
                  <a:pt x="6000750" y="797153"/>
                </a:lnTo>
                <a:lnTo>
                  <a:pt x="6000750" y="2634343"/>
                </a:lnTo>
                <a:lnTo>
                  <a:pt x="6000750" y="3911828"/>
                </a:lnTo>
                <a:lnTo>
                  <a:pt x="3248025" y="3988028"/>
                </a:lnTo>
                <a:lnTo>
                  <a:pt x="0" y="3780026"/>
                </a:lnTo>
                <a:close/>
              </a:path>
            </a:pathLst>
          </a:custGeom>
          <a:noFill/>
          <a:extLst>
            <a:ext uri="{909E8E84-426E-40DD-AFC4-6F175D3DCCD1}">
              <a14:hiddenFill xmlns:a14="http://schemas.microsoft.com/office/drawing/2010/main">
                <a:solidFill>
                  <a:srgbClr val="FFFFFF"/>
                </a:solidFill>
              </a14:hiddenFill>
            </a:ext>
          </a:extLst>
        </p:spPr>
      </p:pic>
      <p:grpSp>
        <p:nvGrpSpPr>
          <p:cNvPr id="2066" name="Group 2065">
            <a:extLst>
              <a:ext uri="{FF2B5EF4-FFF2-40B4-BE49-F238E27FC236}">
                <a16:creationId xmlns:a16="http://schemas.microsoft.com/office/drawing/2014/main" id="{AC0B7807-0C83-4963-821A-69B172722E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528992"/>
            <a:ext cx="12192000" cy="757168"/>
            <a:chOff x="0" y="2959818"/>
            <a:chExt cx="12192000" cy="757168"/>
          </a:xfrm>
        </p:grpSpPr>
        <p:sp>
          <p:nvSpPr>
            <p:cNvPr id="2067" name="Freeform: Shape 2066">
              <a:extLst>
                <a:ext uri="{FF2B5EF4-FFF2-40B4-BE49-F238E27FC236}">
                  <a16:creationId xmlns:a16="http://schemas.microsoft.com/office/drawing/2014/main" id="{BB027EC7-3252-48A2-A7A4-1741F72E47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solidFill>
              <a:srgbClr val="FFFFFF"/>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068" name="Freeform: Shape 2067">
              <a:extLst>
                <a:ext uri="{FF2B5EF4-FFF2-40B4-BE49-F238E27FC236}">
                  <a16:creationId xmlns:a16="http://schemas.microsoft.com/office/drawing/2014/main" id="{4EBC51E4-7477-4290-BBD0-18AD942C3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959818"/>
              <a:ext cx="12192000" cy="757168"/>
            </a:xfrm>
            <a:custGeom>
              <a:avLst/>
              <a:gdLst>
                <a:gd name="connsiteX0" fmla="*/ 0 w 12192000"/>
                <a:gd name="connsiteY0" fmla="*/ 0 h 757168"/>
                <a:gd name="connsiteX1" fmla="*/ 41653 w 12192000"/>
                <a:gd name="connsiteY1" fmla="*/ 6945 h 757168"/>
                <a:gd name="connsiteX2" fmla="*/ 81317 w 12192000"/>
                <a:gd name="connsiteY2" fmla="*/ 15509 h 757168"/>
                <a:gd name="connsiteX3" fmla="*/ 114150 w 12192000"/>
                <a:gd name="connsiteY3" fmla="*/ 28105 h 757168"/>
                <a:gd name="connsiteX4" fmla="*/ 214865 w 12192000"/>
                <a:gd name="connsiteY4" fmla="*/ 58374 h 757168"/>
                <a:gd name="connsiteX5" fmla="*/ 299237 w 12192000"/>
                <a:gd name="connsiteY5" fmla="*/ 63560 h 757168"/>
                <a:gd name="connsiteX6" fmla="*/ 415570 w 12192000"/>
                <a:gd name="connsiteY6" fmla="*/ 83774 h 757168"/>
                <a:gd name="connsiteX7" fmla="*/ 633210 w 12192000"/>
                <a:gd name="connsiteY7" fmla="*/ 109108 h 757168"/>
                <a:gd name="connsiteX8" fmla="*/ 677567 w 12192000"/>
                <a:gd name="connsiteY8" fmla="*/ 119446 h 757168"/>
                <a:gd name="connsiteX9" fmla="*/ 946429 w 12192000"/>
                <a:gd name="connsiteY9" fmla="*/ 171502 h 757168"/>
                <a:gd name="connsiteX10" fmla="*/ 1163367 w 12192000"/>
                <a:gd name="connsiteY10" fmla="*/ 182106 h 757168"/>
                <a:gd name="connsiteX11" fmla="*/ 1180337 w 12192000"/>
                <a:gd name="connsiteY11" fmla="*/ 181279 h 757168"/>
                <a:gd name="connsiteX12" fmla="*/ 1263939 w 12192000"/>
                <a:gd name="connsiteY12" fmla="*/ 173070 h 757168"/>
                <a:gd name="connsiteX13" fmla="*/ 1392213 w 12192000"/>
                <a:gd name="connsiteY13" fmla="*/ 183225 h 757168"/>
                <a:gd name="connsiteX14" fmla="*/ 1479752 w 12192000"/>
                <a:gd name="connsiteY14" fmla="*/ 205174 h 757168"/>
                <a:gd name="connsiteX15" fmla="*/ 1589813 w 12192000"/>
                <a:gd name="connsiteY15" fmla="*/ 211706 h 757168"/>
                <a:gd name="connsiteX16" fmla="*/ 1716264 w 12192000"/>
                <a:gd name="connsiteY16" fmla="*/ 207459 h 757168"/>
                <a:gd name="connsiteX17" fmla="*/ 1772900 w 12192000"/>
                <a:gd name="connsiteY17" fmla="*/ 208137 h 757168"/>
                <a:gd name="connsiteX18" fmla="*/ 1929319 w 12192000"/>
                <a:gd name="connsiteY18" fmla="*/ 193822 h 757168"/>
                <a:gd name="connsiteX19" fmla="*/ 2021514 w 12192000"/>
                <a:gd name="connsiteY19" fmla="*/ 204186 h 757168"/>
                <a:gd name="connsiteX20" fmla="*/ 2111753 w 12192000"/>
                <a:gd name="connsiteY20" fmla="*/ 223797 h 757168"/>
                <a:gd name="connsiteX21" fmla="*/ 2169356 w 12192000"/>
                <a:gd name="connsiteY21" fmla="*/ 241125 h 757168"/>
                <a:gd name="connsiteX22" fmla="*/ 2286638 w 12192000"/>
                <a:gd name="connsiteY22" fmla="*/ 257382 h 757168"/>
                <a:gd name="connsiteX23" fmla="*/ 2308368 w 12192000"/>
                <a:gd name="connsiteY23" fmla="*/ 256995 h 757168"/>
                <a:gd name="connsiteX24" fmla="*/ 2660621 w 12192000"/>
                <a:gd name="connsiteY24" fmla="*/ 262863 h 757168"/>
                <a:gd name="connsiteX25" fmla="*/ 2801134 w 12192000"/>
                <a:gd name="connsiteY25" fmla="*/ 250006 h 757168"/>
                <a:gd name="connsiteX26" fmla="*/ 2830994 w 12192000"/>
                <a:gd name="connsiteY26" fmla="*/ 249091 h 757168"/>
                <a:gd name="connsiteX27" fmla="*/ 3129084 w 12192000"/>
                <a:gd name="connsiteY27" fmla="*/ 242009 h 757168"/>
                <a:gd name="connsiteX28" fmla="*/ 3162162 w 12192000"/>
                <a:gd name="connsiteY28" fmla="*/ 242789 h 757168"/>
                <a:gd name="connsiteX29" fmla="*/ 3254072 w 12192000"/>
                <a:gd name="connsiteY29" fmla="*/ 251612 h 757168"/>
                <a:gd name="connsiteX30" fmla="*/ 3473491 w 12192000"/>
                <a:gd name="connsiteY30" fmla="*/ 221903 h 757168"/>
                <a:gd name="connsiteX31" fmla="*/ 3691860 w 12192000"/>
                <a:gd name="connsiteY31" fmla="*/ 219228 h 757168"/>
                <a:gd name="connsiteX32" fmla="*/ 3811494 w 12192000"/>
                <a:gd name="connsiteY32" fmla="*/ 225691 h 757168"/>
                <a:gd name="connsiteX33" fmla="*/ 3897533 w 12192000"/>
                <a:gd name="connsiteY33" fmla="*/ 220087 h 757168"/>
                <a:gd name="connsiteX34" fmla="*/ 4109430 w 12192000"/>
                <a:gd name="connsiteY34" fmla="*/ 200477 h 757168"/>
                <a:gd name="connsiteX35" fmla="*/ 4208772 w 12192000"/>
                <a:gd name="connsiteY35" fmla="*/ 200914 h 757168"/>
                <a:gd name="connsiteX36" fmla="*/ 4314641 w 12192000"/>
                <a:gd name="connsiteY36" fmla="*/ 196159 h 757168"/>
                <a:gd name="connsiteX37" fmla="*/ 4577622 w 12192000"/>
                <a:gd name="connsiteY37" fmla="*/ 163774 h 757168"/>
                <a:gd name="connsiteX38" fmla="*/ 4790345 w 12192000"/>
                <a:gd name="connsiteY38" fmla="*/ 177592 h 757168"/>
                <a:gd name="connsiteX39" fmla="*/ 4926164 w 12192000"/>
                <a:gd name="connsiteY39" fmla="*/ 184139 h 757168"/>
                <a:gd name="connsiteX40" fmla="*/ 5088812 w 12192000"/>
                <a:gd name="connsiteY40" fmla="*/ 177401 h 757168"/>
                <a:gd name="connsiteX41" fmla="*/ 5222466 w 12192000"/>
                <a:gd name="connsiteY41" fmla="*/ 162082 h 757168"/>
                <a:gd name="connsiteX42" fmla="*/ 5406528 w 12192000"/>
                <a:gd name="connsiteY42" fmla="*/ 153987 h 757168"/>
                <a:gd name="connsiteX43" fmla="*/ 5590716 w 12192000"/>
                <a:gd name="connsiteY43" fmla="*/ 129490 h 757168"/>
                <a:gd name="connsiteX44" fmla="*/ 5719429 w 12192000"/>
                <a:gd name="connsiteY44" fmla="*/ 110099 h 757168"/>
                <a:gd name="connsiteX45" fmla="*/ 5897895 w 12192000"/>
                <a:gd name="connsiteY45" fmla="*/ 96368 h 757168"/>
                <a:gd name="connsiteX46" fmla="*/ 6169957 w 12192000"/>
                <a:gd name="connsiteY46" fmla="*/ 94411 h 757168"/>
                <a:gd name="connsiteX47" fmla="*/ 6294827 w 12192000"/>
                <a:gd name="connsiteY47" fmla="*/ 99236 h 757168"/>
                <a:gd name="connsiteX48" fmla="*/ 6494261 w 12192000"/>
                <a:gd name="connsiteY48" fmla="*/ 71724 h 757168"/>
                <a:gd name="connsiteX49" fmla="*/ 6579627 w 12192000"/>
                <a:gd name="connsiteY49" fmla="*/ 57883 h 757168"/>
                <a:gd name="connsiteX50" fmla="*/ 6654800 w 12192000"/>
                <a:gd name="connsiteY50" fmla="*/ 77086 h 757168"/>
                <a:gd name="connsiteX51" fmla="*/ 6703059 w 12192000"/>
                <a:gd name="connsiteY51" fmla="*/ 97166 h 757168"/>
                <a:gd name="connsiteX52" fmla="*/ 6859445 w 12192000"/>
                <a:gd name="connsiteY52" fmla="*/ 90481 h 757168"/>
                <a:gd name="connsiteX53" fmla="*/ 7025414 w 12192000"/>
                <a:gd name="connsiteY53" fmla="*/ 83536 h 757168"/>
                <a:gd name="connsiteX54" fmla="*/ 7144137 w 12192000"/>
                <a:gd name="connsiteY54" fmla="*/ 79264 h 757168"/>
                <a:gd name="connsiteX55" fmla="*/ 7291235 w 12192000"/>
                <a:gd name="connsiteY55" fmla="*/ 95367 h 757168"/>
                <a:gd name="connsiteX56" fmla="*/ 7407395 w 12192000"/>
                <a:gd name="connsiteY56" fmla="*/ 104888 h 757168"/>
                <a:gd name="connsiteX57" fmla="*/ 7500837 w 12192000"/>
                <a:gd name="connsiteY57" fmla="*/ 119515 h 757168"/>
                <a:gd name="connsiteX58" fmla="*/ 7533567 w 12192000"/>
                <a:gd name="connsiteY58" fmla="*/ 126955 h 757168"/>
                <a:gd name="connsiteX59" fmla="*/ 7792910 w 12192000"/>
                <a:gd name="connsiteY59" fmla="*/ 185188 h 757168"/>
                <a:gd name="connsiteX60" fmla="*/ 8070699 w 12192000"/>
                <a:gd name="connsiteY60" fmla="*/ 235423 h 757168"/>
                <a:gd name="connsiteX61" fmla="*/ 8253177 w 12192000"/>
                <a:gd name="connsiteY61" fmla="*/ 222473 h 757168"/>
                <a:gd name="connsiteX62" fmla="*/ 8320683 w 12192000"/>
                <a:gd name="connsiteY62" fmla="*/ 226393 h 757168"/>
                <a:gd name="connsiteX63" fmla="*/ 8631438 w 12192000"/>
                <a:gd name="connsiteY63" fmla="*/ 237528 h 757168"/>
                <a:gd name="connsiteX64" fmla="*/ 8686410 w 12192000"/>
                <a:gd name="connsiteY64" fmla="*/ 234877 h 757168"/>
                <a:gd name="connsiteX65" fmla="*/ 8980658 w 12192000"/>
                <a:gd name="connsiteY65" fmla="*/ 273001 h 757168"/>
                <a:gd name="connsiteX66" fmla="*/ 9087625 w 12192000"/>
                <a:gd name="connsiteY66" fmla="*/ 282423 h 757168"/>
                <a:gd name="connsiteX67" fmla="*/ 9186017 w 12192000"/>
                <a:gd name="connsiteY67" fmla="*/ 293875 h 757168"/>
                <a:gd name="connsiteX68" fmla="*/ 9323931 w 12192000"/>
                <a:gd name="connsiteY68" fmla="*/ 302628 h 757168"/>
                <a:gd name="connsiteX69" fmla="*/ 9467213 w 12192000"/>
                <a:gd name="connsiteY69" fmla="*/ 307275 h 757168"/>
                <a:gd name="connsiteX70" fmla="*/ 9626826 w 12192000"/>
                <a:gd name="connsiteY70" fmla="*/ 316213 h 757168"/>
                <a:gd name="connsiteX71" fmla="*/ 9689696 w 12192000"/>
                <a:gd name="connsiteY71" fmla="*/ 324467 h 757168"/>
                <a:gd name="connsiteX72" fmla="*/ 9860526 w 12192000"/>
                <a:gd name="connsiteY72" fmla="*/ 329986 h 757168"/>
                <a:gd name="connsiteX73" fmla="*/ 9949775 w 12192000"/>
                <a:gd name="connsiteY73" fmla="*/ 340386 h 757168"/>
                <a:gd name="connsiteX74" fmla="*/ 10097252 w 12192000"/>
                <a:gd name="connsiteY74" fmla="*/ 349262 h 757168"/>
                <a:gd name="connsiteX75" fmla="*/ 10145261 w 12192000"/>
                <a:gd name="connsiteY75" fmla="*/ 353113 h 757168"/>
                <a:gd name="connsiteX76" fmla="*/ 10188159 w 12192000"/>
                <a:gd name="connsiteY76" fmla="*/ 356124 h 757168"/>
                <a:gd name="connsiteX77" fmla="*/ 10336144 w 12192000"/>
                <a:gd name="connsiteY77" fmla="*/ 348235 h 757168"/>
                <a:gd name="connsiteX78" fmla="*/ 10466847 w 12192000"/>
                <a:gd name="connsiteY78" fmla="*/ 354131 h 757168"/>
                <a:gd name="connsiteX79" fmla="*/ 10696514 w 12192000"/>
                <a:gd name="connsiteY79" fmla="*/ 353575 h 757168"/>
                <a:gd name="connsiteX80" fmla="*/ 10746932 w 12192000"/>
                <a:gd name="connsiteY80" fmla="*/ 360606 h 757168"/>
                <a:gd name="connsiteX81" fmla="*/ 10905388 w 12192000"/>
                <a:gd name="connsiteY81" fmla="*/ 370627 h 757168"/>
                <a:gd name="connsiteX82" fmla="*/ 10995602 w 12192000"/>
                <a:gd name="connsiteY82" fmla="*/ 376691 h 757168"/>
                <a:gd name="connsiteX83" fmla="*/ 11107647 w 12192000"/>
                <a:gd name="connsiteY83" fmla="*/ 373405 h 757168"/>
                <a:gd name="connsiteX84" fmla="*/ 11302440 w 12192000"/>
                <a:gd name="connsiteY84" fmla="*/ 364156 h 757168"/>
                <a:gd name="connsiteX85" fmla="*/ 11353613 w 12192000"/>
                <a:gd name="connsiteY85" fmla="*/ 363785 h 757168"/>
                <a:gd name="connsiteX86" fmla="*/ 11447323 w 12192000"/>
                <a:gd name="connsiteY86" fmla="*/ 359346 h 757168"/>
                <a:gd name="connsiteX87" fmla="*/ 11464292 w 12192000"/>
                <a:gd name="connsiteY87" fmla="*/ 358519 h 757168"/>
                <a:gd name="connsiteX88" fmla="*/ 11607560 w 12192000"/>
                <a:gd name="connsiteY88" fmla="*/ 342370 h 757168"/>
                <a:gd name="connsiteX89" fmla="*/ 11681426 w 12192000"/>
                <a:gd name="connsiteY89" fmla="*/ 344335 h 757168"/>
                <a:gd name="connsiteX90" fmla="*/ 11893565 w 12192000"/>
                <a:gd name="connsiteY90" fmla="*/ 355261 h 757168"/>
                <a:gd name="connsiteX91" fmla="*/ 11983290 w 12192000"/>
                <a:gd name="connsiteY91" fmla="*/ 363588 h 757168"/>
                <a:gd name="connsiteX92" fmla="*/ 12192000 w 12192000"/>
                <a:gd name="connsiteY92" fmla="*/ 388018 h 757168"/>
                <a:gd name="connsiteX93" fmla="*/ 12192000 w 12192000"/>
                <a:gd name="connsiteY93" fmla="*/ 577115 h 757168"/>
                <a:gd name="connsiteX94" fmla="*/ 12157329 w 12192000"/>
                <a:gd name="connsiteY94" fmla="*/ 588862 h 757168"/>
                <a:gd name="connsiteX95" fmla="*/ 12066948 w 12192000"/>
                <a:gd name="connsiteY95" fmla="*/ 586034 h 757168"/>
                <a:gd name="connsiteX96" fmla="*/ 11911344 w 12192000"/>
                <a:gd name="connsiteY96" fmla="*/ 521599 h 757168"/>
                <a:gd name="connsiteX97" fmla="*/ 11847823 w 12192000"/>
                <a:gd name="connsiteY97" fmla="*/ 511785 h 757168"/>
                <a:gd name="connsiteX98" fmla="*/ 11737547 w 12192000"/>
                <a:gd name="connsiteY98" fmla="*/ 502380 h 757168"/>
                <a:gd name="connsiteX99" fmla="*/ 11636052 w 12192000"/>
                <a:gd name="connsiteY99" fmla="*/ 514993 h 757168"/>
                <a:gd name="connsiteX100" fmla="*/ 11394706 w 12192000"/>
                <a:gd name="connsiteY100" fmla="*/ 590867 h 757168"/>
                <a:gd name="connsiteX101" fmla="*/ 11354978 w 12192000"/>
                <a:gd name="connsiteY101" fmla="*/ 597561 h 757168"/>
                <a:gd name="connsiteX102" fmla="*/ 11285306 w 12192000"/>
                <a:gd name="connsiteY102" fmla="*/ 599825 h 757168"/>
                <a:gd name="connsiteX103" fmla="*/ 11008528 w 12192000"/>
                <a:gd name="connsiteY103" fmla="*/ 656670 h 757168"/>
                <a:gd name="connsiteX104" fmla="*/ 10948735 w 12192000"/>
                <a:gd name="connsiteY104" fmla="*/ 652964 h 757168"/>
                <a:gd name="connsiteX105" fmla="*/ 10850698 w 12192000"/>
                <a:gd name="connsiteY105" fmla="*/ 641721 h 757168"/>
                <a:gd name="connsiteX106" fmla="*/ 10744026 w 12192000"/>
                <a:gd name="connsiteY106" fmla="*/ 647769 h 757168"/>
                <a:gd name="connsiteX107" fmla="*/ 10666160 w 12192000"/>
                <a:gd name="connsiteY107" fmla="*/ 651891 h 757168"/>
                <a:gd name="connsiteX108" fmla="*/ 10450521 w 12192000"/>
                <a:gd name="connsiteY108" fmla="*/ 616552 h 757168"/>
                <a:gd name="connsiteX109" fmla="*/ 10271192 w 12192000"/>
                <a:gd name="connsiteY109" fmla="*/ 583498 h 757168"/>
                <a:gd name="connsiteX110" fmla="*/ 10246067 w 12192000"/>
                <a:gd name="connsiteY110" fmla="*/ 585423 h 757168"/>
                <a:gd name="connsiteX111" fmla="*/ 10005027 w 12192000"/>
                <a:gd name="connsiteY111" fmla="*/ 592252 h 757168"/>
                <a:gd name="connsiteX112" fmla="*/ 9898681 w 12192000"/>
                <a:gd name="connsiteY112" fmla="*/ 613195 h 757168"/>
                <a:gd name="connsiteX113" fmla="*/ 9753225 w 12192000"/>
                <a:gd name="connsiteY113" fmla="*/ 629038 h 757168"/>
                <a:gd name="connsiteX114" fmla="*/ 9591376 w 12192000"/>
                <a:gd name="connsiteY114" fmla="*/ 648601 h 757168"/>
                <a:gd name="connsiteX115" fmla="*/ 9472860 w 12192000"/>
                <a:gd name="connsiteY115" fmla="*/ 655936 h 757168"/>
                <a:gd name="connsiteX116" fmla="*/ 9299788 w 12192000"/>
                <a:gd name="connsiteY116" fmla="*/ 636945 h 757168"/>
                <a:gd name="connsiteX117" fmla="*/ 9264605 w 12192000"/>
                <a:gd name="connsiteY117" fmla="*/ 627087 h 757168"/>
                <a:gd name="connsiteX118" fmla="*/ 8926435 w 12192000"/>
                <a:gd name="connsiteY118" fmla="*/ 549269 h 757168"/>
                <a:gd name="connsiteX119" fmla="*/ 8698934 w 12192000"/>
                <a:gd name="connsiteY119" fmla="*/ 536583 h 757168"/>
                <a:gd name="connsiteX120" fmla="*/ 8622862 w 12192000"/>
                <a:gd name="connsiteY120" fmla="*/ 541563 h 757168"/>
                <a:gd name="connsiteX121" fmla="*/ 8482784 w 12192000"/>
                <a:gd name="connsiteY121" fmla="*/ 574094 h 757168"/>
                <a:gd name="connsiteX122" fmla="*/ 8421565 w 12192000"/>
                <a:gd name="connsiteY122" fmla="*/ 576610 h 757168"/>
                <a:gd name="connsiteX123" fmla="*/ 8313469 w 12192000"/>
                <a:gd name="connsiteY123" fmla="*/ 574762 h 757168"/>
                <a:gd name="connsiteX124" fmla="*/ 8079520 w 12192000"/>
                <a:gd name="connsiteY124" fmla="*/ 558685 h 757168"/>
                <a:gd name="connsiteX125" fmla="*/ 7773327 w 12192000"/>
                <a:gd name="connsiteY125" fmla="*/ 558854 h 757168"/>
                <a:gd name="connsiteX126" fmla="*/ 7652477 w 12192000"/>
                <a:gd name="connsiteY126" fmla="*/ 547561 h 757168"/>
                <a:gd name="connsiteX127" fmla="*/ 7522274 w 12192000"/>
                <a:gd name="connsiteY127" fmla="*/ 532150 h 757168"/>
                <a:gd name="connsiteX128" fmla="*/ 7484080 w 12192000"/>
                <a:gd name="connsiteY128" fmla="*/ 530532 h 757168"/>
                <a:gd name="connsiteX129" fmla="*/ 7282277 w 12192000"/>
                <a:gd name="connsiteY129" fmla="*/ 540177 h 757168"/>
                <a:gd name="connsiteX130" fmla="*/ 7235690 w 12192000"/>
                <a:gd name="connsiteY130" fmla="*/ 551282 h 757168"/>
                <a:gd name="connsiteX131" fmla="*/ 7116339 w 12192000"/>
                <a:gd name="connsiteY131" fmla="*/ 539494 h 757168"/>
                <a:gd name="connsiteX132" fmla="*/ 7011067 w 12192000"/>
                <a:gd name="connsiteY132" fmla="*/ 511848 h 757168"/>
                <a:gd name="connsiteX133" fmla="*/ 6403234 w 12192000"/>
                <a:gd name="connsiteY133" fmla="*/ 432296 h 757168"/>
                <a:gd name="connsiteX134" fmla="*/ 6036273 w 12192000"/>
                <a:gd name="connsiteY134" fmla="*/ 412301 h 757168"/>
                <a:gd name="connsiteX135" fmla="*/ 5780467 w 12192000"/>
                <a:gd name="connsiteY135" fmla="*/ 377910 h 757168"/>
                <a:gd name="connsiteX136" fmla="*/ 5739051 w 12192000"/>
                <a:gd name="connsiteY136" fmla="*/ 353609 h 757168"/>
                <a:gd name="connsiteX137" fmla="*/ 5583566 w 12192000"/>
                <a:gd name="connsiteY137" fmla="*/ 321995 h 757168"/>
                <a:gd name="connsiteX138" fmla="*/ 5432030 w 12192000"/>
                <a:gd name="connsiteY138" fmla="*/ 362512 h 757168"/>
                <a:gd name="connsiteX139" fmla="*/ 5241398 w 12192000"/>
                <a:gd name="connsiteY139" fmla="*/ 425781 h 757168"/>
                <a:gd name="connsiteX140" fmla="*/ 5139710 w 12192000"/>
                <a:gd name="connsiteY140" fmla="*/ 421022 h 757168"/>
                <a:gd name="connsiteX141" fmla="*/ 4929402 w 12192000"/>
                <a:gd name="connsiteY141" fmla="*/ 424310 h 757168"/>
                <a:gd name="connsiteX142" fmla="*/ 4782793 w 12192000"/>
                <a:gd name="connsiteY142" fmla="*/ 441046 h 757168"/>
                <a:gd name="connsiteX143" fmla="*/ 4577594 w 12192000"/>
                <a:gd name="connsiteY143" fmla="*/ 459290 h 757168"/>
                <a:gd name="connsiteX144" fmla="*/ 4500826 w 12192000"/>
                <a:gd name="connsiteY144" fmla="*/ 470529 h 757168"/>
                <a:gd name="connsiteX145" fmla="*/ 4317973 w 12192000"/>
                <a:gd name="connsiteY145" fmla="*/ 483649 h 757168"/>
                <a:gd name="connsiteX146" fmla="*/ 4166722 w 12192000"/>
                <a:gd name="connsiteY146" fmla="*/ 490602 h 757168"/>
                <a:gd name="connsiteX147" fmla="*/ 4042814 w 12192000"/>
                <a:gd name="connsiteY147" fmla="*/ 530660 h 757168"/>
                <a:gd name="connsiteX148" fmla="*/ 4002653 w 12192000"/>
                <a:gd name="connsiteY148" fmla="*/ 552594 h 757168"/>
                <a:gd name="connsiteX149" fmla="*/ 3969549 w 12192000"/>
                <a:gd name="connsiteY149" fmla="*/ 566312 h 757168"/>
                <a:gd name="connsiteX150" fmla="*/ 3821685 w 12192000"/>
                <a:gd name="connsiteY150" fmla="*/ 649183 h 757168"/>
                <a:gd name="connsiteX151" fmla="*/ 3805138 w 12192000"/>
                <a:gd name="connsiteY151" fmla="*/ 655947 h 757168"/>
                <a:gd name="connsiteX152" fmla="*/ 3609177 w 12192000"/>
                <a:gd name="connsiteY152" fmla="*/ 687459 h 757168"/>
                <a:gd name="connsiteX153" fmla="*/ 3539727 w 12192000"/>
                <a:gd name="connsiteY153" fmla="*/ 706521 h 757168"/>
                <a:gd name="connsiteX154" fmla="*/ 3396572 w 12192000"/>
                <a:gd name="connsiteY154" fmla="*/ 755681 h 757168"/>
                <a:gd name="connsiteX155" fmla="*/ 3341054 w 12192000"/>
                <a:gd name="connsiteY155" fmla="*/ 754679 h 757168"/>
                <a:gd name="connsiteX156" fmla="*/ 3138775 w 12192000"/>
                <a:gd name="connsiteY156" fmla="*/ 710120 h 757168"/>
                <a:gd name="connsiteX157" fmla="*/ 3037283 w 12192000"/>
                <a:gd name="connsiteY157" fmla="*/ 666453 h 757168"/>
                <a:gd name="connsiteX158" fmla="*/ 3002117 w 12192000"/>
                <a:gd name="connsiteY158" fmla="*/ 649347 h 757168"/>
                <a:gd name="connsiteX159" fmla="*/ 2747294 w 12192000"/>
                <a:gd name="connsiteY159" fmla="*/ 652400 h 757168"/>
                <a:gd name="connsiteX160" fmla="*/ 2676273 w 12192000"/>
                <a:gd name="connsiteY160" fmla="*/ 652304 h 757168"/>
                <a:gd name="connsiteX161" fmla="*/ 2432360 w 12192000"/>
                <a:gd name="connsiteY161" fmla="*/ 657836 h 757168"/>
                <a:gd name="connsiteX162" fmla="*/ 2382311 w 12192000"/>
                <a:gd name="connsiteY162" fmla="*/ 650824 h 757168"/>
                <a:gd name="connsiteX163" fmla="*/ 2055134 w 12192000"/>
                <a:gd name="connsiteY163" fmla="*/ 630053 h 757168"/>
                <a:gd name="connsiteX164" fmla="*/ 2031829 w 12192000"/>
                <a:gd name="connsiteY164" fmla="*/ 639324 h 757168"/>
                <a:gd name="connsiteX165" fmla="*/ 1912764 w 12192000"/>
                <a:gd name="connsiteY165" fmla="*/ 664183 h 757168"/>
                <a:gd name="connsiteX166" fmla="*/ 1755637 w 12192000"/>
                <a:gd name="connsiteY166" fmla="*/ 663960 h 757168"/>
                <a:gd name="connsiteX167" fmla="*/ 1727159 w 12192000"/>
                <a:gd name="connsiteY167" fmla="*/ 659605 h 757168"/>
                <a:gd name="connsiteX168" fmla="*/ 1622470 w 12192000"/>
                <a:gd name="connsiteY168" fmla="*/ 634850 h 757168"/>
                <a:gd name="connsiteX169" fmla="*/ 1385955 w 12192000"/>
                <a:gd name="connsiteY169" fmla="*/ 604522 h 757168"/>
                <a:gd name="connsiteX170" fmla="*/ 1340055 w 12192000"/>
                <a:gd name="connsiteY170" fmla="*/ 595629 h 757168"/>
                <a:gd name="connsiteX171" fmla="*/ 1257271 w 12192000"/>
                <a:gd name="connsiteY171" fmla="*/ 581180 h 757168"/>
                <a:gd name="connsiteX172" fmla="*/ 1031914 w 12192000"/>
                <a:gd name="connsiteY172" fmla="*/ 562692 h 757168"/>
                <a:gd name="connsiteX173" fmla="*/ 922031 w 12192000"/>
                <a:gd name="connsiteY173" fmla="*/ 566853 h 757168"/>
                <a:gd name="connsiteX174" fmla="*/ 873250 w 12192000"/>
                <a:gd name="connsiteY174" fmla="*/ 563724 h 757168"/>
                <a:gd name="connsiteX175" fmla="*/ 711627 w 12192000"/>
                <a:gd name="connsiteY175" fmla="*/ 529880 h 757168"/>
                <a:gd name="connsiteX176" fmla="*/ 311112 w 12192000"/>
                <a:gd name="connsiteY176" fmla="*/ 525106 h 757168"/>
                <a:gd name="connsiteX177" fmla="*/ 184145 w 12192000"/>
                <a:gd name="connsiteY177" fmla="*/ 532188 h 757168"/>
                <a:gd name="connsiteX178" fmla="*/ 116886 w 12192000"/>
                <a:gd name="connsiteY178" fmla="*/ 530572 h 757168"/>
                <a:gd name="connsiteX179" fmla="*/ 23941 w 12192000"/>
                <a:gd name="connsiteY179" fmla="*/ 506433 h 757168"/>
                <a:gd name="connsiteX180" fmla="*/ 0 w 12192000"/>
                <a:gd name="connsiteY180" fmla="*/ 502149 h 757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Lst>
              <a:rect l="l" t="t" r="r" b="b"/>
              <a:pathLst>
                <a:path w="12192000" h="757168">
                  <a:moveTo>
                    <a:pt x="0" y="0"/>
                  </a:moveTo>
                  <a:lnTo>
                    <a:pt x="41653" y="6945"/>
                  </a:lnTo>
                  <a:cubicBezTo>
                    <a:pt x="55151" y="9178"/>
                    <a:pt x="68996" y="11810"/>
                    <a:pt x="81317" y="15509"/>
                  </a:cubicBezTo>
                  <a:cubicBezTo>
                    <a:pt x="92911" y="18978"/>
                    <a:pt x="102562" y="24446"/>
                    <a:pt x="114150" y="28105"/>
                  </a:cubicBezTo>
                  <a:cubicBezTo>
                    <a:pt x="145644" y="37958"/>
                    <a:pt x="177914" y="47281"/>
                    <a:pt x="214865" y="58374"/>
                  </a:cubicBezTo>
                  <a:cubicBezTo>
                    <a:pt x="236680" y="42349"/>
                    <a:pt x="264438" y="53534"/>
                    <a:pt x="299237" y="63560"/>
                  </a:cubicBezTo>
                  <a:cubicBezTo>
                    <a:pt x="334763" y="73816"/>
                    <a:pt x="376093" y="78654"/>
                    <a:pt x="415570" y="83774"/>
                  </a:cubicBezTo>
                  <a:cubicBezTo>
                    <a:pt x="487949" y="93100"/>
                    <a:pt x="560804" y="100354"/>
                    <a:pt x="633210" y="109108"/>
                  </a:cubicBezTo>
                  <a:cubicBezTo>
                    <a:pt x="648566" y="111058"/>
                    <a:pt x="666073" y="114072"/>
                    <a:pt x="677567" y="119446"/>
                  </a:cubicBezTo>
                  <a:cubicBezTo>
                    <a:pt x="756262" y="155621"/>
                    <a:pt x="853422" y="169678"/>
                    <a:pt x="946429" y="171502"/>
                  </a:cubicBezTo>
                  <a:cubicBezTo>
                    <a:pt x="1019582" y="173044"/>
                    <a:pt x="1091239" y="175083"/>
                    <a:pt x="1163367" y="182106"/>
                  </a:cubicBezTo>
                  <a:cubicBezTo>
                    <a:pt x="1168863" y="182586"/>
                    <a:pt x="1176224" y="182589"/>
                    <a:pt x="1180337" y="181279"/>
                  </a:cubicBezTo>
                  <a:cubicBezTo>
                    <a:pt x="1205822" y="172503"/>
                    <a:pt x="1231920" y="173109"/>
                    <a:pt x="1263939" y="173070"/>
                  </a:cubicBezTo>
                  <a:cubicBezTo>
                    <a:pt x="1309211" y="172961"/>
                    <a:pt x="1350592" y="176848"/>
                    <a:pt x="1392213" y="183225"/>
                  </a:cubicBezTo>
                  <a:cubicBezTo>
                    <a:pt x="1422516" y="187866"/>
                    <a:pt x="1453010" y="195759"/>
                    <a:pt x="1479752" y="205174"/>
                  </a:cubicBezTo>
                  <a:cubicBezTo>
                    <a:pt x="1516962" y="218381"/>
                    <a:pt x="1553071" y="224660"/>
                    <a:pt x="1589813" y="211706"/>
                  </a:cubicBezTo>
                  <a:cubicBezTo>
                    <a:pt x="1629541" y="197953"/>
                    <a:pt x="1673292" y="205778"/>
                    <a:pt x="1716264" y="207459"/>
                  </a:cubicBezTo>
                  <a:cubicBezTo>
                    <a:pt x="1734988" y="208248"/>
                    <a:pt x="1754789" y="209668"/>
                    <a:pt x="1772900" y="208137"/>
                  </a:cubicBezTo>
                  <a:cubicBezTo>
                    <a:pt x="1825381" y="203828"/>
                    <a:pt x="1876222" y="195808"/>
                    <a:pt x="1929319" y="193822"/>
                  </a:cubicBezTo>
                  <a:cubicBezTo>
                    <a:pt x="1958819" y="192698"/>
                    <a:pt x="1991232" y="199166"/>
                    <a:pt x="2021514" y="204186"/>
                  </a:cubicBezTo>
                  <a:cubicBezTo>
                    <a:pt x="2052154" y="209417"/>
                    <a:pt x="2082323" y="216530"/>
                    <a:pt x="2111753" y="223797"/>
                  </a:cubicBezTo>
                  <a:cubicBezTo>
                    <a:pt x="2131736" y="228659"/>
                    <a:pt x="2153567" y="233429"/>
                    <a:pt x="2169356" y="241125"/>
                  </a:cubicBezTo>
                  <a:cubicBezTo>
                    <a:pt x="2205243" y="258649"/>
                    <a:pt x="2242901" y="263295"/>
                    <a:pt x="2286638" y="257382"/>
                  </a:cubicBezTo>
                  <a:cubicBezTo>
                    <a:pt x="2293313" y="256396"/>
                    <a:pt x="2301018" y="256799"/>
                    <a:pt x="2308368" y="256995"/>
                  </a:cubicBezTo>
                  <a:cubicBezTo>
                    <a:pt x="2426026" y="259155"/>
                    <a:pt x="2543593" y="262834"/>
                    <a:pt x="2660621" y="262863"/>
                  </a:cubicBezTo>
                  <a:cubicBezTo>
                    <a:pt x="2708088" y="262871"/>
                    <a:pt x="2754165" y="254412"/>
                    <a:pt x="2801134" y="250006"/>
                  </a:cubicBezTo>
                  <a:cubicBezTo>
                    <a:pt x="2810748" y="249174"/>
                    <a:pt x="2821504" y="247638"/>
                    <a:pt x="2830994" y="249091"/>
                  </a:cubicBezTo>
                  <a:cubicBezTo>
                    <a:pt x="2934354" y="264045"/>
                    <a:pt x="3032340" y="255254"/>
                    <a:pt x="3129084" y="242009"/>
                  </a:cubicBezTo>
                  <a:cubicBezTo>
                    <a:pt x="3139090" y="240625"/>
                    <a:pt x="3151170" y="241831"/>
                    <a:pt x="3162162" y="242789"/>
                  </a:cubicBezTo>
                  <a:cubicBezTo>
                    <a:pt x="3192925" y="245736"/>
                    <a:pt x="3225969" y="254145"/>
                    <a:pt x="3254072" y="251612"/>
                  </a:cubicBezTo>
                  <a:cubicBezTo>
                    <a:pt x="3328782" y="244461"/>
                    <a:pt x="3402881" y="234992"/>
                    <a:pt x="3473491" y="221903"/>
                  </a:cubicBezTo>
                  <a:cubicBezTo>
                    <a:pt x="3545212" y="208683"/>
                    <a:pt x="3611651" y="197856"/>
                    <a:pt x="3691860" y="219228"/>
                  </a:cubicBezTo>
                  <a:cubicBezTo>
                    <a:pt x="3725977" y="228268"/>
                    <a:pt x="3771754" y="225515"/>
                    <a:pt x="3811494" y="225691"/>
                  </a:cubicBezTo>
                  <a:cubicBezTo>
                    <a:pt x="3840564" y="225687"/>
                    <a:pt x="3868906" y="218586"/>
                    <a:pt x="3897533" y="220087"/>
                  </a:cubicBezTo>
                  <a:cubicBezTo>
                    <a:pt x="3973874" y="224087"/>
                    <a:pt x="4042293" y="217563"/>
                    <a:pt x="4109430" y="200477"/>
                  </a:cubicBezTo>
                  <a:cubicBezTo>
                    <a:pt x="4135544" y="193834"/>
                    <a:pt x="4175268" y="201258"/>
                    <a:pt x="4208772" y="200914"/>
                  </a:cubicBezTo>
                  <a:cubicBezTo>
                    <a:pt x="4244136" y="200288"/>
                    <a:pt x="4280583" y="199908"/>
                    <a:pt x="4314641" y="196159"/>
                  </a:cubicBezTo>
                  <a:cubicBezTo>
                    <a:pt x="4402743" y="186278"/>
                    <a:pt x="4489848" y="174436"/>
                    <a:pt x="4577622" y="163774"/>
                  </a:cubicBezTo>
                  <a:cubicBezTo>
                    <a:pt x="4649843" y="154967"/>
                    <a:pt x="4719794" y="168553"/>
                    <a:pt x="4790345" y="177592"/>
                  </a:cubicBezTo>
                  <a:cubicBezTo>
                    <a:pt x="4834576" y="183345"/>
                    <a:pt x="4875614" y="193701"/>
                    <a:pt x="4926164" y="184139"/>
                  </a:cubicBezTo>
                  <a:cubicBezTo>
                    <a:pt x="4974485" y="175032"/>
                    <a:pt x="5034899" y="180870"/>
                    <a:pt x="5088812" y="177401"/>
                  </a:cubicBezTo>
                  <a:cubicBezTo>
                    <a:pt x="5134238" y="174439"/>
                    <a:pt x="5178353" y="168165"/>
                    <a:pt x="5222466" y="162082"/>
                  </a:cubicBezTo>
                  <a:cubicBezTo>
                    <a:pt x="5282519" y="153783"/>
                    <a:pt x="5341864" y="144876"/>
                    <a:pt x="5406528" y="153987"/>
                  </a:cubicBezTo>
                  <a:cubicBezTo>
                    <a:pt x="5479960" y="164323"/>
                    <a:pt x="5531876" y="142624"/>
                    <a:pt x="5590716" y="129490"/>
                  </a:cubicBezTo>
                  <a:cubicBezTo>
                    <a:pt x="5631296" y="120553"/>
                    <a:pt x="5675395" y="114659"/>
                    <a:pt x="5719429" y="110099"/>
                  </a:cubicBezTo>
                  <a:cubicBezTo>
                    <a:pt x="5778247" y="104215"/>
                    <a:pt x="5838715" y="102042"/>
                    <a:pt x="5897895" y="96368"/>
                  </a:cubicBezTo>
                  <a:cubicBezTo>
                    <a:pt x="5987399" y="87895"/>
                    <a:pt x="6077855" y="82333"/>
                    <a:pt x="6169957" y="94411"/>
                  </a:cubicBezTo>
                  <a:cubicBezTo>
                    <a:pt x="6212360" y="99875"/>
                    <a:pt x="6252010" y="101763"/>
                    <a:pt x="6294827" y="99236"/>
                  </a:cubicBezTo>
                  <a:cubicBezTo>
                    <a:pt x="6364965" y="95091"/>
                    <a:pt x="6436581" y="97891"/>
                    <a:pt x="6494261" y="71724"/>
                  </a:cubicBezTo>
                  <a:cubicBezTo>
                    <a:pt x="6514615" y="62488"/>
                    <a:pt x="6550354" y="61691"/>
                    <a:pt x="6579627" y="57883"/>
                  </a:cubicBezTo>
                  <a:cubicBezTo>
                    <a:pt x="6613354" y="53353"/>
                    <a:pt x="6637770" y="57878"/>
                    <a:pt x="6654800" y="77086"/>
                  </a:cubicBezTo>
                  <a:cubicBezTo>
                    <a:pt x="6662444" y="85688"/>
                    <a:pt x="6685147" y="94892"/>
                    <a:pt x="6703059" y="97166"/>
                  </a:cubicBezTo>
                  <a:cubicBezTo>
                    <a:pt x="6756799" y="103989"/>
                    <a:pt x="6806654" y="100687"/>
                    <a:pt x="6859445" y="90481"/>
                  </a:cubicBezTo>
                  <a:cubicBezTo>
                    <a:pt x="6908894" y="80861"/>
                    <a:pt x="6969747" y="85387"/>
                    <a:pt x="7025414" y="83536"/>
                  </a:cubicBezTo>
                  <a:cubicBezTo>
                    <a:pt x="7064862" y="82168"/>
                    <a:pt x="7104501" y="77186"/>
                    <a:pt x="7144137" y="79264"/>
                  </a:cubicBezTo>
                  <a:cubicBezTo>
                    <a:pt x="7193316" y="81841"/>
                    <a:pt x="7241809" y="90488"/>
                    <a:pt x="7291235" y="95367"/>
                  </a:cubicBezTo>
                  <a:cubicBezTo>
                    <a:pt x="7329668" y="99288"/>
                    <a:pt x="7368978" y="100585"/>
                    <a:pt x="7407395" y="104888"/>
                  </a:cubicBezTo>
                  <a:cubicBezTo>
                    <a:pt x="7438868" y="108256"/>
                    <a:pt x="7469832" y="114265"/>
                    <a:pt x="7500837" y="119515"/>
                  </a:cubicBezTo>
                  <a:cubicBezTo>
                    <a:pt x="7512146" y="121444"/>
                    <a:pt x="7523255" y="127178"/>
                    <a:pt x="7533567" y="126955"/>
                  </a:cubicBezTo>
                  <a:cubicBezTo>
                    <a:pt x="7636025" y="124121"/>
                    <a:pt x="7707510" y="164497"/>
                    <a:pt x="7792910" y="185188"/>
                  </a:cubicBezTo>
                  <a:cubicBezTo>
                    <a:pt x="7882663" y="207063"/>
                    <a:pt x="7969001" y="237914"/>
                    <a:pt x="8070699" y="235423"/>
                  </a:cubicBezTo>
                  <a:cubicBezTo>
                    <a:pt x="8132239" y="233879"/>
                    <a:pt x="8191903" y="225939"/>
                    <a:pt x="8253177" y="222473"/>
                  </a:cubicBezTo>
                  <a:cubicBezTo>
                    <a:pt x="8274949" y="221324"/>
                    <a:pt x="8299150" y="222976"/>
                    <a:pt x="8320683" y="226393"/>
                  </a:cubicBezTo>
                  <a:cubicBezTo>
                    <a:pt x="8424731" y="242340"/>
                    <a:pt x="8527777" y="249266"/>
                    <a:pt x="8631438" y="237528"/>
                  </a:cubicBezTo>
                  <a:cubicBezTo>
                    <a:pt x="8649201" y="235596"/>
                    <a:pt x="8668058" y="233915"/>
                    <a:pt x="8686410" y="234877"/>
                  </a:cubicBezTo>
                  <a:cubicBezTo>
                    <a:pt x="8786966" y="240146"/>
                    <a:pt x="8885480" y="249315"/>
                    <a:pt x="8980658" y="273001"/>
                  </a:cubicBezTo>
                  <a:cubicBezTo>
                    <a:pt x="9012626" y="280972"/>
                    <a:pt x="9052108" y="279035"/>
                    <a:pt x="9087625" y="282423"/>
                  </a:cubicBezTo>
                  <a:cubicBezTo>
                    <a:pt x="9120583" y="285484"/>
                    <a:pt x="9154319" y="287825"/>
                    <a:pt x="9186017" y="293875"/>
                  </a:cubicBezTo>
                  <a:cubicBezTo>
                    <a:pt x="9232288" y="302785"/>
                    <a:pt x="9275554" y="305815"/>
                    <a:pt x="9323931" y="302628"/>
                  </a:cubicBezTo>
                  <a:cubicBezTo>
                    <a:pt x="9370084" y="299705"/>
                    <a:pt x="9419491" y="304964"/>
                    <a:pt x="9467213" y="307275"/>
                  </a:cubicBezTo>
                  <a:cubicBezTo>
                    <a:pt x="9520438" y="309874"/>
                    <a:pt x="9573661" y="312473"/>
                    <a:pt x="9626826" y="316213"/>
                  </a:cubicBezTo>
                  <a:cubicBezTo>
                    <a:pt x="9648094" y="317708"/>
                    <a:pt x="9671915" y="326588"/>
                    <a:pt x="9689696" y="324467"/>
                  </a:cubicBezTo>
                  <a:cubicBezTo>
                    <a:pt x="9747117" y="317175"/>
                    <a:pt x="9803355" y="332523"/>
                    <a:pt x="9860526" y="329986"/>
                  </a:cubicBezTo>
                  <a:cubicBezTo>
                    <a:pt x="9888572" y="328594"/>
                    <a:pt x="9919723" y="338048"/>
                    <a:pt x="9949775" y="340386"/>
                  </a:cubicBezTo>
                  <a:cubicBezTo>
                    <a:pt x="9998886" y="344296"/>
                    <a:pt x="10048092" y="346302"/>
                    <a:pt x="10097252" y="349262"/>
                  </a:cubicBezTo>
                  <a:cubicBezTo>
                    <a:pt x="10113390" y="350297"/>
                    <a:pt x="10129133" y="351886"/>
                    <a:pt x="10145261" y="353113"/>
                  </a:cubicBezTo>
                  <a:cubicBezTo>
                    <a:pt x="10159555" y="354243"/>
                    <a:pt x="10174512" y="356743"/>
                    <a:pt x="10188159" y="356124"/>
                  </a:cubicBezTo>
                  <a:cubicBezTo>
                    <a:pt x="10237589" y="353944"/>
                    <a:pt x="10286441" y="348682"/>
                    <a:pt x="10336144" y="348235"/>
                  </a:cubicBezTo>
                  <a:cubicBezTo>
                    <a:pt x="10379222" y="347822"/>
                    <a:pt x="10423443" y="353764"/>
                    <a:pt x="10466847" y="354131"/>
                  </a:cubicBezTo>
                  <a:cubicBezTo>
                    <a:pt x="10543353" y="354898"/>
                    <a:pt x="10619988" y="353190"/>
                    <a:pt x="10696514" y="353575"/>
                  </a:cubicBezTo>
                  <a:cubicBezTo>
                    <a:pt x="10713071" y="353680"/>
                    <a:pt x="10730069" y="359342"/>
                    <a:pt x="10746932" y="360606"/>
                  </a:cubicBezTo>
                  <a:cubicBezTo>
                    <a:pt x="10799731" y="364326"/>
                    <a:pt x="10852569" y="367289"/>
                    <a:pt x="10905388" y="370627"/>
                  </a:cubicBezTo>
                  <a:cubicBezTo>
                    <a:pt x="10935470" y="372396"/>
                    <a:pt x="10965963" y="373421"/>
                    <a:pt x="10995602" y="376691"/>
                  </a:cubicBezTo>
                  <a:cubicBezTo>
                    <a:pt x="11034750" y="381032"/>
                    <a:pt x="11070168" y="386324"/>
                    <a:pt x="11107647" y="373405"/>
                  </a:cubicBezTo>
                  <a:cubicBezTo>
                    <a:pt x="11165372" y="353347"/>
                    <a:pt x="11236837" y="366060"/>
                    <a:pt x="11302440" y="364156"/>
                  </a:cubicBezTo>
                  <a:cubicBezTo>
                    <a:pt x="11319394" y="363708"/>
                    <a:pt x="11336655" y="364422"/>
                    <a:pt x="11353613" y="363785"/>
                  </a:cubicBezTo>
                  <a:cubicBezTo>
                    <a:pt x="11384961" y="362566"/>
                    <a:pt x="11415955" y="360947"/>
                    <a:pt x="11447323" y="359346"/>
                  </a:cubicBezTo>
                  <a:cubicBezTo>
                    <a:pt x="11452855" y="359066"/>
                    <a:pt x="11459104" y="359200"/>
                    <a:pt x="11464292" y="358519"/>
                  </a:cubicBezTo>
                  <a:cubicBezTo>
                    <a:pt x="11512058" y="353010"/>
                    <a:pt x="11559143" y="346321"/>
                    <a:pt x="11607560" y="342370"/>
                  </a:cubicBezTo>
                  <a:cubicBezTo>
                    <a:pt x="11631218" y="340368"/>
                    <a:pt x="11657295" y="341352"/>
                    <a:pt x="11681426" y="344335"/>
                  </a:cubicBezTo>
                  <a:cubicBezTo>
                    <a:pt x="11751997" y="352993"/>
                    <a:pt x="11821986" y="358760"/>
                    <a:pt x="11893565" y="355261"/>
                  </a:cubicBezTo>
                  <a:cubicBezTo>
                    <a:pt x="11921973" y="353889"/>
                    <a:pt x="11953288" y="360300"/>
                    <a:pt x="11983290" y="363588"/>
                  </a:cubicBezTo>
                  <a:lnTo>
                    <a:pt x="12192000" y="388018"/>
                  </a:lnTo>
                  <a:lnTo>
                    <a:pt x="12192000" y="577115"/>
                  </a:lnTo>
                  <a:lnTo>
                    <a:pt x="12157329" y="588862"/>
                  </a:lnTo>
                  <a:cubicBezTo>
                    <a:pt x="12118393" y="608572"/>
                    <a:pt x="12109715" y="605637"/>
                    <a:pt x="12066948" y="586034"/>
                  </a:cubicBezTo>
                  <a:cubicBezTo>
                    <a:pt x="12016991" y="563193"/>
                    <a:pt x="11965119" y="541779"/>
                    <a:pt x="11911344" y="521599"/>
                  </a:cubicBezTo>
                  <a:cubicBezTo>
                    <a:pt x="11894383" y="515178"/>
                    <a:pt x="11869417" y="514060"/>
                    <a:pt x="11847823" y="511785"/>
                  </a:cubicBezTo>
                  <a:cubicBezTo>
                    <a:pt x="11811233" y="507768"/>
                    <a:pt x="11773630" y="501982"/>
                    <a:pt x="11737547" y="502380"/>
                  </a:cubicBezTo>
                  <a:cubicBezTo>
                    <a:pt x="11702930" y="502855"/>
                    <a:pt x="11668388" y="508866"/>
                    <a:pt x="11636052" y="514993"/>
                  </a:cubicBezTo>
                  <a:cubicBezTo>
                    <a:pt x="11545722" y="532199"/>
                    <a:pt x="11462455" y="555118"/>
                    <a:pt x="11394706" y="590867"/>
                  </a:cubicBezTo>
                  <a:cubicBezTo>
                    <a:pt x="11385999" y="595562"/>
                    <a:pt x="11369016" y="596581"/>
                    <a:pt x="11354978" y="597561"/>
                  </a:cubicBezTo>
                  <a:cubicBezTo>
                    <a:pt x="11332076" y="599224"/>
                    <a:pt x="11308448" y="600655"/>
                    <a:pt x="11285306" y="599825"/>
                  </a:cubicBezTo>
                  <a:cubicBezTo>
                    <a:pt x="11172906" y="595841"/>
                    <a:pt x="11083430" y="617861"/>
                    <a:pt x="11008528" y="656670"/>
                  </a:cubicBezTo>
                  <a:cubicBezTo>
                    <a:pt x="10986971" y="667750"/>
                    <a:pt x="10970753" y="668236"/>
                    <a:pt x="10948735" y="652964"/>
                  </a:cubicBezTo>
                  <a:cubicBezTo>
                    <a:pt x="10923173" y="635218"/>
                    <a:pt x="10885031" y="639705"/>
                    <a:pt x="10850698" y="641721"/>
                  </a:cubicBezTo>
                  <a:cubicBezTo>
                    <a:pt x="10815269" y="643680"/>
                    <a:pt x="10779458" y="645811"/>
                    <a:pt x="10744026" y="647769"/>
                  </a:cubicBezTo>
                  <a:cubicBezTo>
                    <a:pt x="10717832" y="649066"/>
                    <a:pt x="10692021" y="650003"/>
                    <a:pt x="10666160" y="651891"/>
                  </a:cubicBezTo>
                  <a:cubicBezTo>
                    <a:pt x="10585627" y="657783"/>
                    <a:pt x="10513854" y="650969"/>
                    <a:pt x="10450521" y="616552"/>
                  </a:cubicBezTo>
                  <a:cubicBezTo>
                    <a:pt x="10402221" y="590175"/>
                    <a:pt x="10339099" y="579806"/>
                    <a:pt x="10271192" y="583498"/>
                  </a:cubicBezTo>
                  <a:cubicBezTo>
                    <a:pt x="10262701" y="584006"/>
                    <a:pt x="10251859" y="587254"/>
                    <a:pt x="10246067" y="585423"/>
                  </a:cubicBezTo>
                  <a:cubicBezTo>
                    <a:pt x="10158786" y="558528"/>
                    <a:pt x="10086634" y="594049"/>
                    <a:pt x="10005027" y="592252"/>
                  </a:cubicBezTo>
                  <a:cubicBezTo>
                    <a:pt x="9969004" y="591507"/>
                    <a:pt x="9931565" y="603664"/>
                    <a:pt x="9898681" y="613195"/>
                  </a:cubicBezTo>
                  <a:cubicBezTo>
                    <a:pt x="9853463" y="626281"/>
                    <a:pt x="9813049" y="639042"/>
                    <a:pt x="9753225" y="629038"/>
                  </a:cubicBezTo>
                  <a:cubicBezTo>
                    <a:pt x="9693404" y="618845"/>
                    <a:pt x="9637675" y="628898"/>
                    <a:pt x="9591376" y="648601"/>
                  </a:cubicBezTo>
                  <a:cubicBezTo>
                    <a:pt x="9556001" y="663537"/>
                    <a:pt x="9518120" y="663077"/>
                    <a:pt x="9472860" y="655936"/>
                  </a:cubicBezTo>
                  <a:cubicBezTo>
                    <a:pt x="9416283" y="647056"/>
                    <a:pt x="9357217" y="643578"/>
                    <a:pt x="9299788" y="636945"/>
                  </a:cubicBezTo>
                  <a:cubicBezTo>
                    <a:pt x="9287347" y="635531"/>
                    <a:pt x="9271710" y="632039"/>
                    <a:pt x="9264605" y="627087"/>
                  </a:cubicBezTo>
                  <a:cubicBezTo>
                    <a:pt x="9177661" y="565680"/>
                    <a:pt x="9051076" y="558473"/>
                    <a:pt x="8926435" y="549269"/>
                  </a:cubicBezTo>
                  <a:cubicBezTo>
                    <a:pt x="8850925" y="543595"/>
                    <a:pt x="8774954" y="539613"/>
                    <a:pt x="8698934" y="536583"/>
                  </a:cubicBezTo>
                  <a:cubicBezTo>
                    <a:pt x="8673232" y="535428"/>
                    <a:pt x="8645916" y="537050"/>
                    <a:pt x="8622862" y="541563"/>
                  </a:cubicBezTo>
                  <a:cubicBezTo>
                    <a:pt x="8574890" y="551069"/>
                    <a:pt x="8530403" y="564380"/>
                    <a:pt x="8482784" y="574094"/>
                  </a:cubicBezTo>
                  <a:cubicBezTo>
                    <a:pt x="8464923" y="577929"/>
                    <a:pt x="8442157" y="576927"/>
                    <a:pt x="8421565" y="576610"/>
                  </a:cubicBezTo>
                  <a:cubicBezTo>
                    <a:pt x="8385152" y="576229"/>
                    <a:pt x="8345023" y="569546"/>
                    <a:pt x="8313469" y="574762"/>
                  </a:cubicBezTo>
                  <a:cubicBezTo>
                    <a:pt x="8231431" y="588203"/>
                    <a:pt x="8155671" y="580227"/>
                    <a:pt x="8079520" y="558685"/>
                  </a:cubicBezTo>
                  <a:cubicBezTo>
                    <a:pt x="7972906" y="528487"/>
                    <a:pt x="7870782" y="525043"/>
                    <a:pt x="7773327" y="558854"/>
                  </a:cubicBezTo>
                  <a:cubicBezTo>
                    <a:pt x="7729470" y="574107"/>
                    <a:pt x="7688069" y="563543"/>
                    <a:pt x="7652477" y="547561"/>
                  </a:cubicBezTo>
                  <a:cubicBezTo>
                    <a:pt x="7611494" y="529005"/>
                    <a:pt x="7570974" y="522685"/>
                    <a:pt x="7522274" y="532150"/>
                  </a:cubicBezTo>
                  <a:cubicBezTo>
                    <a:pt x="7511488" y="534257"/>
                    <a:pt x="7496511" y="532136"/>
                    <a:pt x="7484080" y="530532"/>
                  </a:cubicBezTo>
                  <a:cubicBezTo>
                    <a:pt x="7413133" y="522044"/>
                    <a:pt x="7341987" y="510303"/>
                    <a:pt x="7282277" y="540177"/>
                  </a:cubicBezTo>
                  <a:cubicBezTo>
                    <a:pt x="7270558" y="546051"/>
                    <a:pt x="7251336" y="547713"/>
                    <a:pt x="7235690" y="551282"/>
                  </a:cubicBezTo>
                  <a:cubicBezTo>
                    <a:pt x="7170161" y="565782"/>
                    <a:pt x="7172820" y="564203"/>
                    <a:pt x="7116339" y="539494"/>
                  </a:cubicBezTo>
                  <a:cubicBezTo>
                    <a:pt x="7086841" y="526502"/>
                    <a:pt x="7045980" y="512724"/>
                    <a:pt x="7011067" y="511848"/>
                  </a:cubicBezTo>
                  <a:cubicBezTo>
                    <a:pt x="6800473" y="506533"/>
                    <a:pt x="6601893" y="468653"/>
                    <a:pt x="6403234" y="432296"/>
                  </a:cubicBezTo>
                  <a:cubicBezTo>
                    <a:pt x="6280760" y="409851"/>
                    <a:pt x="6160432" y="402592"/>
                    <a:pt x="6036273" y="412301"/>
                  </a:cubicBezTo>
                  <a:cubicBezTo>
                    <a:pt x="5946471" y="419425"/>
                    <a:pt x="5863077" y="395593"/>
                    <a:pt x="5780467" y="377910"/>
                  </a:cubicBezTo>
                  <a:cubicBezTo>
                    <a:pt x="5763357" y="374343"/>
                    <a:pt x="5747757" y="363033"/>
                    <a:pt x="5739051" y="353609"/>
                  </a:cubicBezTo>
                  <a:cubicBezTo>
                    <a:pt x="5707675" y="320294"/>
                    <a:pt x="5653252" y="312483"/>
                    <a:pt x="5583566" y="321995"/>
                  </a:cubicBezTo>
                  <a:cubicBezTo>
                    <a:pt x="5528347" y="329404"/>
                    <a:pt x="5477716" y="340486"/>
                    <a:pt x="5432030" y="362512"/>
                  </a:cubicBezTo>
                  <a:cubicBezTo>
                    <a:pt x="5378421" y="388318"/>
                    <a:pt x="5322767" y="418026"/>
                    <a:pt x="5241398" y="425781"/>
                  </a:cubicBezTo>
                  <a:cubicBezTo>
                    <a:pt x="5206262" y="429089"/>
                    <a:pt x="5176131" y="428273"/>
                    <a:pt x="5139710" y="421022"/>
                  </a:cubicBezTo>
                  <a:cubicBezTo>
                    <a:pt x="5069048" y="407018"/>
                    <a:pt x="4997864" y="396037"/>
                    <a:pt x="4929402" y="424310"/>
                  </a:cubicBezTo>
                  <a:cubicBezTo>
                    <a:pt x="4891785" y="439890"/>
                    <a:pt x="4841650" y="448519"/>
                    <a:pt x="4782793" y="441046"/>
                  </a:cubicBezTo>
                  <a:cubicBezTo>
                    <a:pt x="4709316" y="431663"/>
                    <a:pt x="4641426" y="442031"/>
                    <a:pt x="4577594" y="459290"/>
                  </a:cubicBezTo>
                  <a:cubicBezTo>
                    <a:pt x="4554816" y="465538"/>
                    <a:pt x="4527069" y="468279"/>
                    <a:pt x="4500826" y="470529"/>
                  </a:cubicBezTo>
                  <a:cubicBezTo>
                    <a:pt x="4440199" y="475746"/>
                    <a:pt x="4379252" y="479993"/>
                    <a:pt x="4317973" y="483649"/>
                  </a:cubicBezTo>
                  <a:cubicBezTo>
                    <a:pt x="4267762" y="486741"/>
                    <a:pt x="4217264" y="488292"/>
                    <a:pt x="4166722" y="490602"/>
                  </a:cubicBezTo>
                  <a:cubicBezTo>
                    <a:pt x="4111394" y="493045"/>
                    <a:pt x="4067073" y="503124"/>
                    <a:pt x="4042814" y="530660"/>
                  </a:cubicBezTo>
                  <a:cubicBezTo>
                    <a:pt x="4034996" y="539407"/>
                    <a:pt x="4017001" y="545715"/>
                    <a:pt x="4002653" y="552594"/>
                  </a:cubicBezTo>
                  <a:cubicBezTo>
                    <a:pt x="3992459" y="557592"/>
                    <a:pt x="3979023" y="561086"/>
                    <a:pt x="3969549" y="566312"/>
                  </a:cubicBezTo>
                  <a:cubicBezTo>
                    <a:pt x="3919896" y="593854"/>
                    <a:pt x="3870968" y="621622"/>
                    <a:pt x="3821685" y="649183"/>
                  </a:cubicBezTo>
                  <a:cubicBezTo>
                    <a:pt x="3816761" y="651788"/>
                    <a:pt x="3811445" y="654943"/>
                    <a:pt x="3805138" y="655947"/>
                  </a:cubicBezTo>
                  <a:cubicBezTo>
                    <a:pt x="3739817" y="666451"/>
                    <a:pt x="3673801" y="676154"/>
                    <a:pt x="3609177" y="687459"/>
                  </a:cubicBezTo>
                  <a:cubicBezTo>
                    <a:pt x="3584288" y="691878"/>
                    <a:pt x="3558597" y="697589"/>
                    <a:pt x="3539727" y="706521"/>
                  </a:cubicBezTo>
                  <a:cubicBezTo>
                    <a:pt x="3496714" y="726780"/>
                    <a:pt x="3457268" y="749132"/>
                    <a:pt x="3396572" y="755681"/>
                  </a:cubicBezTo>
                  <a:cubicBezTo>
                    <a:pt x="3378807" y="757611"/>
                    <a:pt x="3357809" y="758036"/>
                    <a:pt x="3341054" y="754679"/>
                  </a:cubicBezTo>
                  <a:cubicBezTo>
                    <a:pt x="3272962" y="740809"/>
                    <a:pt x="3206471" y="724541"/>
                    <a:pt x="3138775" y="710120"/>
                  </a:cubicBezTo>
                  <a:cubicBezTo>
                    <a:pt x="3095820" y="701191"/>
                    <a:pt x="3056969" y="691141"/>
                    <a:pt x="3037283" y="666453"/>
                  </a:cubicBezTo>
                  <a:cubicBezTo>
                    <a:pt x="3031764" y="659487"/>
                    <a:pt x="3015626" y="651391"/>
                    <a:pt x="3002117" y="649347"/>
                  </a:cubicBezTo>
                  <a:cubicBezTo>
                    <a:pt x="2915220" y="636209"/>
                    <a:pt x="2829194" y="627503"/>
                    <a:pt x="2747294" y="652400"/>
                  </a:cubicBezTo>
                  <a:cubicBezTo>
                    <a:pt x="2730084" y="657794"/>
                    <a:pt x="2698519" y="656140"/>
                    <a:pt x="2676273" y="652304"/>
                  </a:cubicBezTo>
                  <a:cubicBezTo>
                    <a:pt x="2590546" y="637890"/>
                    <a:pt x="2508883" y="630176"/>
                    <a:pt x="2432360" y="657836"/>
                  </a:cubicBezTo>
                  <a:cubicBezTo>
                    <a:pt x="2423352" y="661179"/>
                    <a:pt x="2395274" y="656272"/>
                    <a:pt x="2382311" y="650824"/>
                  </a:cubicBezTo>
                  <a:cubicBezTo>
                    <a:pt x="2257393" y="597728"/>
                    <a:pt x="2187724" y="592930"/>
                    <a:pt x="2055134" y="630053"/>
                  </a:cubicBezTo>
                  <a:cubicBezTo>
                    <a:pt x="2046542" y="632464"/>
                    <a:pt x="2035364" y="635121"/>
                    <a:pt x="2031829" y="639324"/>
                  </a:cubicBezTo>
                  <a:cubicBezTo>
                    <a:pt x="2007977" y="666120"/>
                    <a:pt x="1960229" y="664380"/>
                    <a:pt x="1912764" y="664183"/>
                  </a:cubicBezTo>
                  <a:cubicBezTo>
                    <a:pt x="1860521" y="663924"/>
                    <a:pt x="1808236" y="664426"/>
                    <a:pt x="1755637" y="663960"/>
                  </a:cubicBezTo>
                  <a:cubicBezTo>
                    <a:pt x="1746439" y="663859"/>
                    <a:pt x="1736243" y="661799"/>
                    <a:pt x="1727159" y="659605"/>
                  </a:cubicBezTo>
                  <a:cubicBezTo>
                    <a:pt x="1692256" y="651480"/>
                    <a:pt x="1658604" y="640559"/>
                    <a:pt x="1622470" y="634850"/>
                  </a:cubicBezTo>
                  <a:cubicBezTo>
                    <a:pt x="1544362" y="622552"/>
                    <a:pt x="1469248" y="602210"/>
                    <a:pt x="1385955" y="604522"/>
                  </a:cubicBezTo>
                  <a:cubicBezTo>
                    <a:pt x="1371585" y="604913"/>
                    <a:pt x="1355357" y="598530"/>
                    <a:pt x="1340055" y="595629"/>
                  </a:cubicBezTo>
                  <a:cubicBezTo>
                    <a:pt x="1312351" y="590552"/>
                    <a:pt x="1285460" y="583993"/>
                    <a:pt x="1257271" y="581180"/>
                  </a:cubicBezTo>
                  <a:cubicBezTo>
                    <a:pt x="1182583" y="573830"/>
                    <a:pt x="1107142" y="566824"/>
                    <a:pt x="1031914" y="562692"/>
                  </a:cubicBezTo>
                  <a:cubicBezTo>
                    <a:pt x="995593" y="560597"/>
                    <a:pt x="958880" y="565923"/>
                    <a:pt x="922031" y="566853"/>
                  </a:cubicBezTo>
                  <a:cubicBezTo>
                    <a:pt x="905446" y="567320"/>
                    <a:pt x="878533" y="568199"/>
                    <a:pt x="873250" y="563724"/>
                  </a:cubicBezTo>
                  <a:cubicBezTo>
                    <a:pt x="832343" y="529722"/>
                    <a:pt x="772202" y="532674"/>
                    <a:pt x="711627" y="529880"/>
                  </a:cubicBezTo>
                  <a:cubicBezTo>
                    <a:pt x="577999" y="523641"/>
                    <a:pt x="447408" y="543696"/>
                    <a:pt x="311112" y="525106"/>
                  </a:cubicBezTo>
                  <a:cubicBezTo>
                    <a:pt x="271645" y="519795"/>
                    <a:pt x="226936" y="530235"/>
                    <a:pt x="184145" y="532188"/>
                  </a:cubicBezTo>
                  <a:cubicBezTo>
                    <a:pt x="162015" y="533128"/>
                    <a:pt x="137665" y="534333"/>
                    <a:pt x="116886" y="530572"/>
                  </a:cubicBezTo>
                  <a:cubicBezTo>
                    <a:pt x="84810" y="524693"/>
                    <a:pt x="54011" y="515448"/>
                    <a:pt x="23941" y="506433"/>
                  </a:cubicBezTo>
                  <a:lnTo>
                    <a:pt x="0" y="502149"/>
                  </a:lnTo>
                  <a:close/>
                </a:path>
              </a:pathLst>
            </a:custGeom>
            <a:blipFill>
              <a:blip r:embed="rId4">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562371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21111</TotalTime>
  <Words>4979</Words>
  <Application>Microsoft Office PowerPoint</Application>
  <PresentationFormat>Widescreen</PresentationFormat>
  <Paragraphs>597</Paragraphs>
  <Slides>42</Slides>
  <Notes>34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42</vt:i4>
      </vt:variant>
    </vt:vector>
  </HeadingPairs>
  <TitlesOfParts>
    <vt:vector size="50" baseType="lpstr">
      <vt:lpstr>Aptos</vt:lpstr>
      <vt:lpstr>Aptos Display</vt:lpstr>
      <vt:lpstr>Arial</vt:lpstr>
      <vt:lpstr>David</vt:lpstr>
      <vt:lpstr>Segoe Print</vt:lpstr>
      <vt:lpstr>Wingdings</vt:lpstr>
      <vt:lpstr>Office Theme</vt:lpstr>
      <vt:lpstr>1_Office Theme</vt:lpstr>
      <vt:lpstr>הערכה רב-ממדית ונטולת הקשר של קיצוניות פוליטית</vt:lpstr>
      <vt:lpstr>Background</vt:lpstr>
      <vt:lpstr>Theoretical Background (Gap)</vt:lpstr>
      <vt:lpstr>Research Structure </vt:lpstr>
      <vt:lpstr>The effect of socio-political destabilizing events on political extremism</vt:lpstr>
      <vt:lpstr>Theoretical Background</vt:lpstr>
      <vt:lpstr>Theoretical Gap</vt:lpstr>
      <vt:lpstr>Research Questions</vt:lpstr>
      <vt:lpstr>Hypotheses</vt:lpstr>
      <vt:lpstr>Conceptualization</vt:lpstr>
      <vt:lpstr>Operationalization</vt:lpstr>
      <vt:lpstr>Political Extremism Gauge</vt:lpstr>
      <vt:lpstr>Gauge Indices</vt:lpstr>
      <vt:lpstr>Methodology</vt:lpstr>
      <vt:lpstr>Pairwise Regression – Overall Extremism </vt:lpstr>
      <vt:lpstr>Overall (Combined dimensions) Normative Points</vt:lpstr>
      <vt:lpstr>Academic Contribution</vt:lpstr>
      <vt:lpstr>  Shaped by the winds we failed to read!</vt:lpstr>
      <vt:lpstr>Additional Material</vt:lpstr>
      <vt:lpstr>Context-Independent Indices (Wide version for Article)</vt:lpstr>
      <vt:lpstr>Extremism Levels and Extremism Ranks </vt:lpstr>
      <vt:lpstr>A Trick of the Tail</vt:lpstr>
      <vt:lpstr>Demographics &amp; Political Extremism</vt:lpstr>
      <vt:lpstr>Sample Considerations</vt:lpstr>
      <vt:lpstr>Risk Analysis &amp; Mitigation</vt:lpstr>
      <vt:lpstr>Examples of Context Dependency (Bias)</vt:lpstr>
      <vt:lpstr>Political Extremism Measures</vt:lpstr>
      <vt:lpstr>טבלת אירועים</vt:lpstr>
      <vt:lpstr>ביקורתיות</vt:lpstr>
      <vt:lpstr>מדידה נטולת הטיה (Context Independent)</vt:lpstr>
      <vt:lpstr>עוצמת הזהות הקבוצתית </vt:lpstr>
      <vt:lpstr>סיבתיות ומשתנים סמויים (Confounders)</vt:lpstr>
      <vt:lpstr>בחירת האירועים - תוקף פנימי</vt:lpstr>
      <vt:lpstr>אוכלוסייה ישראלית יהודית - תוקף חיצוני</vt:lpstr>
      <vt:lpstr>Political Extremism Gauge</vt:lpstr>
      <vt:lpstr>Cross-Sectional Comparative Analysis</vt:lpstr>
      <vt:lpstr>Original Research: Threats and Political Extremism</vt:lpstr>
      <vt:lpstr>PowerPoint Presentation</vt:lpstr>
      <vt:lpstr>Political Extremism Conceptualization and Operationalization</vt:lpstr>
      <vt:lpstr>Extremism in Israel</vt:lpstr>
      <vt:lpstr>Extremism in the USA</vt:lpstr>
      <vt:lpstr>Extremism in Europe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amir Freund</dc:creator>
  <cp:lastModifiedBy>amir Freund</cp:lastModifiedBy>
  <cp:revision>159</cp:revision>
  <cp:lastPrinted>2025-07-01T07:38:44Z</cp:lastPrinted>
  <dcterms:created xsi:type="dcterms:W3CDTF">2025-01-15T07:24:06Z</dcterms:created>
  <dcterms:modified xsi:type="dcterms:W3CDTF">2025-12-27T09:19:48Z</dcterms:modified>
</cp:coreProperties>
</file>